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72" r:id="rId22"/>
    <p:sldId id="256" r:id="rId6"/>
    <p:sldId id="279" r:id="rId29"/>
    <p:sldId id="257" r:id="rId7"/>
    <p:sldId id="258" r:id="rId8"/>
    <p:sldId id="280" r:id="rId30"/>
    <p:sldId id="259" r:id="rId9"/>
    <p:sldId id="260" r:id="rId10"/>
    <p:sldId id="261" r:id="rId11"/>
    <p:sldId id="262" r:id="rId12"/>
    <p:sldId id="263" r:id="rId13"/>
    <p:sldId id="269" r:id="rId19"/>
    <p:sldId id="270" r:id="rId20"/>
    <p:sldId id="271" r:id="rId21"/>
    <p:sldId id="264" r:id="rId14"/>
    <p:sldId id="265" r:id="rId15"/>
    <p:sldId id="266" r:id="rId16"/>
    <p:sldId id="267" r:id="rId17"/>
    <p:sldId id="273" r:id="rId23"/>
    <p:sldId id="274" r:id="rId24"/>
    <p:sldId id="275" r:id="rId25"/>
    <p:sldId id="276" r:id="rId26"/>
    <p:sldId id="277" r:id="rId27"/>
    <p:sldId id="278" r:id="rId28"/>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gUOpBDgjWBoz2s2sBEQ824Mrg3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customschemas.google.com/relationships/presentationmetadata" Target="metadata"/><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3.xml"/><Relationship Id="rId30" Type="http://schemas.openxmlformats.org/officeDocument/2006/relationships/slide" Target="slides/slide6.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[T+0  |  ~15 seconds  |  audience just settling]</a:t>
            </a:r>
          </a:p>
          <a:p/>
          <a:p>
            <a:r>
              <a:t>Welcome — this is The 90-Minute IDP workshop. I'm Michael Forrester from Accenture.</a:t>
            </a:r>
          </a:p>
          <a:p/>
          <a:p>
            <a:r>
              <a:t>We've got 90 minutes. I'll explain what we're doing in the next 60 seconds, then we go live.</a:t>
            </a:r>
          </a:p>
          <a:p/>
          <a:p>
            <a:r>
              <a:t>[CLICK to slide 3 — the 60-second opener starts there. Don't rush this title slide; let the room settle and pay attention.]</a:t>
            </a:r>
          </a:p>
          <a:p/>
          <a:p>
            <a:r>
              <a:t>[If audience is still arriving, vamp here: 'KCD Texas crew — thanks for having me. Room 3, May 15, 2026.']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[T+0:15  |  ~25 seconds  |  THE FIRST 25 SECONDS OF THE OPENER]</a:t>
            </a:r>
          </a:p>
          <a:p/>
          <a:p>
            <a:r>
              <a:t>Read approximately verbatim:</a:t>
            </a:r>
          </a:p>
          <a:p/>
          <a:p>
            <a:r>
              <a:t>"The abstract for this talk says I've already built this IDP end-to-end with Claude Code. ArgoCD, Kyverno, Falco, OpenTelemetry, Backstage — the whole stack. That's true. It's at github.com/peopleforrester/kubeauto-ai-day. Seven phases, twenty-seven components, about ten hours over one overnight session. Scored on three dimensions: Install, Integration, Usability. Go read the scorecard."</a:t>
            </a:r>
          </a:p>
          <a:p/>
          <a:p>
            <a:r>
              <a:t>[Don't apologize for the past tense. The 'I already built this' moment EARNS the pivot on the next slide. Practice this 3 times before workshop day.]</a:t>
            </a:r>
          </a:p>
          <a:p/>
          <a:p>
            <a:r>
              <a:t>[CLICK to slide 5 — the rhetorical hinge.]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[T+0:40  |  ~15 seconds  |  THE RHETORICAL HINGE]</a:t>
            </a:r>
          </a:p>
          <a:p/>
          <a:p>
            <a:r>
              <a:t>"Same build. Real time."</a:t>
            </a:r>
          </a:p>
          <a:p/>
          <a:p>
            <a:r>
              <a:t>[Pause one beat.]</a:t>
            </a:r>
          </a:p>
          <a:p/>
          <a:p>
            <a:r>
              <a:t>"Seven phases. Twenty-seven components. Twenty-one ArgoCD Applications. Ninety minutes instead of ten hours — against a pre-provisioned cluster."</a:t>
            </a:r>
          </a:p>
          <a:p/>
          <a:p>
            <a:r>
              <a:t>[Pause.]</a:t>
            </a:r>
          </a:p>
          <a:p/>
          <a:p>
            <a:r>
              <a:t>"How far we get is how far we get. Whatever doesn't land in the room, you finish on the plane home with the same spec."</a:t>
            </a:r>
          </a:p>
          <a:p/>
          <a:p>
            <a:r>
              <a:t>[Practice this transition standalone. The old framing was 'NOT redoing the build' — workshop scope was extended to the full 27 components, so the honest framing is: we ARE redoing it, just compressed. Phase 1-4 might be all we land. That's data, not failure.]</a:t>
            </a:r>
          </a:p>
          <a:p/>
          <a:p>
            <a:r>
              <a:t>[CLICK to slide 6 (the Lesson).]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[T+0:55  |  ~25 seconds]</a:t>
            </a:r>
          </a:p>
          <a:p/>
          <a:p>
            <a:r>
              <a:t>"What we ARE doing is teaching the methodology I used to build it. Spec-driven development with Claude Code."</a:t>
            </a:r>
          </a:p>
          <a:p/>
          <a:p>
            <a:r>
              <a:t>[Walk through the 5 steps as you click — slow enough that the audience reads them.]</a:t>
            </a:r>
          </a:p>
          <a:p/>
          <a:p>
            <a:r>
              <a:t>"I write a spec. I hand it to Claude. Claude generates the platform. I verify with test gates. I score what Claude did. And I move on."</a:t>
            </a:r>
          </a:p>
          <a:p/>
          <a:p>
            <a:r>
              <a:t>[This is the slide students will photograph. Don't skim it.]</a:t>
            </a:r>
          </a:p>
          <a:p/>
          <a:p>
            <a:r>
              <a:t>[CLICK to slide 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[T+1:20  |  ~45 seconds]</a:t>
            </a:r>
          </a:p>
          <a:p/>
          <a:p>
            <a:r>
              <a:t>"Three artifacts make this work. Show them on the slide."</a:t>
            </a:r>
          </a:p>
          <a:p/>
          <a:p>
            <a:r>
              <a:t>THE SPEC — "spec/BUILD-SPEC.md. What I want Claude to build. Phases, target manifests, completion criteria. Plain Markdown, about 120 lines."</a:t>
            </a:r>
          </a:p>
          <a:p/>
          <a:p>
            <a:r>
              <a:t>THE SKILLS — ".claude/skills/. Current-version patterns Claude needs in order to not generate something deprecated or wrong. One per CNCF project — argocd, kyverno, kube-prometheus-stack, backstage. Claude Code auto-loads these when I run claude from the repo root."</a:t>
            </a:r>
          </a:p>
          <a:p/>
          <a:p>
            <a:r>
              <a:t>THE GATES — "pytest tests that prove a phase actually worked. Not synthetic tests — real kubectl assertions against the real cluster. The boring kind. The reliable kind."</a:t>
            </a:r>
          </a:p>
          <a:p/>
          <a:p>
            <a:r>
              <a:t>"That's it. Spec + skills + gates. Plus a scorecard. Same pattern you can use on Monday for whatever you're trying to build."</a:t>
            </a:r>
          </a:p>
          <a:p/>
          <a:p>
            <a:r>
              <a:t>[CLICK to slide 9.]</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[T+2:05  |  ~60 seconds  |  THE TALK'S CENTRAL FRAMEWORK]</a:t>
            </a:r>
          </a:p>
          <a:p/>
          <a:p>
            <a:r>
              <a:t>"Every component gets scored on three things — independently."</a:t>
            </a:r>
          </a:p>
          <a:p/>
          <a:p>
            <a:r>
              <a:t>INSTALL — "Did Claude generate a manifest that, after applying, brought the component up healthy? First try, no rewrites? That's a 10. Three correction cycles? That's a 4."</a:t>
            </a:r>
          </a:p>
          <a:p/>
          <a:p>
            <a:r>
              <a:t>INTEGRATION — "Does it work WITH the other components? Sync waves right, webhooks scoped right, Grafana actually scraping ArgoCD, Backstage actually reachable? A 10 here is rare. AI is GOOD at install. Integration is where humans still earn their salary."</a:t>
            </a:r>
          </a:p>
          <a:p/>
          <a:p>
            <a:r>
              <a:t>[EMPHASIZE that last line. It previews the punchline of the talk.]</a:t>
            </a:r>
          </a:p>
          <a:p/>
          <a:p>
            <a:r>
              <a:t>USABILITY — "Could a developer on your team drive this on Monday morning? Or is it installed-but-useless?"</a:t>
            </a:r>
          </a:p>
          <a:p/>
          <a:p>
            <a:r>
              <a:t>"Plus correction cycles and AI wall-clock time. Scoring honestly is the entire point. Inflated scores undermine the data. The variance between phases is the talk."</a:t>
            </a:r>
          </a:p>
          <a:p/>
          <a:p>
            <a:r>
              <a:t>[CLICK to slide 10.]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[T+3:05  |  ~60 seconds  |  the scope reveal]</a:t>
            </a:r>
          </a:p>
          <a:p/>
          <a:p>
            <a:r>
              <a:t>"Seven phases. Twenty-seven components. As far as we get, we get."</a:t>
            </a:r>
          </a:p>
          <a:p/>
          <a:p>
            <a:r>
              <a:t>[Walk through briefly:]</a:t>
            </a:r>
          </a:p>
          <a:p/>
          <a:p>
            <a:r>
              <a:t>"Phase 1 — Foundation. We assert the cluster is healthy. Pre-provisioned — no manifests generated."</a:t>
            </a:r>
          </a:p>
          <a:p/>
          <a:p>
            <a:r>
              <a:t>"Phase 2 — GitOps. THIS is the leverage phase. ArgoCD installs, app-of-apps applies, 21 child Applications start reconciling in parallel. One paste, one apply, and ArgoCD does the rest of the work for the next 80 minutes."</a:t>
            </a:r>
          </a:p>
          <a:p/>
          <a:p>
            <a:r>
              <a:t>"Phase 3 — Security. Kyverno + 3 policies, Falco + falcosidekick + falco-talon, External Secrets Operator, RBAC, NetworkPolicies."</a:t>
            </a:r>
          </a:p>
          <a:p/>
          <a:p>
            <a:r>
              <a:t>"Phase 4 — Observability. kube-prometheus-stack with Grafana, OTel Collector, Loki, Promtail, Tempo, plus ServiceMonitors for ArgoCD itself."</a:t>
            </a:r>
          </a:p>
          <a:p/>
          <a:p>
            <a:r>
              <a:t>"Phase 5 — Portal. Backstage. The trap-rich phase. Kubernetes-plugin crash trap baked into the upstream image — pre-fixed but watch the diff."</a:t>
            </a:r>
          </a:p>
          <a:p/>
          <a:p>
            <a:r>
              <a:t>"Phase 6 — Integration. We don't install anything new — we verify the components work TOGETHER. Drift detection, admission firing during scrape, audit trail."</a:t>
            </a:r>
          </a:p>
          <a:p/>
          <a:p>
            <a:r>
              <a:t>"Phase 7 — Hardening. cert-manager, resource quotas, PDBs."</a:t>
            </a:r>
          </a:p>
          <a:p/>
          <a:p>
            <a:r>
              <a:t>[SAY THIS OUT LOUD:] "How far we get is how far we get. The kubeauto reference took 10 hours overnight. We're attempting it in 90 minutes live. We may finish Phase 4. We may land Phase 6. Phase 7 in 90 minutes is unlikely. THAT IS THE DATA."</a:t>
            </a:r>
          </a:p>
          <a:p/>
          <a:p>
            <a:r>
              <a:t>[CLICK to slide 11.]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[T+3:50  |  ~30 seconds talking, then 3-5 minutes pause for setup]</a:t>
            </a:r>
          </a:p>
          <a:p/>
          <a:p>
            <a:r>
              <a:t>"Open your laptops. Whichever path you picked from slide 1, get to a working `claude` session."</a:t>
            </a:r>
          </a:p>
          <a:p/>
          <a:p>
            <a:r>
              <a:t>"PATH A — most of you, on KodeKloud in the browser — you're already in a shell. Skip aws entirely. Just kubectl get nodes to confirm the cluster is alive, then clone and run claude."</a:t>
            </a:r>
          </a:p>
          <a:p/>
          <a:p>
            <a:r>
              <a:t>"PATH B — those of you who scanned the EKS QR — you've got your creds from the Railway page. aws configure, eks update-kubeconfig with your cluster name kcd-tx-attendee-NN, kubectl get nodes shows your nodes Ready, then clone and run claude."</a:t>
            </a:r>
          </a:p>
          <a:p/>
          <a:p>
            <a:r>
              <a:t>"Both paths converge: when Claude starts and you paste the prompt from spec/BUILD-SPEC.md, the FIRST thing Claude does in Phase 1 is detect cluster type — EKS or kubeadm — and adapt the preflight, the ESO config in Phase 3, and the cert-manager issuer in Phase 7. Phases 2, 4, 5, 6 run identically across both."</a:t>
            </a:r>
          </a:p>
          <a:p/>
          <a:p>
            <a:r>
              <a:t>"IMPORTANT — say this out loud: I'm running on EKS up here. Most of you are on KodeKloud. That means when we hit Phase 3, MY screen will show External Secrets Operator pulling from AWS Secrets Manager. YOUR screen will show ESO pulling from Kubernetes Secrets — same pattern, different backend. When we hit Phase 7, MY cert-manager will use ACME via Route53 DNS — yours will use a self-signed ClusterIssuer. The divergence isn't a defect. It IS the data. We'll talk about it at the end on the scorecard."</a:t>
            </a:r>
          </a:p>
          <a:p/>
          <a:p>
            <a:r>
              <a:t>"If kubectl get nodes does not show your nodes Ready, raise your hand. EKS attendees — I'll swap your cluster. KodeKloud attendees — reload the lab page."</a:t>
            </a:r>
          </a:p>
          <a:p/>
          <a:p>
            <a:r>
              <a:t>"No TAs today. Setup window is the only time I can help individuals. After Phase 2 starts, I'm driving Claude on the projector."</a:t>
            </a:r>
          </a:p>
          <a:p/>
          <a:p>
            <a:r>
              <a:t>[PAUSE 3-5 MINUTES. Walk the rows. Help with cluster swaps and KodeKloud reloads.]</a:t>
            </a:r>
          </a:p>
          <a:p/>
          <a:p>
            <a:r>
              <a:t>[When mostly green, CLICK to slide 12.]</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[T+~80  |  ~45 seconds  |  THE PAYOFF MOMENT]</a:t>
            </a:r>
          </a:p>
          <a:p/>
          <a:p>
            <a:r>
              <a:t>[Point at the live scorecard — your AUDIENCE has been watching it fill in real time.]</a:t>
            </a:r>
          </a:p>
          <a:p/>
          <a:p>
            <a:r>
              <a:t>"We did N phases in 75 minutes. Here are the totals."</a:t>
            </a:r>
          </a:p>
          <a:p/>
          <a:p>
            <a:r>
              <a:t>[Read your actual scorecard numbers. Don't make them up.]</a:t>
            </a:r>
          </a:p>
          <a:p/>
          <a:p>
            <a:r>
              <a:t>"Look at these three numbers. They DON'T move together."</a:t>
            </a:r>
          </a:p>
          <a:p/>
          <a:p>
            <a:r>
              <a:t>INSTALL — "AI installed things fine. Manifests came up healthy. First-try success was real."</a:t>
            </a:r>
          </a:p>
          <a:p/>
          <a:p>
            <a:r>
              <a:t>INTEGRATION — "AI struggled with integration. Sync waves missed. Webhook scopes wrong. Scrape not wired."</a:t>
            </a:r>
          </a:p>
          <a:p/>
          <a:p>
            <a:r>
              <a:t>USABILITY — "AI was worst at usability. Working components, opaque UIs, defaults that don't fit your team Monday morning."</a:t>
            </a:r>
          </a:p>
          <a:p/>
          <a:p>
            <a:r>
              <a:t>"That's the pattern. Same pattern I saw in the overnight build at kubeauto-ai-day, just compressed."</a:t>
            </a:r>
          </a:p>
          <a:p/>
          <a:p>
            <a:r>
              <a:t>[If you didn't get to all 4 phases, say so explicitly. 'We didn't reach Phase 3 today. Here's what kubeauto scored for it.']</a:t>
            </a:r>
          </a:p>
          <a:p/>
          <a:p>
            <a:r>
              <a:t>[CLICK to slide 16.]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[T+~83  |  ~45 seconds  |  THE TALK'S CLOSING ARGUMENT]</a:t>
            </a:r>
          </a:p>
          <a:p/>
          <a:p>
            <a:r>
              <a:t>"The implementation layer didn't DISAPPEAR."</a:t>
            </a:r>
          </a:p>
          <a:p/>
          <a:p>
            <a:r>
              <a:t>[Pause — let the pivot land.]</a:t>
            </a:r>
          </a:p>
          <a:p/>
          <a:p>
            <a:r>
              <a:t>"It COMPRESSED."</a:t>
            </a:r>
          </a:p>
          <a:p/>
          <a:p>
            <a:r>
              <a:t>"AI handles the YAML and Helm values faster than I can. What's LEFT is sync wave ordering, namespace exclusions, policy collisions, image configs that don't match the chart, and the judgment calls that turn a pile of CNCF tools into a platform someone can actually USE Monday morning."</a:t>
            </a:r>
          </a:p>
          <a:p/>
          <a:p>
            <a:r>
              <a:t>"That's the engineering work that didn't go anywhere."</a:t>
            </a:r>
          </a:p>
          <a:p/>
          <a:p>
            <a:r>
              <a:t>[This is the talk's argument. Slow down. Don't rush.]</a:t>
            </a:r>
          </a:p>
          <a:p/>
          <a:p>
            <a:r>
              <a:t>[CLICK to slide 17.]</a:t>
            </a:r>
          </a:p>
          <a:p/>
          <a:p>
            <a:r>
              <a:t>[TOIL-SHIFT FRAMING — read this verbatim if landing on this slide cleanly:]</a:t>
            </a:r>
          </a:p>
          <a:p/>
          <a:p>
            <a:r>
              <a:t>"What just compressed is what you shouldn't have been doing in the first place. Implementation isn't your job — it's table stakes. The ten hours kubeauto took for the implementation layer? That's not engineering work anymore. The work above the implementation layer — deciding what to build, deciding which dimensions matter, deciding how to make it usable for a human — that's where your time goes next. The toil compressed; the high-value work is what's left."</a:t>
            </a:r>
          </a:p>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[T+~84  |  ~60 seconds]</a:t>
            </a:r>
          </a:p>
          <a:p/>
          <a:p>
            <a:r>
              <a:t>"The methodology goes home with you. The platform doesn't — we're tearing down the clusters in an hour."</a:t>
            </a:r>
          </a:p>
          <a:p/>
          <a:p>
            <a:r>
              <a:t>"What goes home: three things."</a:t>
            </a:r>
          </a:p>
          <a:p/>
          <a:p>
            <a:r>
              <a:t>[Point at QR codes left to right.]</a:t>
            </a:r>
          </a:p>
          <a:p/>
          <a:p>
            <a:r>
              <a:t>WORKSHOP REPO — "The spec, skills, gates, scorecard — exactly what we ran today. Take it. Fork it. Use it Monday."</a:t>
            </a:r>
          </a:p>
          <a:p/>
          <a:p>
            <a:r>
              <a:t>REFERENCE BUILD — "kubeauto-ai-day. Same methodology, 7 phases, 27 components, ~10 hours overnight. Read the scorecard there for comparison."</a:t>
            </a:r>
          </a:p>
          <a:p/>
          <a:p>
            <a:r>
              <a:t>AGENTIC COVENANTS — "Governance framework for autonomous agents. If you're going to deploy AI agents that DO things — not just answer things — start here."</a:t>
            </a:r>
          </a:p>
          <a:p/>
          <a:p>
            <a:r>
              <a:t>"Methodology + scorecard + reference build. Pull out your phones. I'll leave this on screen for a minute."</a:t>
            </a:r>
          </a:p>
          <a:p/>
          <a:p>
            <a:r>
              <a:t>[Wait ~60 seconds for people to scan. CLICK to slide 18.]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[T+~86 to T+90  |  4 minutes for Q&amp;A]</a:t>
            </a:r>
          </a:p>
          <a:p/>
          <a:p>
            <a:r>
              <a:t>"Thank you for being part of this."</a:t>
            </a:r>
          </a:p>
          <a:p/>
          <a:p>
            <a:r>
              <a:t>"Questions? I'll stay for the next five minutes for one-on-one. After that I have to clear the room for the next session."</a:t>
            </a:r>
          </a:p>
          <a:p/>
          <a:p>
            <a:r>
              <a:t>[Take questions. Be honest about what didn't work. The audience saw it — don't pretend otherwise.]</a:t>
            </a:r>
          </a:p>
          <a:p/>
          <a:p>
            <a:r>
              <a:t>[Common Q&amp;A you should prep for:]</a:t>
            </a:r>
          </a:p>
          <a:p>
            <a:r>
              <a:t>- "How long did writing the spec take?" — be honest. ~half a day for kubeauto. ~2 hours for the workshop subset.</a:t>
            </a:r>
          </a:p>
          <a:p>
            <a:r>
              <a:t>- "Can I use this on Azure / GCP?" — yes, same methodology, change the cluster bootstrap.</a:t>
            </a:r>
          </a:p>
          <a:p>
            <a:r>
              <a:t>- "What if I don't use Claude Code specifically?" — methodology applies to any agentic LLM with file access. Spec + skills + gates + scorecard works with Cursor, Copilot agents, etc.</a:t>
            </a:r>
          </a:p>
          <a:p>
            <a:r>
              <a:t>- "What's the kubeauto scorecard total?" — go to the repo, the SCORECARD.md is the artifact.</a:t>
            </a:r>
          </a:p>
          <a:p/>
          <a:p>
            <a:r>
              <a:t>[Note on LinkedIn: the profile may not yet reflect the Accenture role. If anyone asks, say so directly — 'profile's catching up; AI Workplace Transformation Specialist at Accenture is the current role.']</a:t>
            </a:r>
          </a:p>
          <a:p/>
          <a:p>
            <a:r>
              <a:t>[After Q&amp;A: thank you again. Don't linger.]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[T+8 (or whenever setup is done)  |  ~60 seconds  |  ORIENTATION before going to terminal]</a:t>
            </a:r>
          </a:p>
          <a:p/>
          <a:p>
            <a:r>
              <a:t>"Before I switch to the terminal — here's the loop you're about to watch."</a:t>
            </a:r>
          </a:p>
          <a:p/>
          <a:p>
            <a:r>
              <a:t>[Walk through the 6 steps quickly:]</a:t>
            </a:r>
          </a:p>
          <a:p/>
          <a:p>
            <a:r>
              <a:t>"Step 1 — I paste the spec. ONE paste. Not per-phase prompting. The whole spec, autonomous run."</a:t>
            </a:r>
          </a:p>
          <a:p/>
          <a:p>
            <a:r>
              <a:t>"Step 2 — Claude reads the relevant skill file for the phase. THAT'S WHY THE SKILLS MATTER — they're how Claude doesn't generate deprecated patterns."</a:t>
            </a:r>
          </a:p>
          <a:p/>
          <a:p>
            <a:r>
              <a:t>"Step 3 — Claude generates a manifest to ~/my-component.yaml. NOT to gitops/ — that's read-only during the workshop."</a:t>
            </a:r>
          </a:p>
          <a:p/>
          <a:p>
            <a:r>
              <a:t>"Step 4 — We diff against the pre-committed ground truth in gitops/. Walk through every difference out loud. THIS IS THE EDUCATIONAL MOMENT."</a:t>
            </a:r>
          </a:p>
          <a:p/>
          <a:p>
            <a:r>
              <a:t>"Step 5 — kubectl apply, then pytest. ALL tests must pass."</a:t>
            </a:r>
          </a:p>
          <a:p/>
          <a:p>
            <a:r>
              <a:t>"Step 6 — Promise PHASE_N_DONE. I pause. Score on the live scorecard. Say 'continue' — Claude moves to Phase N+1 autonomously."</a:t>
            </a:r>
          </a:p>
          <a:p/>
          <a:p>
            <a:r>
              <a:t>"When you get lost watching the terminal, glance back at this slide. THIS is what we're doing."</a:t>
            </a:r>
          </a:p>
          <a:p/>
          <a:p>
            <a:r>
              <a:t>[Now SWITCH PROJECTOR TO TERMINAL. The deck stays accessible for filler.]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[FILLER SLIDE - use during phase stalls (pods pulling, Claude thinking, Phase 2's 21 Apps reconciling)]</a:t>
            </a:r>
          </a:p>
          <a:p/>
          <a:p>
            <a:r>
              <a:t>"While we wait — these are the six skill files Claude has loaded into context right now. Each prevents a specific failure mode."</a:t>
            </a:r>
          </a:p>
          <a:p/>
          <a:p>
            <a:r>
              <a:t>[Walk through 1-2 entries at a time:]</a:t>
            </a:r>
          </a:p>
          <a:p/>
          <a:p>
            <a:r>
              <a:t>argocd-patterns: "Chart 9.x is current GA. Most tutorials reference chart 5-7 (ArgoCD 2.x). The skill encodes what changed: timeout.reconciliation goes in configs.cm not configs.params; default tracking is annotation-based."</a:t>
            </a:r>
          </a:p>
          <a:p/>
          <a:p>
            <a:r>
              <a:t>kyverno-policies: "Chart 3.8.0. Webhook-level namespace exclusion via chart values, NOT per-policy. validationFailureAction is case-sensitive."</a:t>
            </a:r>
          </a:p>
          <a:p/>
          <a:p>
            <a:r>
              <a:t>falco-rules: "Custom CRITICAL-tagged rules. Falcosidekick wired to Prometheus so policy fires emit metrics on dashboards. We'll see that in Phase 6 integration."</a:t>
            </a:r>
          </a:p>
          <a:p/>
          <a:p>
            <a:r>
              <a:t>kube-prometheus-stack: "ServerSideApply MANDATORY. The chart's CRDs exceed the annotation size limit. Without SSA, ArgoCD loops forever."</a:t>
            </a:r>
          </a:p>
          <a:p/>
          <a:p>
            <a:r>
              <a:t>otel-wiring: "Memory limiter MUST be first processor. Without it the collector OOMs and cascades back-pressure. Subtle, expensive bug."</a:t>
            </a:r>
          </a:p>
          <a:p/>
          <a:p>
            <a:r>
              <a:t>backstage-templates: "Two traps. Chart has NO default image. Upstream image's baked-in app-config crashes the Kubernetes plugin without a cluster locator. Both pre-fixed in ground truth."</a:t>
            </a:r>
          </a:p>
          <a:p/>
          <a:p>
            <a:r>
              <a:t>[Switch back to terminal when ready.]</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[FILLER SLIDE — use during longer phase stalls or after a Phase failure]</a:t>
            </a:r>
          </a:p>
          <a:p/>
          <a:p>
            <a:r>
              <a:t>"While we troubleshoot — here's the rigor underneath this workshop."</a:t>
            </a:r>
          </a:p>
          <a:p/>
          <a:p>
            <a:r>
              <a:t>PRE-COMMIT HOOKS — "Every commit to staging runs gitleaks, yamllint, kubeconform schema validation, helm-lint, shellcheck. Bad YAML never reaches the branch. Leaked secrets never reach GitHub."</a:t>
            </a:r>
          </a:p>
          <a:p/>
          <a:p>
            <a:r>
              <a:t>pytest GATES — "Every phase ends with pytest tests/test_phase_0N. ALL tests must pass for the promise to fire. There are no faked passes — you can see the test output on the projector when we run the gates."</a:t>
            </a:r>
          </a:p>
          <a:p/>
          <a:p>
            <a:r>
              <a:t>GITOPS RECONCILIATION — "ArgoCD reads main. Pre-commit blocks bad commits. Promotion from staging to main is a local fast-forward. No CI runs. No remote gates. The local hooks ARE the gates. Single-maintainer rigor."</a:t>
            </a:r>
          </a:p>
          <a:p/>
          <a:p>
            <a:r>
              <a:t>"Same model as kubeauto-ai-day. The discipline isn't different — just scoped down."</a:t>
            </a:r>
          </a:p>
          <a:p/>
          <a:p>
            <a:r>
              <a:t>[~60-90 seconds when used as filler. Switch back to terminal when ready.]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[Pre-T+0  |  Slide running on loop while doors are open  |  ~20-30 min window]</a:t>
            </a:r>
          </a:p>
          <a:p/>
          <a:p>
            <a:r>
              <a:t>One QR. Two paths. Attendees scan, land on the Railway picker page, choose.</a:t>
            </a:r>
          </a:p>
          <a:p/>
          <a:p>
            <a:r>
              <a:t>The Railway picker shows the same two cards on screen: Browser path (KodeKloud, recommended for most) and Terminal path (Accenture EKS, 60 seats, requires local tooling). Whichever they pick, the picker handles the routing — KodeKloud users get the lab URL, EKS users get their cluster credentials and the six setup commands.</a:t>
            </a:r>
          </a:p>
          <a:p/>
          <a:p>
            <a:r>
              <a:t>Verbally during doors-open:</a:t>
            </a:r>
          </a:p>
          <a:p/>
          <a:p>
            <a:r>
              <a:t>"Scan the QR. You'll land on a Pick Your Path page. If you don't have AWS CLI and Claude Code installed locally, pick the Browser path — it's faster, works for everyone, no setup. If you DO have the local tooling and want the higher-fidelity EKS experience, pick the Terminal path — there are 60 seats."</a:t>
            </a:r>
          </a:p>
          <a:p/>
          <a:p>
            <a:r>
              <a:t>"Both paths run the same workshop. Same 7-phase spec. Same scorecard. The differences in Phase 3 and Phase 7 between the two environments are themselves data we'll talk about at the end."</a:t>
            </a:r>
          </a:p>
          <a:p/>
          <a:p>
            <a:r>
              <a:t>"If you scanned and got the wrong path, hit back, scan again, pick the other one. You can switch any time."</a:t>
            </a:r>
          </a:p>
          <a:p/>
          <a:p>
            <a:r>
              <a:t>[When ready to start: ADVANCE to slide 2 (Title).]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A  |  4-5 minutes  |  on the deterministic enforcement layer]</a:t>
            </a:r>
          </a:p>
          <a:p/>
          <a:p>
            <a:r>
              <a:t>"If you went to Phase 2 already, you saw the slash command /build-phase land cleanly. What you DIDN'T see is what's making Claude actually finish. Two different mechanisms."</a:t>
            </a:r>
          </a:p>
          <a:p/>
          <a:p>
            <a:r>
              <a:t>THE STOP HOOK (left side):</a:t>
            </a:r>
          </a:p>
          <a:p>
            <a:r>
              <a:t>"Claude Code has a stop hook — .claude/hooks/cc-stop-deterministic.sh. It runs when Claude tries to end a turn. The job is one thing: don't let Claude exit a phase unless it emits the literal promise tag PHASE_N_DONE."</a:t>
            </a:r>
          </a:p>
          <a:p/>
          <a:p>
            <a:r>
              <a:t>"When the /build-phase command starts, it touches a marker file called .build-active. That tells the hook 'we're inside an active phase, enforce the contract.' When the phase completes, the marker file is removed and the hook approves all stops."</a:t>
            </a:r>
          </a:p>
          <a:p/>
          <a:p>
            <a:r>
              <a:t>"Why does this matter? Because LLMs are GREAT at saying 'I'm done.' They are NOT great at being done. The hook forces the test gate. If pytest didn't exit 0, the promise tag never gets emitted, the hook blocks the stop, and Claude is forced to keep iterating. No 'looks good to me' allowed."</a:t>
            </a:r>
          </a:p>
          <a:p/>
          <a:p>
            <a:r>
              <a:t>PRE-COMMIT HOOKS (right side):</a:t>
            </a:r>
          </a:p>
          <a:p>
            <a:r>
              <a:t>"Different control plane. Pre-commit hooks run on git commit and git push. Claude Code CANNOT bypass them — they're enforced by git itself, not by the agent."</a:t>
            </a:r>
          </a:p>
          <a:p/>
          <a:p>
            <a:r>
              <a:t>"Seven of them. Gitleaks scans for secrets first — if I accidentally committed an AWS key, gitleaks blocks the commit. Yamllint catches syntax errors. Kubeconform validates manifests against real Kubernetes CRD schemas — not against a model's idea of what a CRD looks like. Helm lint validates any local charts. Shellcheck catches shell bugs in the workshop scripts."</a:t>
            </a:r>
          </a:p>
          <a:p/>
          <a:p>
            <a:r>
              <a:t>"The big one is dry-run-validate. It's a pre-PUSH hook — only runs when I try to push to GitHub. It verifies the repo structure is intact, all 21 child Applications exist, every chart version on disk actually exists in the upstream Helm repo, every manifest renders without errors, sync waves haven't been silently broken. If I let an agent regress the repo and try to push it, the validator blocks the push."</a:t>
            </a:r>
          </a:p>
          <a:p/>
          <a:p>
            <a:r>
              <a:t>"Conventional-commit format keeps the git log readable — enforced format means audit trail."</a:t>
            </a:r>
          </a:p>
          <a:p/>
          <a:p>
            <a:r>
              <a:t>THE PUNCHLINE:</a:t>
            </a:r>
          </a:p>
          <a:p>
            <a:r>
              <a:t>"The agent is the YAML generator. The hooks are the gatekeepers. Two control planes — by design. The skill files keep Claude from generating bad YAML in the FIRST place. The hooks keep bad YAML from getting committed or pushed even if the skill files fail. Defense in depth that doesn't require trusting the agent."</a:t>
            </a:r>
          </a:p>
          <a:p/>
          <a:p>
            <a:r>
              <a:t>[If you have remaining time: walk through cc-stop-deterministic.sh on the projector. The actual code is 25 lines.]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B  |  5-6 minutes  |  on sync wave architecture]</a:t>
            </a:r>
          </a:p>
          <a:p/>
          <a:p>
            <a:r>
              <a:t>"Argo CD sync waves are the most important thing to understand about this build. Let me walk through them — they're not arbitrary."</a:t>
            </a:r>
          </a:p>
          <a:p/>
          <a:p>
            <a:r>
              <a:t>"All 21 platform Applications plus 10 demo workloads have a sync-wave annotation. ArgoCD discovers them all from app-of-apps, but it doesn't apply them all at once. It walks them in numeric order, lowest first."</a:t>
            </a:r>
          </a:p>
          <a:p/>
          <a:p>
            <a:r>
              <a:t>WAVE -10 — FOUNDATION:</a:t>
            </a:r>
          </a:p>
          <a:p>
            <a:r>
              <a:t>"The namespaces Application runs FIRST. Wave -10. Why? Every other Application in this stack deploys INTO a namespace. If the namespace doesn't exist when Kyverno's policies try to install, the Application fails. So namespaces win the race by 10 wave-units."</a:t>
            </a:r>
          </a:p>
          <a:p/>
          <a:p>
            <a:r>
              <a:t>WAVES -5 TO -2 — SECURITY PRE-EMPT:</a:t>
            </a:r>
          </a:p>
          <a:p>
            <a:r>
              <a:t>"This is the prevention-first principle in action. Kyverno installs at wave -5. Its policies, NetworkPolicies, RBAC bindings, and External Secrets Operator install at -4. Then ESO secrets (-3), Falco (-3), Falcosidekick (-2)."</a:t>
            </a:r>
          </a:p>
          <a:p/>
          <a:p>
            <a:r>
              <a:t>"The whole admission control and runtime detection layer is in place BEFORE workloads arrive. When the demo workloads land at wave 7, Kyverno has already been running for 6 wave-cycles. Any policy violation gets caught at admission time, not after the workload is running."</a:t>
            </a:r>
          </a:p>
          <a:p/>
          <a:p>
            <a:r>
              <a:t>"If Kyverno installed at wave 3, alongside the workloads, you'd have a race: the workloads might land BEFORE Kyverno's webhooks were ready to evaluate them. The workshop's central claim is prevention-first — sync waves are how prevention-first actually works in practice."</a:t>
            </a:r>
          </a:p>
          <a:p/>
          <a:p>
            <a:r>
              <a:t>WAVES 1 TO 2 — PLATFORM SERVICES:</a:t>
            </a:r>
          </a:p>
          <a:p>
            <a:r>
              <a:t>"Cert-manager and kube-prometheus-stack install at wave 1. ServiceMonitors and cert-manager-issuers at wave 2. Why split? Because cert-manager has to be Healthy before ClusterIssuers are valid — they reference the cert-manager CRDs. Same for ServiceMonitors — the kube-prometheus-stack CRDs (ServiceMonitor, PrometheusRule) have to exist before anything can reference them."</a:t>
            </a:r>
          </a:p>
          <a:p/>
          <a:p>
            <a:r>
              <a:t>WAVES 3 TO 4 — OBSERVABILITY + REMEDIATION:</a:t>
            </a:r>
          </a:p>
          <a:p>
            <a:r>
              <a:t>"Loki, Tempo, Promtail, Grafana dashboards. Plus falco-talon — the response system that listens to falcosidekick alerts and takes action."</a:t>
            </a:r>
          </a:p>
          <a:p/>
          <a:p>
            <a:r>
              <a:t>"This wave produces the entire observability surface. By wave 4, we have admission controls firing, runtime detection firing, metrics being scraped, logs being shipped, traces being collected. We just don't have anything to look AT yet."</a:t>
            </a:r>
          </a:p>
          <a:p/>
          <a:p>
            <a:r>
              <a:t>WAVE 5 — PORTAL + SAMPLE:</a:t>
            </a:r>
          </a:p>
          <a:p>
            <a:r>
              <a:t>"Backstage launches with the appConfig override that prevents the Kubernetes plugin crash. Sample-app launches — the first 'real' workload. They install in parallel because they don't depend on each other."</a:t>
            </a:r>
          </a:p>
          <a:p/>
          <a:p>
            <a:r>
              <a:t>WAVES 7 TO 8 — DEMO WORKLOADS:</a:t>
            </a:r>
          </a:p>
          <a:p>
            <a:r>
              <a:t>"This is where things get interesting. The party apps, the ecom microservices, the load-generator. They all land late on PURPOSE. The point: when they arrive, everything that needs to OBSERVE them is already running. Kyverno catches missing labels at admission. Prometheus scrapes their /metrics. Loki ingests their logs. Falco detects anomalous syscalls. Falco-talon remediates if needed."</a:t>
            </a:r>
          </a:p>
          <a:p/>
          <a:p>
            <a:r>
              <a:t>"Wave 8 is the load-generator. Comes last on PURPOSE — wait until the workloads it's hammering are Healthy."</a:t>
            </a:r>
          </a:p>
          <a:p/>
          <a:p>
            <a:r>
              <a:t>THE PUNCHLINE:</a:t>
            </a:r>
          </a:p>
          <a:p>
            <a:r>
              <a:t>"The wave order encodes architectural truth. What depends on what. ArgoCD doesn't argue with this — it walks the DAG. The agent CAN'T reorder it because the waves are pre-committed in the gitops/apps/ Applications. This is the kind of thing AI is bad at — deciding ordering matters — and pre-commitment removes the decision."</a:t>
            </a:r>
          </a:p>
          <a:p/>
          <a:p>
            <a:r>
              <a:t>[If you have remaining time: project gitops/apps/namespaces.yaml and gitops/apps/kyverno.yaml side by side to show the sync-wave annotation literally. It's one line.]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C  |  4-5 minutes  |  on the Falco pipeline]</a:t>
            </a:r>
          </a:p>
          <a:p/>
          <a:p>
            <a:r>
              <a:t>"Falco is famous. Most people stop at Falco. But the workshop installs a three-stage pipeline. Worth understanding why."</a:t>
            </a:r>
          </a:p>
          <a:p/>
          <a:p>
            <a:r>
              <a:t>STAGE 1: FALCO (sync wave -3)</a:t>
            </a:r>
          </a:p>
          <a:p>
            <a:r>
              <a:t>"Falco runs as a DaemonSet — every node, every pod monitored via eBPF. When a syscall matches a rule, Falco fires an event."</a:t>
            </a:r>
          </a:p>
          <a:p/>
          <a:p>
            <a:r>
              <a:t>"The skill file .claude/skills/falco-rules.md tells Claude how to write CRITICAL-tagged custom rules. Default Falco rules are noisy — the skill file shows the pattern for workshop-grade rules that detect specific things: credential access in /etc/shadow, mounts of sensitive paths, anomalous network egress."</a:t>
            </a:r>
          </a:p>
          <a:p/>
          <a:p>
            <a:r>
              <a:t>"But Falco by itself can only LOG. That's the gap."</a:t>
            </a:r>
          </a:p>
          <a:p/>
          <a:p>
            <a:r>
              <a:t>STAGE 2: FALCOSIDEKICK (sync wave -2)</a:t>
            </a:r>
          </a:p>
          <a:p>
            <a:r>
              <a:t>"Falcosidekick is the 'sink'. The fanout layer. Falco emits one event — falcosidekick sends it to many destinations in parallel. Slack, S3, webhooks, Microsoft Teams, Elasticsearch, AWS Lambda — 30+ outputs supported."</a:t>
            </a:r>
          </a:p>
          <a:p/>
          <a:p>
            <a:r>
              <a:t>"In our config, two outputs matter:"</a:t>
            </a:r>
          </a:p>
          <a:p/>
          <a:p>
            <a:r>
              <a:t>"One: it exposes Falco event metrics on port 2801 with prometheus.io/scrape annotations. That means the kube-prometheus-stack scrapes it and Grafana dashboards visualize falco events as time-series."</a:t>
            </a:r>
          </a:p>
          <a:p/>
          <a:p>
            <a:r>
              <a:t>"Two: it sends a webhook to falco-talon on port 2803. The address is hard-coded in our config: http://falco-talon.security.svc.cluster.local:2803."</a:t>
            </a:r>
          </a:p>
          <a:p/>
          <a:p>
            <a:r>
              <a:t>"Why falcosidekick exists: separation of concerns. Falco detects. Falcosidekick fans out. If we want to add Slack alerting tomorrow, we don't touch Falco — we add one block of YAML to the falcosidekick config and redeploy. The detection layer doesn't know or care."</a:t>
            </a:r>
          </a:p>
          <a:p/>
          <a:p>
            <a:r>
              <a:t>STAGE 3: FALCO-TALON (sync wave 4)</a:t>
            </a:r>
          </a:p>
          <a:p>
            <a:r>
              <a:t>"This is where it gets interesting. Talon is the RESPONSE actuator. It listens for events on port 2803 — same port falcosidekick is pushing to. It matches incoming events against a set of response rules, and takes ACTION on the cluster."</a:t>
            </a:r>
          </a:p>
          <a:p/>
          <a:p>
            <a:r>
              <a:t>"Actions: kill the offending pod. Apply a 'compromised' label. Drop a NetworkPolicy that isolates the workload. Write an audit log entry. All automated."</a:t>
            </a:r>
          </a:p>
          <a:p/>
          <a:p>
            <a:r>
              <a:t>"This is the layer that makes 'detection' into 'response.' Without Talon, Falco events just go into a dashboard for a human to read. With Talon, Falco fires → Talon evaluates → cluster reacts — in single-digit seconds, no human in the loop."</a:t>
            </a:r>
          </a:p>
          <a:p/>
          <a:p>
            <a:r>
              <a:t>"Talon is at wave 4 — LATER than Falco/falcosidekick. Why? Because Talon needs cert-manager (wave 1) and the RBAC bindings (wave -4) and namespaces (wave -10) all healthy first. Falco fires events into a void for the first ~30 seconds of the workshop — events go to falcosidekick which buffers — once Talon comes up at wave 4, the consumer side appears and end-to-end remediation starts."</a:t>
            </a:r>
          </a:p>
          <a:p/>
          <a:p>
            <a:r>
              <a:t>THE PUNCHLINE:</a:t>
            </a:r>
          </a:p>
          <a:p>
            <a:r>
              <a:t>"Three components instead of one. Why? Because each one has a different shape and a different change rate."</a:t>
            </a:r>
          </a:p>
          <a:p/>
          <a:p>
            <a:r>
              <a:t>"Falco changes when you write a new detection rule. Falcosidekick changes when you add a destination. Talon changes when you change a response action. Three independent change vectors. One pipeline."</a:t>
            </a:r>
          </a:p>
          <a:p/>
          <a:p>
            <a:r>
              <a:t>"This is what AI agents miss when they build security stacks. They install Falco. Done. They don't understand that detection without fanout without response is a half-built pipeline. The skill files encode the FULL pattern so Claude doesn't stop at Falco."</a:t>
            </a:r>
          </a:p>
          <a:p/>
          <a:p>
            <a:r>
              <a:t>[If time: pull up the falcosidekick.yaml on the projector. Show the prometheus block and the falco-talon webhook block side by side. Real config.]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D  |  5 minutes  |  on the skill files]</a:t>
            </a:r>
          </a:p>
          <a:p/>
          <a:p>
            <a:r>
              <a:t>"This is the file class I think most people miss. Six files. Each one is short — most are under 100 lines. Each one prevents one specific failure mode that Claude tends to fall into when given a CNCF deployment task."</a:t>
            </a:r>
          </a:p>
          <a:p/>
          <a:p>
            <a:r>
              <a:t>"Why do skills exist? Because LLMs are trained on a snapshot of the internet, which is mostly out of date. If I ask Claude to deploy ArgoCD, it'll cheerfully generate a Helm values block that worked perfectly in 2023. Chart 5.x, ArgoCD 2.x. The patterns it suggests are deprecated. configs.params used to hold the reconciliation timeout. It doesn't anymore."</a:t>
            </a:r>
          </a:p>
          <a:p/>
          <a:p>
            <a:r>
              <a:t>"So a skill file. argocd-patterns.md is 80 lines. The first section says 'we are on chart 9.x, which produces ArgoCD 3.x'. That single line orients the entire context window. Claude reads it, recalibrates, and generates 9.x patterns."</a:t>
            </a:r>
          </a:p>
          <a:p/>
          <a:p>
            <a:r>
              <a:t>WALK THROUGH EACH:</a:t>
            </a:r>
          </a:p>
          <a:p/>
          <a:p>
            <a:r>
              <a:t>"argocd-patterns: 9.x line. configs.cm path. Annotation tracking. Sync wave conventions — always pre-set, never let the agent invent wave numbers."</a:t>
            </a:r>
          </a:p>
          <a:p/>
          <a:p>
            <a:r>
              <a:t>"kyverno-policies: chart 3.8.0. Webhook namespaceSelector is a MAP, not a list — if you generate a list, Kyverno's mutating webhook silently no-ops. ServerSideApply=true on the policies Application — without it, ArgoCD loops because the policy CRDs are too big for last-applied-configuration annotations. validationFailureAction case-sensitive — 'Enforce' with a capital E, not 'enforce'."</a:t>
            </a:r>
          </a:p>
          <a:p/>
          <a:p>
            <a:r>
              <a:t>"kube-prometheus-stack: chart 84.5.0. ServerSideApply=true MANDATORY — same reason as Kyverno but worse — the kube-prometheus-stack CRDs are enormous. Without SSA, the Application gets stuck forever trying to apply the CRDs. Alertmanager disabled for workshop pacing — we don't want alerts firing during the demo."</a:t>
            </a:r>
          </a:p>
          <a:p/>
          <a:p>
            <a:r>
              <a:t>"backstage-templates: this is the one with TWO documented traps. Trap one — the chart has no default image. If you don't pin an image, the StatefulSet template can't fill in the spec.template.spec.containers[0].image field and the deployment fails. Trap two — the upstream image's baked-in app-config initializes the Kubernetes plugin, which crashes at startup unless you provide a cluster locator. The skill file has the exact appConfig YAML block to override."</a:t>
            </a:r>
          </a:p>
          <a:p/>
          <a:p>
            <a:r>
              <a:t>"And as a footnote in the skill file: roadiehq/community-backstage-image:1.50.4 DOES NOT EXIST. An earlier draft of the workshop used it. It returns 404 on GHCR and the Docker Hub repo was abandoned in 2021. Don't go back to it."</a:t>
            </a:r>
          </a:p>
          <a:p/>
          <a:p>
            <a:r>
              <a:t>"falco-rules: the three-stage pipeline I covered in Appendix C. The skill encodes how to wire falcosidekick to BOTH Prometheus and falco-talon in a single config block."</a:t>
            </a:r>
          </a:p>
          <a:p/>
          <a:p>
            <a:r>
              <a:t>"otel-wiring: this one is subtle but expensive. memory_limiter MUST be the first processor in every pipeline. Without it the collector OOMs under load and cascades back-pressure to receivers, which makes your apps slow. AI doesn't know this from the OTel docs because the docs say 'memory_limiter is recommended' — not 'must be first.' The skill file is more aggressive than the upstream docs."</a:t>
            </a:r>
          </a:p>
          <a:p/>
          <a:p>
            <a:r>
              <a:t>THE PUNCHLINE:</a:t>
            </a:r>
          </a:p>
          <a:p>
            <a:r>
              <a:t>"Six files. Five-minute reads. They produce maybe 30 lines of context Claude sees before generating each phase's output. That 30 lines is the difference between 'AI installed it' and 'AI installed it CORRECTLY for the current chart version.'"</a:t>
            </a:r>
          </a:p>
          <a:p/>
          <a:p>
            <a:r>
              <a:t>"This is where the methodology gets replicable. Whatever CNCF project YOUR team uses, you have to write the skill once — then every agent task that touches it benefits. The investment is per-project, not per-task."</a:t>
            </a:r>
          </a:p>
          <a:p/>
          <a:p>
            <a:r>
              <a:t>[If time: project the skill file headers. Show how short they are — they're not novels.]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E  |  5 minutes  |  on scorecard methodology]</a:t>
            </a:r>
          </a:p>
          <a:p/>
          <a:p>
            <a:r>
              <a:t>"Why three dimensions? Why score them independently? Why not just one 'did it work' score?"</a:t>
            </a:r>
          </a:p>
          <a:p/>
          <a:p>
            <a:r>
              <a:t>"Because what the scorecard is trying to capture is INVISIBLE to a one-dimensional view: AI is asymmetric across these dimensions. AI is great at one. Middling at another. Weak at the third. If you collapse them, you lose the signal."</a:t>
            </a:r>
          </a:p>
          <a:p/>
          <a:p>
            <a:r>
              <a:t>INSTALL:</a:t>
            </a:r>
          </a:p>
          <a:p>
            <a:r>
              <a:t>"Install is the obvious one. Did the manifest apply cleanly? Did the chart pull? Did the pods come up?"</a:t>
            </a:r>
          </a:p>
          <a:p/>
          <a:p>
            <a:r>
              <a:t>"AI is GREAT at this. Templating values.yaml is the kind of pattern-matching task that training data is full of. Most Install scores come back 7-9. First-try success is common."</a:t>
            </a:r>
          </a:p>
          <a:p/>
          <a:p>
            <a:r>
              <a:t>"You score 10 if the very first manifest Claude generated landed cleanly, no edits, no follow-up. You score 4 if you had three corrective cycles — missing label, wrong image tag, weird probe config. Cycles count."</a:t>
            </a:r>
          </a:p>
          <a:p/>
          <a:p>
            <a:r>
              <a:t>INTEGRATION:</a:t>
            </a:r>
          </a:p>
          <a:p>
            <a:r>
              <a:t>"This is the dimension that catches what Install misses. Integration is: do the components actually do their job WHEN THEY'RE NEXT TO EACH OTHER?"</a:t>
            </a:r>
          </a:p>
          <a:p/>
          <a:p>
            <a:r>
              <a:t>"Phase 2 Integration: did app-of-apps discover all 21 children without intervention? Did sync waves flow in order? Phase 3: did Kyverno actually REJECT a non-compliant pod — and ALLOW a compliant one? Did Falco fire on a test event? Phase 4: are Grafana dashboards populated with cluster metrics, or empty? Is Prometheus scraping ArgoCD via the ServiceMonitor? Phase 6: did ArgoCD revert manual drift within 30 seconds?"</a:t>
            </a:r>
          </a:p>
          <a:p/>
          <a:p>
            <a:r>
              <a:t>"AI is MIDDLING here. Webhook scoping. Sync wave coupling. Scrape config selectors. These need judgment AI doesn't reliably have. Most Integration scores come back 5-7."</a:t>
            </a:r>
          </a:p>
          <a:p/>
          <a:p>
            <a:r>
              <a:t>USABILITY:</a:t>
            </a:r>
          </a:p>
          <a:p>
            <a:r>
              <a:t>"This is the dimension that makes the talk land. Could a developer on your team — NOT you, NOT Claude, an actual person who joins your team Monday morning — DRIVE this on Monday?"</a:t>
            </a:r>
          </a:p>
          <a:p/>
          <a:p>
            <a:r>
              <a:t>"Backstage is the canonical low-Usability example. The catalog is empty. The templates are stubs. The Kubernetes plugin is configured but no clusters are wired up. Working as installed. Useless as delivered to a developer."</a:t>
            </a:r>
          </a:p>
          <a:p/>
          <a:p>
            <a:r>
              <a:t>"AI is WEAK here. Usability requires thinking about humans — a developer's mental model, on-boarding friction, defaults that fit your team's actual workflow. AI doesn't have that. Most Usability scores come back 4-6."</a:t>
            </a:r>
          </a:p>
          <a:p/>
          <a:p>
            <a:r>
              <a:t>THE BASELINE:</a:t>
            </a:r>
          </a:p>
          <a:p>
            <a:r>
              <a:t>"The kubeauto-ai-day reference build — same 7-phase, 27-component stack done overnight without time pressure — averaged 7.7 / 7.1 / 6.7 across the three dimensions. Install &gt; Integration &gt; Usability. That's the pattern."</a:t>
            </a:r>
          </a:p>
          <a:p/>
          <a:p>
            <a:r>
              <a:t>"Whatever WE score live, today, in 90 minutes against the same stack — those numbers are what the talk is about. The PATTERN is more interesting than the numbers."</a:t>
            </a:r>
          </a:p>
          <a:p/>
          <a:p>
            <a:r>
              <a:t>EMPTY ROWS:</a:t>
            </a:r>
          </a:p>
          <a:p>
            <a:r>
              <a:t>"And if we ran out of time before reaching Phase 7 — we leave that row blank. Empty rows ARE data. 'AI took us through Phase 4 in the time it took the overnight build to land Phase 2' is the most interesting comparison you can make."</a:t>
            </a:r>
          </a:p>
          <a:p/>
          <a:p>
            <a:r>
              <a:t>[Reference the live presenter scorecard if it's on screen.]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F  |  4 minutes  |  on autonomous execution]</a:t>
            </a:r>
          </a:p>
          <a:p/>
          <a:p>
            <a:r>
              <a:t>"How does one paste run an entire 90-minute build? Three pieces."</a:t>
            </a:r>
          </a:p>
          <a:p/>
          <a:p>
            <a:r>
              <a:t>STEP 1 — THE PASTE:</a:t>
            </a:r>
          </a:p>
          <a:p>
            <a:r>
              <a:t>"At the top of spec/BUILD-SPEC.md, there's a block titled 'How Claude executes this spec.' It's the literal text I paste into Claude at T+5 minutes."</a:t>
            </a:r>
          </a:p>
          <a:p/>
          <a:p>
            <a:r>
              <a:t>"That paste tells Claude: read this spec, walk all 7 phases in order, after each phase emit a promise tag, wait for the user to score, advance to the next phase."</a:t>
            </a:r>
          </a:p>
          <a:p/>
          <a:p>
            <a:r>
              <a:t>"~120 lines of plain English. No special syntax, no templating, no JSON schema. Just instructions."</a:t>
            </a:r>
          </a:p>
          <a:p/>
          <a:p>
            <a:r>
              <a:t>STEP 2 — THE HOOK:</a:t>
            </a:r>
          </a:p>
          <a:p>
            <a:r>
              <a:t>"This is what makes step 1 actually work. The Claude Code Stop hook — from Appendix A — watches for the Stop event. If Claude tries to end its turn without emitting &lt;promise&gt;PHASE_N_DONE&lt;/promise&gt; in the output, the hook blocks the Stop and Claude keeps iterating."</a:t>
            </a:r>
          </a:p>
          <a:p/>
          <a:p>
            <a:r>
              <a:t>"This matters because LLMs are GREAT at saying 'I'm done.' They are NOT great at being done. Without the hook, Claude would emit 'PHASE_2_DONE looks correct!' and exit — before pytest had been run, before the test gate passed."</a:t>
            </a:r>
          </a:p>
          <a:p/>
          <a:p>
            <a:r>
              <a:t>"The hook makes 'I'm done' require evidence. The evidence is the literal tag in the output. The tag only fires from the path that runs pytest. So the hook indirectly forces pytest to run before exit."</a:t>
            </a:r>
          </a:p>
          <a:p/>
          <a:p>
            <a:r>
              <a:t>STEP 3 — THE PROMISE:</a:t>
            </a:r>
          </a:p>
          <a:p>
            <a:r>
              <a:t>"When pytest exits 0, Claude emits &lt;promise&gt;PHASE_N_DONE&lt;/promise&gt;. The hook sees it, releases the Stop, and Claude advances. I score on the projector. Say 'continue.' Claude moves to phase N+1 autonomously."</a:t>
            </a:r>
          </a:p>
          <a:p/>
          <a:p>
            <a:r>
              <a:t>"If pytest FAILS, the contract says: attempt ONE diagnostic fix using the phase's Known failure modes section. If the fix works, re-run pytest, emit the promise. If it doesn't work, emit &lt;promise&gt;PHASE_N_FAILED&lt;/promise&gt; with notes. We move on. Failures are scoreable too."</a:t>
            </a:r>
          </a:p>
          <a:p/>
          <a:p>
            <a:r>
              <a:t>"This is the 'honest failures &gt; faked passes' rule. Faking the promise is visible — the pytest output is on the projector. The audience can see if I'm lying."</a:t>
            </a:r>
          </a:p>
          <a:p/>
          <a:p>
            <a:r>
              <a:t>THE CATCH-UP PATH (bottom callout):</a:t>
            </a:r>
          </a:p>
          <a:p>
            <a:r>
              <a:t>"What if a student falls behind — say their cluster had to be swapped at Phase 2 and they came back at Phase 4? They run /build-phase 4 from their own Claude Code session. Same hook. Same contract. Single-phase scope. They catch up to where we are."</a:t>
            </a:r>
          </a:p>
          <a:p/>
          <a:p>
            <a:r>
              <a:t>"Same machinery. Same promise contract. Same hook. The difference is scope: autonomous runs all 7; /build-phase runs 1."</a:t>
            </a:r>
          </a:p>
          <a:p/>
          <a:p>
            <a:r>
              <a:t>THE PUNCHLINE:</a:t>
            </a:r>
          </a:p>
          <a:p>
            <a:r>
              <a:t>"This is the methodology in three pieces. Spec defines what. Hook enforces how. Promise marks done. Reproducible Monday morning for whatever your team is building — not just Kubernetes."</a:t>
            </a:r>
          </a:p>
          <a:p/>
          <a:p>
            <a:r>
              <a:t>[If you have remaining time, project spec/BUILD-SPEC.md and show the 'How Claude executes this spec' block literally. It's the single thing the workshop hangs on.]</a:t>
            </a:r>
          </a:p>
          <a:p/>
          <a:p>
            <a:r>
              <a:t>[END OF APPENDIX. After this slide: thank the audience again, take final questions, and clear the room.]</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[T+0:30  |  ~60 seconds  |  The reckless framing]</a:t>
            </a:r>
          </a:p>
          <a:p/>
          <a:p>
            <a:r>
              <a:t>"Quick framing before we go any further. Three ways teams are using AI in production right now."</a:t>
            </a:r>
          </a:p>
          <a:p/>
          <a:p>
            <a:r>
              <a:t>[Walk through each card slowly, one at a time:]</a:t>
            </a:r>
          </a:p>
          <a:p/>
          <a:p>
            <a:r>
              <a:t>ONE — "Inject AI into workflows. Coding agents, artifact generation, internal automation. Your engineers use it, the output gets reviewed before it ships. The blast radius is bounded by code review. Most enterprise AI lives here today — and it should."</a:t>
            </a:r>
          </a:p>
          <a:p/>
          <a:p>
            <a:r>
              <a:t>TWO — "Inject AI into an application. Chatbots, search relevance, in-product features. Output is the user-facing surface. Failure mode is a wrong answer on someone's screen. Surveyable, recoverable."</a:t>
            </a:r>
          </a:p>
          <a:p/>
          <a:p>
            <a:r>
              <a:t>THREE — [slow down here] "AI for systems management. Kubernetes. Infrastructure operations. Cloud. The agent TOUCHES PRODUCTION. The thing that's running your stuff."</a:t>
            </a:r>
          </a:p>
          <a:p/>
          <a:p>
            <a:r>
              <a:t>[Pause. Let it land.]</a:t>
            </a:r>
          </a:p>
          <a:p/>
          <a:p>
            <a:r>
              <a:t>"That's the one we're doing today. THIS TALK is case three. Live. With sixty of you watching me hand a single prompt to Claude and let it generate manifests and apply them to a real cluster."</a:t>
            </a:r>
          </a:p>
          <a:p/>
          <a:p>
            <a:r>
              <a:t>"I want to be honest with you up front about what this means. It is RECKLESS. We are about to live-demo the most fragile of the three AI use cases at the highest possible stakes — in front of sixty engineers, in 90 minutes, with no second take."</a:t>
            </a:r>
          </a:p>
          <a:p/>
          <a:p>
            <a:r>
              <a:t>[Read the bottom line slowly, point at it on the slide:]</a:t>
            </a:r>
          </a:p>
          <a:p/>
          <a:p>
            <a:r>
              <a:t>"When the agent touches production, the guardrails have to be deterministic."</a:t>
            </a:r>
          </a:p>
          <a:p/>
          <a:p>
            <a:r>
              <a:t>"The rest of this talk is about WHICH guardrails. The spec. The skills. The test gates. The pre-commit hooks. The promise contract. The Stop hook. Every piece of what you're about to see exists because the agent is about to touch production — and the guardrails cannot themselves be probabilistic."</a:t>
            </a:r>
          </a:p>
          <a:p/>
          <a:p>
            <a:r>
              <a:t>[CLICK to slide 4 (the Hook).]</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[T+2:30  |  ~3-4 minutes  |  Live repo walkthrough on browser]</a:t>
            </a:r>
          </a:p>
          <a:p/>
          <a:p>
            <a:r>
              <a:t>This is the GROUNDING slide. Spec/skills/gates are abstractions until the audience sees the actual files.</a:t>
            </a:r>
          </a:p>
          <a:p/>
          <a:p>
            <a:r>
              <a:t>[TAB TO BROWSER. Pull up github.com/peopleforrester/KCD_Texas_2026_Workshop in a new tab. The slide stays on the projector via display mirror or have it ready to flip back.]</a:t>
            </a:r>
          </a:p>
          <a:p/>
          <a:p>
            <a:r>
              <a:t>"Quick tour. Don't worry about reading anything yet — just see the shape."</a:t>
            </a:r>
          </a:p>
          <a:p/>
          <a:p>
            <a:r>
              <a:t>[Scroll to the README briefly:]</a:t>
            </a:r>
          </a:p>
          <a:p>
            <a:r>
              <a:t>"README is student-facing. What you're building, the seven phases, pick-your-path setup. If you arrived here from sessionize and didn't know what we're doing today, this is where you'd start."</a:t>
            </a:r>
          </a:p>
          <a:p/>
          <a:p>
            <a:r>
              <a:t>[Click into spec/]</a:t>
            </a:r>
          </a:p>
          <a:p>
            <a:r>
              <a:t>"spec/ is the source of truth for what gets built. BUILD-SPEC.md — about 120 lines, plain Markdown — that's the single paste I'll hand Claude in a minute. phases/ has seven files, one per phase, each with its own gate prompt and known failure modes."</a:t>
            </a:r>
          </a:p>
          <a:p/>
          <a:p>
            <a:r>
              <a:t>[Click into .claude/skills/]</a:t>
            </a:r>
          </a:p>
          <a:p>
            <a:r>
              <a:t>"skills/ — these are the files Claude auto-loads when I run `claude` from this repo. Each one prevents one specific trap. argocd-patterns.md tells Claude we're on chart 9.x, not 5.x. backstage-templates.md has the appConfig override that prevents the Kubernetes plugin crash. Without these, Claude would generate patterns from two-year-old tutorials and fail."</a:t>
            </a:r>
          </a:p>
          <a:p/>
          <a:p>
            <a:r>
              <a:t>[Click into gitops/apps/]</a:t>
            </a:r>
          </a:p>
          <a:p>
            <a:r>
              <a:t>"gitops/apps/ — twenty-one ArgoCD Applications. This is the canonical state. ArgoCD reconciles every attendee cluster from this directory on main. The agent doesn't write here — the agent writes to ~/my-component.yaml and diffs against this. The repo is read-only during the workshop."</a:t>
            </a:r>
          </a:p>
          <a:p/>
          <a:p>
            <a:r>
              <a:t>[Click into tests/]</a:t>
            </a:r>
          </a:p>
          <a:p>
            <a:r>
              <a:t>"Forty-seven pytest gates. Real kubectl calls, no mocks. The phase's gate has to exit zero before Claude is allowed to emit PHASE_N_DONE."</a:t>
            </a:r>
          </a:p>
          <a:p/>
          <a:p>
            <a:r>
              <a:t>[Click into scorecard/]</a:t>
            </a:r>
          </a:p>
          <a:p>
            <a:r>
              <a:t>"PRESENTER-SCORECARD.md is what's on my screen during the workshop. Three dimensions — Install, Integration, Usability — per phase. Filled in live as Claude runs."</a:t>
            </a:r>
          </a:p>
          <a:p/>
          <a:p>
            <a:r>
              <a:t>[Click into CLAUDE.md]</a:t>
            </a:r>
          </a:p>
          <a:p>
            <a:r>
              <a:t>"CLAUDE.md — Claude reads this on startup. Workshop-day rules, non-negotiable rules, repo layout. Source of truth for behavior."</a:t>
            </a:r>
          </a:p>
          <a:p/>
          <a:p>
            <a:r>
              <a:t>[Tab back to slides.]</a:t>
            </a:r>
          </a:p>
          <a:p/>
          <a:p>
            <a:r>
              <a:t>"OK — spec, skills, gates, scorecard. Plus the manifests they generate against. Now let me show you the methodology that makes them work together."</a:t>
            </a:r>
          </a:p>
          <a:p/>
          <a:p>
            <a:r>
              <a:t>[CLICK to slide 7 (the Lesson — Spec-Driven Development).]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G  |  4-5 minutes  |  THE killer data point in the appendix]</a:t>
            </a:r>
          </a:p>
          <a:p/>
          <a:p>
            <a:r>
              <a:t>This is the deepest cut in the appendix. If I have time for ONE additional slide at the end — this is the one to walk.</a:t>
            </a:r>
          </a:p>
          <a:p/>
          <a:p>
            <a:r>
              <a:t>"Same spec. Same 7 phases. Same 27 components. Same scorecard. The ONLY variable across these four runs is which Claude is doing the work."</a:t>
            </a:r>
          </a:p>
          <a:p/>
          <a:p>
            <a:r>
              <a:t>OPUS 4.1:</a:t>
            </a:r>
          </a:p>
          <a:p>
            <a:r>
              <a:t>"4.1 couldn't do it. Period. Hit context limits, looped on chart version mismatches — the kind of stuff the skill files would later prevent — and never made it past Phase 3. The build was not possible with that agent."</a:t>
            </a:r>
          </a:p>
          <a:p/>
          <a:p>
            <a:r>
              <a:t>OPUS 4.5:</a:t>
            </a:r>
          </a:p>
          <a:p>
            <a:r>
              <a:t>"4.5 — the kubeauto reference build. Ten hours overnight. Mostly clean. We did manual diagnostics on Phase 5 (Backstage) and Phase 7 (cert-manager). That ten-hour number is what's in the bottom of the README. It's our published baseline."</a:t>
            </a:r>
          </a:p>
          <a:p/>
          <a:p>
            <a:r>
              <a:t>OPUS 4.6:</a:t>
            </a:r>
          </a:p>
          <a:p>
            <a:r>
              <a:t>"4.6 — three and a half hours. The skill files matured between 4.5 and 4.6 — specifically the Backstage trap got documented. First-try success on Phase 5 in 4.6. The improvement isn't 4.6 being smarter, it's 4.6 KNOWING something 4.5 didn't because the skill file taught it."</a:t>
            </a:r>
          </a:p>
          <a:p/>
          <a:p>
            <a:r>
              <a:t>OPUS 4.7 [point at the asterisk]:</a:t>
            </a:r>
          </a:p>
          <a:p>
            <a:r>
              <a:t>"Asterisk. This number is preliminary. Internal kubeauto reruns suggest 4.7 can do this in about twenty minutes. I have NOT yet validated that at workshop scale or with the full pytest suite. Don't treat it as benchmark data. But the trend line is what matters."</a:t>
            </a:r>
          </a:p>
          <a:p/>
          <a:p>
            <a:r>
              <a:t>[Pause. Read the takeaway slowly.]</a:t>
            </a:r>
          </a:p>
          <a:p/>
          <a:p>
            <a:r>
              <a:t>"The methodology is stable. The agent isn't."</a:t>
            </a:r>
          </a:p>
          <a:p/>
          <a:p>
            <a:r>
              <a:t>"What you build today with this methodology — the spec, the skills, the gates — compounds. You're not investing in a 4.7-shaped workshop. You're investing in something that will be twice as fast against 4.8 and probably uselessly fast against 5.0. The spec is the durable artifact. The agent is the consumable."</a:t>
            </a:r>
          </a:p>
          <a:p/>
          <a:p>
            <a:r>
              <a:t>"Most teams optimize for the model they have today. You should be optimizing for the next three."</a:t>
            </a:r>
          </a:p>
          <a:p/>
          <a:p>
            <a:r>
              <a:t>[If you have remaining time: open the kubeauto-ai-day repo and show the actual scorecard from the 4.5 overnight run. Or just take Q&amp;A from here.]</a:t>
            </a:r>
          </a:p>
          <a:p/>
          <a:p>
            <a:r>
              <a:t>[Final slide. Or transition back to Q&amp;A on Thank You.]</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H  |  4-5 minutes  |  The asymmetry findings]</a:t>
            </a:r>
          </a:p>
          <a:p/>
          <a:p>
            <a:r>
              <a:t>"Kubeauto-ai-day was the overnight run that produced the baseline this workshop is benchmarked against. Same 7 phases, same 27 components, same scorecard methodology — just without time pressure and without sixty people watching."</a:t>
            </a:r>
          </a:p>
          <a:p/>
          <a:p>
            <a:r>
              <a:t>"The headline number is 7.7 Install, 7.1 Integration, 6.7 Usability — averages across all 7 phases."</a:t>
            </a:r>
          </a:p>
          <a:p/>
          <a:p>
            <a:r>
              <a:t>"But the headline number isn't the interesting part. The PATTERN underneath is."</a:t>
            </a:r>
          </a:p>
          <a:p/>
          <a:p>
            <a:r>
              <a:t>INSTALL — [score range 7-9]</a:t>
            </a:r>
          </a:p>
          <a:p>
            <a:r>
              <a:t>"AI is GREAT at Install. Templating Helm values. Naming resources. Generating manifests. Setting up Service accounts, RoleBindings, ConfigMaps. The pattern-matching task that 'install this thing into Kubernetes' really is — LLMs are trained on millions of examples of it."</a:t>
            </a:r>
          </a:p>
          <a:p/>
          <a:p>
            <a:r>
              <a:t>"First-try success is the norm here. The variance is small. Almost every component in the kubeauto build scored 7 or above on Install."</a:t>
            </a:r>
          </a:p>
          <a:p/>
          <a:p>
            <a:r>
              <a:t>INTEGRATION — [score range 5-7]</a:t>
            </a:r>
          </a:p>
          <a:p>
            <a:r>
              <a:t>"AI is MIDDLING at Integration. This is where the cracks show. Webhook namespace selectors that don't actually catch the namespaces you want. ServiceMonitor label selectors that don't match what Prometheus scrapes. Sync wave coupling that races against itself. The components INSTALL fine, but they don't WORK IN CONCERT."</a:t>
            </a:r>
          </a:p>
          <a:p/>
          <a:p>
            <a:r>
              <a:t>"This is the dimension where Phase 3 (Security) loses a point or two on the kubeauto card. Kyverno is installed. The policies are installed. But did Kyverno actually REJECT a non-compliant pod? Did Falco fire on a real syscall? Those are the integration questions, and they're where AI tends to miss subtle wiring."</a:t>
            </a:r>
          </a:p>
          <a:p/>
          <a:p>
            <a:r>
              <a:t>USABILITY — [score range 4-6]</a:t>
            </a:r>
          </a:p>
          <a:p>
            <a:r>
              <a:t>"AI is WEAK at Usability. The canonical example is Backstage. The Helm chart installs. The pod is Running. The web UI loads. The catalog is empty. The templates are stubs. The Kubernetes plugin is configured but no clusters are wired up. Works as installed. Useless as delivered to a developer."</a:t>
            </a:r>
          </a:p>
          <a:p/>
          <a:p>
            <a:r>
              <a:t>"This is where humans add value AI doesn't. Filling a Backstage catalog, defining templates that match how your actual team works, picking defaults that don't fight your workflow — those require thinking about humans, which AI doesn't reliably do."</a:t>
            </a:r>
          </a:p>
          <a:p/>
          <a:p>
            <a:r>
              <a:t>THE HEURISTIC:</a:t>
            </a:r>
          </a:p>
          <a:p>
            <a:r>
              <a:t>"This is the takeaway you can use Monday morning."</a:t>
            </a:r>
          </a:p>
          <a:p/>
          <a:p>
            <a:r>
              <a:t>"Where AI is great — Install — invest in skill files. Compounding ROI: the skill file you write once helps every future build. AI's strength gets stronger with that investment."</a:t>
            </a:r>
          </a:p>
          <a:p/>
          <a:p>
            <a:r>
              <a:t>"Where AI is middling — Integration — invest in pre-commit hooks and deterministic gates. The hooks catch what AI's judgment misses. The gates assert behavior that AI can't reliably produce."</a:t>
            </a:r>
          </a:p>
          <a:p/>
          <a:p>
            <a:r>
              <a:t>"Where AI is weak — Usability — don't try to fix the model. Invest your team's judgment there. That's the work AI doesn't replace."</a:t>
            </a:r>
          </a:p>
          <a:p/>
          <a:p>
            <a:r>
              <a:t>"Match your investment to AI's shape. Don't fight the shape."</a:t>
            </a:r>
          </a:p>
          <a:p/>
          <a:p>
            <a:r>
              <a:t>[End of appendix. Take Q&amp;A from here, or transition back to Thank You.]</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I  |  4-5 minutes  |  The published data]</a:t>
            </a:r>
          </a:p>
          <a:p/>
          <a:p>
            <a:r>
              <a:t>This is the appendix to walk if anyone asks "where's the actual scorecard from kubeauto." Everything on this slide is sourced from the public kubeauto-ai-day repo — scorecard/raw-scores.json (27 components, full data) and spec/SCORECARD.md (the analysis).</a:t>
            </a:r>
          </a:p>
          <a:p/>
          <a:p>
            <a:r>
              <a:t>THE FOUR HEADLINE METRICS (top row):</a:t>
            </a:r>
          </a:p>
          <a:p/>
          <a:p>
            <a:r>
              <a:t>"3 hours 10 minutes of AI time. That's the total wall-clock for Claude to drive all 27 components from zero to verified-passing tests."</a:t>
            </a:r>
          </a:p>
          <a:p/>
          <a:p>
            <a:r>
              <a:t>"12 hours 5 minutes — that's the manual estimate I made before starting. What it would have taken me by hand."</a:t>
            </a:r>
          </a:p>
          <a:p/>
          <a:p>
            <a:r>
              <a:t>"73.8% net toil reduction. 725 minutes of manual work compressed into 190 minutes of agent work."</a:t>
            </a:r>
          </a:p>
          <a:p/>
          <a:p>
            <a:r>
              <a:t>"25 correction cycles total. Across 27 components. About 0.93 per component on average — eleven of those components had zero corrections, meaning Claude got them right first try."</a:t>
            </a:r>
          </a:p>
          <a:p/>
          <a:p>
            <a:r>
              <a:t>THE PER-COMPONENT TABLE (bottom left):</a:t>
            </a:r>
          </a:p>
          <a:p/>
          <a:p>
            <a:r>
              <a:t>"Seven of the twenty-seven components were also tracked on Install + Integration dimensions. Average Install score of 8.1. Average Integration of 8.5. Usability wasn't scored in the overnight build — that's what live workshops like this one add."</a:t>
            </a:r>
          </a:p>
          <a:p/>
          <a:p>
            <a:r>
              <a:t>"Notice the cycles column. Three correction cycles on Kyverno install — highlighted in orange. That was the worst single-component outcome. The rest? Zero to one corrections."</a:t>
            </a:r>
          </a:p>
          <a:p/>
          <a:p>
            <a:r>
              <a:t>"Notice also — Integration scores tracked very closely with Install scores. The kubeauto data does NOT support the 'AI is great at Install but middling at Integration' framing. In the overnight build, both dimensions scored high. The asymmetry we'll see today — if we see it — will be a workshop-conditions finding."</a:t>
            </a:r>
          </a:p>
          <a:p/>
          <a:p>
            <a:r>
              <a:t>WHERE CLAUDE STRUGGLED (bottom right):</a:t>
            </a:r>
          </a:p>
          <a:p/>
          <a:p>
            <a:r>
              <a:t>"Three components took three correction cycles each — the maximum corrections any component required. They have a pattern."</a:t>
            </a:r>
          </a:p>
          <a:p/>
          <a:p>
            <a:r>
              <a:t>"EKS Cluster — cloud provisioning churn. Terraform module v21.15 changed variable names from v21.14. AWS provider 6.x had dependency conflicts. The addon bootstrap is chicken-and-egg — you need the cluster up before you can install the addons that the cluster needs. None of that is fixable by skill files — it's the platform underneath being unstable."</a:t>
            </a:r>
          </a:p>
          <a:p/>
          <a:p>
            <a:r>
              <a:t>"Kyverno install — skill-file-fixable. Our skill file had the webhook config wrong: list when it should have been map for chart 3.7.0. After the build, that got fixed. If you ran kubeauto again today against the same chart version, this would be zero cycles."</a:t>
            </a:r>
          </a:p>
          <a:p/>
          <a:p>
            <a:r>
              <a:t>"OTel Collector — also skill-file-fixable. Breaking change in chart 0.145.0 requiring explicit image.repository. The k8s-flavored image lacks the prometheusremotewrite exporter that DaemonSet mode needs."</a:t>
            </a:r>
          </a:p>
          <a:p/>
          <a:p>
            <a:r>
              <a:t>THE BOTTOM LINE:</a:t>
            </a:r>
          </a:p>
          <a:p/>
          <a:p>
            <a:r>
              <a:t>"Twenty-two of the twenty-seven components genuinely reduced toil — less total work than doing it by hand. Five partially shifted toil — reduced some but not all. Zero components fully shifted (took as much time to review the agent's work as to write it from scratch). Zero components where starting from scratch would have been faster."</a:t>
            </a:r>
          </a:p>
          <a:p/>
          <a:p>
            <a:r>
              <a:t>"That last number is the one I care about most. Zero. Not one of the twenty-seven components was a net loss. THAT is the honest data point."</a:t>
            </a:r>
          </a:p>
          <a:p/>
          <a:p>
            <a:r>
              <a:t>[End of appendix. Or take Q&amp;A from here. Or transition to the Acceleration slide if you haven't already shown it.]</a:t>
            </a:r>
          </a:p>
          <a:p/>
          <a:p>
            <a:r>
              <a:t>[PUNCHLINE TO DELIVER VERBALLY — don't read off the slide, the slide doesn't show it:]</a:t>
            </a:r>
          </a:p>
          <a:p>
            <a:r>
              <a:t>"22 of the 27 components genuinely reduced toil. 5 partially shifted. 0 fully shifted. 0 components where starting from scratch would have been faster. That last zero is the data point I care about most."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12.png"/><Relationship Id="rId4" Type="http://schemas.openxmlformats.org/officeDocument/2006/relationships/notesSlide" Target="../notesSlides/notesSlide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6.jpg"/><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TextBox 80"/>
          <p:cNvSpPr txBox="1"/>
          <p:nvPr/>
        </p:nvSpPr>
        <p:spPr>
          <a:xfrm>
            <a:off x="548640" y="292608"/>
            <a:ext cx="8046720" cy="292608"/>
          </a:xfrm>
          <a:prstGeom prst="rect">
            <a:avLst/>
          </a:prstGeom>
          <a:noFill/>
        </p:spPr>
        <p:txBody>
          <a:bodyPr wrap="square" anchor="t" lIns="50800" rIns="50800" tIns="25400" bIns="25400">
            <a:spAutoFit/>
          </a:bodyPr>
          <a:lstStyle/>
          <a:p>
            <a:pPr algn="l"/>
            <a:r>
              <a:rPr sz="1100" b="1" i="0">
                <a:solidFill>
                  <a:srgbClr val="FF6B35"/>
                </a:solidFill>
              </a:rPr>
              <a:t>BEFORE WE START</a:t>
            </a:r>
          </a:p>
        </p:txBody>
      </p:sp>
      <p:sp>
        <p:nvSpPr>
          <p:cNvPr id="82" name="TextBox 81"/>
          <p:cNvSpPr txBox="1"/>
          <p:nvPr/>
        </p:nvSpPr>
        <p:spPr>
          <a:xfrm>
            <a:off x="548640" y="594360"/>
            <a:ext cx="8046720" cy="502920"/>
          </a:xfrm>
          <a:prstGeom prst="rect">
            <a:avLst/>
          </a:prstGeom>
          <a:noFill/>
        </p:spPr>
        <p:txBody>
          <a:bodyPr wrap="square" anchor="t" lIns="50800" rIns="50800" tIns="25400" bIns="25400">
            <a:spAutoFit/>
          </a:bodyPr>
          <a:lstStyle/>
          <a:p>
            <a:pPr algn="l"/>
            <a:r>
              <a:rPr sz="2400" b="1" i="0">
                <a:solidFill>
                  <a:srgbClr val="1E2761"/>
                </a:solidFill>
              </a:rPr>
              <a:t>Pick Your Path</a:t>
            </a:r>
          </a:p>
        </p:txBody>
      </p:sp>
      <p:sp>
        <p:nvSpPr>
          <p:cNvPr id="83" name="TextBox 82"/>
          <p:cNvSpPr txBox="1"/>
          <p:nvPr/>
        </p:nvSpPr>
        <p:spPr>
          <a:xfrm>
            <a:off x="548640" y="1097280"/>
            <a:ext cx="8046720" cy="292608"/>
          </a:xfrm>
          <a:prstGeom prst="rect">
            <a:avLst/>
          </a:prstGeom>
          <a:noFill/>
        </p:spPr>
        <p:txBody>
          <a:bodyPr wrap="square" anchor="t" lIns="50800" rIns="50800" tIns="25400" bIns="25400">
            <a:spAutoFit/>
          </a:bodyPr>
          <a:lstStyle/>
          <a:p>
            <a:pPr algn="l"/>
            <a:r>
              <a:rPr sz="1200" b="0" i="1">
                <a:solidFill>
                  <a:srgbClr val="4A4A4A"/>
                </a:solidFill>
              </a:rPr>
              <a:t>Both paths start at the same QR — scan, then pick on the next page.</a:t>
            </a:r>
          </a:p>
        </p:txBody>
      </p:sp>
      <p:sp>
        <p:nvSpPr>
          <p:cNvPr id="84" name="Rectangle 83"/>
          <p:cNvSpPr/>
          <p:nvPr/>
        </p:nvSpPr>
        <p:spPr>
          <a:xfrm>
            <a:off x="548640" y="1600200"/>
            <a:ext cx="4754880" cy="1508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31520" y="1737360"/>
            <a:ext cx="2194560" cy="27432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 y="1737360"/>
            <a:ext cx="2194560" cy="274320"/>
          </a:xfrm>
          <a:prstGeom prst="rect">
            <a:avLst/>
          </a:prstGeom>
          <a:noFill/>
        </p:spPr>
        <p:txBody>
          <a:bodyPr wrap="square" anchor="ctr" lIns="50800" rIns="50800" tIns="25400" bIns="25400">
            <a:spAutoFit/>
          </a:bodyPr>
          <a:lstStyle/>
          <a:p>
            <a:pPr algn="ctr"/>
            <a:r>
              <a:rPr sz="800" b="1" i="0">
                <a:solidFill>
                  <a:srgbClr val="FFFFFF"/>
                </a:solidFill>
              </a:rPr>
              <a:t>RECOMMENDED — PRIMARY</a:t>
            </a:r>
          </a:p>
        </p:txBody>
      </p:sp>
      <p:sp>
        <p:nvSpPr>
          <p:cNvPr id="87" name="TextBox 86"/>
          <p:cNvSpPr txBox="1"/>
          <p:nvPr/>
        </p:nvSpPr>
        <p:spPr>
          <a:xfrm>
            <a:off x="731520" y="2057400"/>
            <a:ext cx="4389120" cy="365760"/>
          </a:xfrm>
          <a:prstGeom prst="rect">
            <a:avLst/>
          </a:prstGeom>
          <a:noFill/>
        </p:spPr>
        <p:txBody>
          <a:bodyPr wrap="square" anchor="t" lIns="50800" rIns="50800" tIns="25400" bIns="25400">
            <a:spAutoFit/>
          </a:bodyPr>
          <a:lstStyle/>
          <a:p>
            <a:pPr algn="l"/>
            <a:r>
              <a:rPr sz="1600" b="1" i="0">
                <a:solidFill>
                  <a:srgbClr val="FFFFFF"/>
                </a:solidFill>
              </a:rPr>
              <a:t>Browser path (KodeKloud)</a:t>
            </a:r>
          </a:p>
        </p:txBody>
      </p:sp>
      <p:sp>
        <p:nvSpPr>
          <p:cNvPr id="88" name="TextBox 87"/>
          <p:cNvSpPr txBox="1"/>
          <p:nvPr/>
        </p:nvSpPr>
        <p:spPr>
          <a:xfrm>
            <a:off x="731520" y="2468880"/>
            <a:ext cx="4389120" cy="594360"/>
          </a:xfrm>
          <a:prstGeom prst="rect">
            <a:avLst/>
          </a:prstGeom>
          <a:noFill/>
        </p:spPr>
        <p:txBody>
          <a:bodyPr wrap="square" anchor="t" lIns="50800" rIns="50800" tIns="25400" bIns="25400">
            <a:spAutoFit/>
          </a:bodyPr>
          <a:lstStyle/>
          <a:p>
            <a:pPr algn="l"/>
            <a:r>
              <a:rPr sz="1000" b="0" i="0">
                <a:solidFill>
                  <a:srgbClr val="CADCFC"/>
                </a:solidFill>
              </a:rPr>
              <a:t>No local installs. Cluster + terminal in your browser. Recommended for most attendees.</a:t>
            </a:r>
          </a:p>
        </p:txBody>
      </p:sp>
      <p:sp>
        <p:nvSpPr>
          <p:cNvPr id="89" name="Rectangle 88"/>
          <p:cNvSpPr/>
          <p:nvPr/>
        </p:nvSpPr>
        <p:spPr>
          <a:xfrm>
            <a:off x="548640" y="3200400"/>
            <a:ext cx="4754880" cy="150876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31520" y="3337560"/>
            <a:ext cx="173736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31520" y="3337560"/>
            <a:ext cx="1737360" cy="274320"/>
          </a:xfrm>
          <a:prstGeom prst="rect">
            <a:avLst/>
          </a:prstGeom>
          <a:noFill/>
        </p:spPr>
        <p:txBody>
          <a:bodyPr wrap="square" anchor="ctr" lIns="50800" rIns="50800" tIns="25400" bIns="25400">
            <a:spAutoFit/>
          </a:bodyPr>
          <a:lstStyle/>
          <a:p>
            <a:pPr algn="ctr"/>
            <a:r>
              <a:rPr sz="800" b="1" i="0">
                <a:solidFill>
                  <a:srgbClr val="FF6B35"/>
                </a:solidFill>
              </a:rPr>
              <a:t>LIMITED — 60 SEATS</a:t>
            </a:r>
          </a:p>
        </p:txBody>
      </p:sp>
      <p:sp>
        <p:nvSpPr>
          <p:cNvPr id="92" name="TextBox 91"/>
          <p:cNvSpPr txBox="1"/>
          <p:nvPr/>
        </p:nvSpPr>
        <p:spPr>
          <a:xfrm>
            <a:off x="731520" y="3657600"/>
            <a:ext cx="4389120" cy="365760"/>
          </a:xfrm>
          <a:prstGeom prst="rect">
            <a:avLst/>
          </a:prstGeom>
          <a:noFill/>
        </p:spPr>
        <p:txBody>
          <a:bodyPr wrap="square" anchor="t" lIns="50800" rIns="50800" tIns="25400" bIns="25400">
            <a:spAutoFit/>
          </a:bodyPr>
          <a:lstStyle/>
          <a:p>
            <a:pPr algn="l"/>
            <a:r>
              <a:rPr sz="1600" b="1" i="0">
                <a:solidFill>
                  <a:srgbClr val="FFFFFF"/>
                </a:solidFill>
              </a:rPr>
              <a:t>Terminal path (Accenture EKS)</a:t>
            </a:r>
          </a:p>
        </p:txBody>
      </p:sp>
      <p:sp>
        <p:nvSpPr>
          <p:cNvPr id="93" name="TextBox 92"/>
          <p:cNvSpPr txBox="1"/>
          <p:nvPr/>
        </p:nvSpPr>
        <p:spPr>
          <a:xfrm>
            <a:off x="731520" y="4069080"/>
            <a:ext cx="4389120" cy="594360"/>
          </a:xfrm>
          <a:prstGeom prst="rect">
            <a:avLst/>
          </a:prstGeom>
          <a:noFill/>
        </p:spPr>
        <p:txBody>
          <a:bodyPr wrap="square" anchor="t" lIns="50800" rIns="50800" tIns="25400" bIns="25400">
            <a:spAutoFit/>
          </a:bodyPr>
          <a:lstStyle/>
          <a:p>
            <a:pPr algn="l"/>
            <a:r>
              <a:rPr sz="1000" b="0" i="0">
                <a:solidFill>
                  <a:srgbClr val="FFFFFF"/>
                </a:solidFill>
              </a:rPr>
              <a:t>Real EKS cluster. Requires Claude Code + AWS CLI + kubectl + git installed locally.</a:t>
            </a:r>
          </a:p>
        </p:txBody>
      </p:sp>
      <p:sp>
        <p:nvSpPr>
          <p:cNvPr id="94" name="TextBox 93"/>
          <p:cNvSpPr txBox="1"/>
          <p:nvPr/>
        </p:nvSpPr>
        <p:spPr>
          <a:xfrm>
            <a:off x="5577840" y="1691640"/>
            <a:ext cx="3017520" cy="292608"/>
          </a:xfrm>
          <a:prstGeom prst="rect">
            <a:avLst/>
          </a:prstGeom>
          <a:noFill/>
        </p:spPr>
        <p:txBody>
          <a:bodyPr wrap="square" anchor="t" lIns="50800" rIns="50800" tIns="25400" bIns="25400">
            <a:spAutoFit/>
          </a:bodyPr>
          <a:lstStyle/>
          <a:p>
            <a:pPr algn="ctr"/>
            <a:r>
              <a:rPr sz="1200" b="1" i="0">
                <a:solidFill>
                  <a:srgbClr val="1E2761"/>
                </a:solidFill>
              </a:rPr>
              <a:t>Scan to begin</a:t>
            </a:r>
          </a:p>
        </p:txBody>
      </p:sp>
      <p:pic>
        <p:nvPicPr>
          <p:cNvPr id="95" name="Picture 94" descr="image.png"/>
          <p:cNvPicPr>
            <a:picLocks noChangeAspect="1"/>
          </p:cNvPicPr>
          <p:nvPr/>
        </p:nvPicPr>
        <p:blipFill>
          <a:blip r:embed="rId4"/>
          <a:stretch>
            <a:fillRect/>
          </a:stretch>
        </p:blipFill>
        <p:spPr>
          <a:xfrm>
            <a:off x="5897880" y="2057400"/>
            <a:ext cx="2377440" cy="2377440"/>
          </a:xfrm>
          <a:prstGeom prst="rect">
            <a:avLst/>
          </a:prstGeom>
        </p:spPr>
      </p:pic>
      <p:sp>
        <p:nvSpPr>
          <p:cNvPr id="96" name="TextBox 95"/>
          <p:cNvSpPr txBox="1"/>
          <p:nvPr/>
        </p:nvSpPr>
        <p:spPr>
          <a:xfrm>
            <a:off x="5577840" y="4526280"/>
            <a:ext cx="3017520" cy="292608"/>
          </a:xfrm>
          <a:prstGeom prst="rect">
            <a:avLst/>
          </a:prstGeom>
          <a:noFill/>
        </p:spPr>
        <p:txBody>
          <a:bodyPr wrap="square" anchor="t" lIns="50800" rIns="50800" tIns="25400" bIns="25400">
            <a:spAutoFit/>
          </a:bodyPr>
          <a:lstStyle/>
          <a:p>
            <a:pPr algn="ctr"/>
            <a:r>
              <a:rPr sz="900" b="1" i="0">
                <a:solidFill>
                  <a:srgbClr val="FF6B35"/>
                </a:solidFill>
              </a:rPr>
              <a:t>bubbly-harmony-production-574d</a:t>
            </a:r>
          </a:p>
        </p:txBody>
      </p:sp>
      <p:sp>
        <p:nvSpPr>
          <p:cNvPr id="97" name="TextBox 96"/>
          <p:cNvSpPr txBox="1"/>
          <p:nvPr/>
        </p:nvSpPr>
        <p:spPr>
          <a:xfrm>
            <a:off x="5577840" y="4736592"/>
            <a:ext cx="3017520" cy="228600"/>
          </a:xfrm>
          <a:prstGeom prst="rect">
            <a:avLst/>
          </a:prstGeom>
          <a:noFill/>
        </p:spPr>
        <p:txBody>
          <a:bodyPr wrap="square" anchor="t" lIns="50800" rIns="50800" tIns="25400" bIns="25400">
            <a:spAutoFit/>
          </a:bodyPr>
          <a:lstStyle/>
          <a:p>
            <a:pPr algn="ctr"/>
            <a:r>
              <a:rPr sz="900" b="1" i="0">
                <a:solidFill>
                  <a:srgbClr val="FF6B35"/>
                </a:solidFill>
              </a:rPr>
              <a:t>.up.railway.app</a:t>
            </a:r>
          </a:p>
        </p:txBody>
      </p:sp>
      <p:sp>
        <p:nvSpPr>
          <p:cNvPr id="98" name="TextBox 97"/>
          <p:cNvSpPr txBox="1"/>
          <p:nvPr/>
        </p:nvSpPr>
        <p:spPr>
          <a:xfrm>
            <a:off x="548640" y="4983480"/>
            <a:ext cx="8046720" cy="274320"/>
          </a:xfrm>
          <a:prstGeom prst="rect">
            <a:avLst/>
          </a:prstGeom>
          <a:noFill/>
        </p:spPr>
        <p:txBody>
          <a:bodyPr wrap="square" anchor="t" lIns="50800" rIns="50800" tIns="25400" bIns="25400">
            <a:spAutoFit/>
          </a:bodyPr>
          <a:lstStyle/>
          <a:p>
            <a:pPr algn="ctr"/>
            <a:r>
              <a:rPr sz="1000" b="0" i="1">
                <a:solidFill>
                  <a:srgbClr val="888888"/>
                </a:solidFill>
              </a:rPr>
              <a:t>Same workshop, same methodology, same scorecard. Pick whichever path matches your setup.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6" name="Google Shape;56;p1" title="Group 44119.png"/>
          <p:cNvPicPr preferRelativeResize="0"/>
          <p:nvPr/>
        </p:nvPicPr>
        <p:blipFill rotWithShape="1">
          <a:blip r:embed="rId4">
            <a:alphaModFix/>
          </a:blip>
          <a:srcRect b="0" l="0" r="0" t="0"/>
          <a:stretch/>
        </p:blipFill>
        <p:spPr>
          <a:xfrm>
            <a:off x="7009151" y="4245825"/>
            <a:ext cx="1749325" cy="664375"/>
          </a:xfrm>
          <a:prstGeom prst="rect">
            <a:avLst/>
          </a:prstGeom>
          <a:noFill/>
          <a:ln>
            <a:noFill/>
          </a:ln>
        </p:spPr>
      </p:pic>
      <p:sp>
        <p:nvSpPr>
          <p:cNvPr id="57" name="TextBox 56"/>
          <p:cNvSpPr txBox="1"/>
          <p:nvPr/>
        </p:nvSpPr>
        <p:spPr>
          <a:xfrm>
            <a:off x="457200" y="914400"/>
            <a:ext cx="8229600" cy="1280160"/>
          </a:xfrm>
          <a:prstGeom prst="rect">
            <a:avLst/>
          </a:prstGeom>
          <a:noFill/>
        </p:spPr>
        <p:txBody>
          <a:bodyPr wrap="square" anchor="t" lIns="50800" rIns="50800" tIns="25400" bIns="25400">
            <a:spAutoFit/>
          </a:bodyPr>
          <a:lstStyle/>
          <a:p>
            <a:pPr algn="l"/>
            <a:r>
              <a:rPr sz="5200" b="1" i="0">
                <a:solidFill>
                  <a:srgbClr val="FFFFFF"/>
                </a:solidFill>
              </a:rPr>
              <a:t>The 90-Minute IDP</a:t>
            </a:r>
          </a:p>
        </p:txBody>
      </p:sp>
      <p:sp>
        <p:nvSpPr>
          <p:cNvPr id="58" name="TextBox 57"/>
          <p:cNvSpPr txBox="1"/>
          <p:nvPr/>
        </p:nvSpPr>
        <p:spPr>
          <a:xfrm>
            <a:off x="457200" y="2148840"/>
            <a:ext cx="8229600" cy="914400"/>
          </a:xfrm>
          <a:prstGeom prst="rect">
            <a:avLst/>
          </a:prstGeom>
          <a:noFill/>
        </p:spPr>
        <p:txBody>
          <a:bodyPr wrap="square" anchor="t" lIns="50800" rIns="50800" tIns="25400" bIns="25400">
            <a:spAutoFit/>
          </a:bodyPr>
          <a:lstStyle/>
          <a:p>
            <a:pPr algn="l"/>
            <a:r>
              <a:rPr sz="1800" b="0" i="1">
                <a:solidFill>
                  <a:srgbClr val="CADCFC"/>
                </a:solidFill>
              </a:rPr>
              <a:t>AI Ate My Implementation. Let’s Build a Platform Together and Score What’s Left.</a:t>
            </a:r>
          </a:p>
        </p:txBody>
      </p:sp>
      <p:sp>
        <p:nvSpPr>
          <p:cNvPr id="59" name="TextBox 58"/>
          <p:cNvSpPr txBox="1"/>
          <p:nvPr/>
        </p:nvSpPr>
        <p:spPr>
          <a:xfrm>
            <a:off x="457200" y="3383280"/>
            <a:ext cx="5943600" cy="822960"/>
          </a:xfrm>
          <a:prstGeom prst="rect">
            <a:avLst/>
          </a:prstGeom>
          <a:noFill/>
        </p:spPr>
        <p:txBody>
          <a:bodyPr wrap="square" anchor="t" lIns="50800" rIns="50800" tIns="25400" bIns="25400">
            <a:spAutoFit/>
          </a:bodyPr>
          <a:lstStyle/>
          <a:p>
            <a:pPr algn="l"/>
            <a:r>
              <a:rPr sz="1600" b="1" i="0">
                <a:solidFill>
                  <a:srgbClr val="FFFFFF"/>
                </a:solidFill>
              </a:rPr>
              <a:t>Michael Forrester</a:t>
            </a:r>
          </a:p>
          <a:p>
            <a:pPr algn="l"/>
            <a:r>
              <a:rPr sz="1200" b="0" i="0">
                <a:solidFill>
                  <a:srgbClr val="CADCFC"/>
                </a:solidFill>
              </a:rPr>
              <a:t>Accenture  •  KCD Texas  •  May 15, 2026  •  Room 3</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TextBox 73"/>
          <p:cNvSpPr txBox="1"/>
          <p:nvPr/>
        </p:nvSpPr>
        <p:spPr>
          <a:xfrm>
            <a:off x="548640" y="292608"/>
            <a:ext cx="8046720" cy="274320"/>
          </a:xfrm>
          <a:prstGeom prst="rect">
            <a:avLst/>
          </a:prstGeom>
          <a:noFill/>
        </p:spPr>
        <p:txBody>
          <a:bodyPr wrap="square" anchor="t" lIns="50800" rIns="50800" tIns="25400" bIns="25400">
            <a:spAutoFit/>
          </a:bodyPr>
          <a:lstStyle/>
          <a:p>
            <a:pPr algn="l"/>
            <a:r>
              <a:rPr sz="1100" b="1" i="0">
                <a:solidFill>
                  <a:srgbClr val="FF6B35"/>
                </a:solidFill>
              </a:rPr>
              <a:t>BEFORE WE GO LIVE</a:t>
            </a:r>
          </a:p>
        </p:txBody>
      </p:sp>
      <p:sp>
        <p:nvSpPr>
          <p:cNvPr id="75" name="TextBox 74"/>
          <p:cNvSpPr txBox="1"/>
          <p:nvPr/>
        </p:nvSpPr>
        <p:spPr>
          <a:xfrm>
            <a:off x="548640" y="566928"/>
            <a:ext cx="8046720" cy="502920"/>
          </a:xfrm>
          <a:prstGeom prst="rect">
            <a:avLst/>
          </a:prstGeom>
          <a:noFill/>
        </p:spPr>
        <p:txBody>
          <a:bodyPr wrap="square" anchor="t" lIns="50800" rIns="50800" tIns="25400" bIns="25400">
            <a:spAutoFit/>
          </a:bodyPr>
          <a:lstStyle/>
          <a:p>
            <a:pPr algn="l"/>
            <a:r>
              <a:rPr sz="2400" b="1" i="0">
                <a:solidFill>
                  <a:srgbClr val="1E2761"/>
                </a:solidFill>
              </a:rPr>
              <a:t>Three Ways Teams Use AI</a:t>
            </a:r>
          </a:p>
        </p:txBody>
      </p:sp>
      <p:sp>
        <p:nvSpPr>
          <p:cNvPr id="76" name="TextBox 75"/>
          <p:cNvSpPr txBox="1"/>
          <p:nvPr/>
        </p:nvSpPr>
        <p:spPr>
          <a:xfrm>
            <a:off x="548640" y="1078992"/>
            <a:ext cx="8046720" cy="292608"/>
          </a:xfrm>
          <a:prstGeom prst="rect">
            <a:avLst/>
          </a:prstGeom>
          <a:noFill/>
        </p:spPr>
        <p:txBody>
          <a:bodyPr wrap="square" anchor="t" lIns="50800" rIns="50800" tIns="25400" bIns="25400">
            <a:spAutoFit/>
          </a:bodyPr>
          <a:lstStyle/>
          <a:p>
            <a:pPr algn="l"/>
            <a:r>
              <a:rPr sz="1200" b="0" i="1">
                <a:solidFill>
                  <a:srgbClr val="4A4A4A"/>
                </a:solidFill>
              </a:rPr>
              <a:t>This talk is about one of them. The one where the agent touches production.</a:t>
            </a:r>
          </a:p>
        </p:txBody>
      </p:sp>
      <p:sp>
        <p:nvSpPr>
          <p:cNvPr id="77" name="Rectangle 76"/>
          <p:cNvSpPr/>
          <p:nvPr/>
        </p:nvSpPr>
        <p:spPr>
          <a:xfrm>
            <a:off x="548640" y="1554480"/>
            <a:ext cx="8046720" cy="777240"/>
          </a:xfrm>
          <a:prstGeom prst="rect">
            <a:avLst/>
          </a:prstGeom>
          <a:noFill/>
          <a:ln w="254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0080" y="1627632"/>
            <a:ext cx="64008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080" y="1627632"/>
            <a:ext cx="640080" cy="640080"/>
          </a:xfrm>
          <a:prstGeom prst="rect">
            <a:avLst/>
          </a:prstGeom>
          <a:noFill/>
        </p:spPr>
        <p:txBody>
          <a:bodyPr wrap="square" anchor="ctr" lIns="50800" rIns="50800" tIns="25400" bIns="25400">
            <a:spAutoFit/>
          </a:bodyPr>
          <a:lstStyle/>
          <a:p>
            <a:pPr algn="ctr"/>
            <a:r>
              <a:rPr sz="2600" b="1" i="0">
                <a:solidFill>
                  <a:srgbClr val="1E2761"/>
                </a:solidFill>
              </a:rPr>
              <a:t>1</a:t>
            </a:r>
          </a:p>
        </p:txBody>
      </p:sp>
      <p:sp>
        <p:nvSpPr>
          <p:cNvPr id="80" name="TextBox 79"/>
          <p:cNvSpPr txBox="1"/>
          <p:nvPr/>
        </p:nvSpPr>
        <p:spPr>
          <a:xfrm>
            <a:off x="1417320" y="1627632"/>
            <a:ext cx="7132320" cy="292608"/>
          </a:xfrm>
          <a:prstGeom prst="rect">
            <a:avLst/>
          </a:prstGeom>
          <a:noFill/>
        </p:spPr>
        <p:txBody>
          <a:bodyPr wrap="square" anchor="t" lIns="50800" rIns="50800" tIns="25400" bIns="25400">
            <a:spAutoFit/>
          </a:bodyPr>
          <a:lstStyle/>
          <a:p>
            <a:pPr algn="l"/>
            <a:r>
              <a:rPr sz="1500" b="1" i="0">
                <a:solidFill>
                  <a:srgbClr val="1E2761"/>
                </a:solidFill>
              </a:rPr>
              <a:t>Inject AI into workflows</a:t>
            </a:r>
          </a:p>
        </p:txBody>
      </p:sp>
      <p:sp>
        <p:nvSpPr>
          <p:cNvPr id="81" name="TextBox 80"/>
          <p:cNvSpPr txBox="1"/>
          <p:nvPr/>
        </p:nvSpPr>
        <p:spPr>
          <a:xfrm>
            <a:off x="1417320" y="1938528"/>
            <a:ext cx="7132320" cy="292608"/>
          </a:xfrm>
          <a:prstGeom prst="rect">
            <a:avLst/>
          </a:prstGeom>
          <a:noFill/>
        </p:spPr>
        <p:txBody>
          <a:bodyPr wrap="square" anchor="t" lIns="50800" rIns="50800" tIns="25400" bIns="25400">
            <a:spAutoFit/>
          </a:bodyPr>
          <a:lstStyle/>
          <a:p>
            <a:pPr algn="l"/>
            <a:r>
              <a:rPr sz="1000" b="0" i="1">
                <a:solidFill>
                  <a:srgbClr val="4A4A4A"/>
                </a:solidFill>
              </a:rPr>
              <a:t>Coding agents, artifact generation, internal automation. Bounded blast radius.</a:t>
            </a:r>
          </a:p>
        </p:txBody>
      </p:sp>
      <p:sp>
        <p:nvSpPr>
          <p:cNvPr id="82" name="Rectangle 81"/>
          <p:cNvSpPr/>
          <p:nvPr/>
        </p:nvSpPr>
        <p:spPr>
          <a:xfrm>
            <a:off x="548640" y="2423160"/>
            <a:ext cx="8046720" cy="777240"/>
          </a:xfrm>
          <a:prstGeom prst="rect">
            <a:avLst/>
          </a:prstGeom>
          <a:noFill/>
          <a:ln w="254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0080" y="2496312"/>
            <a:ext cx="640080" cy="640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080" y="2496312"/>
            <a:ext cx="640080" cy="640080"/>
          </a:xfrm>
          <a:prstGeom prst="rect">
            <a:avLst/>
          </a:prstGeom>
          <a:noFill/>
        </p:spPr>
        <p:txBody>
          <a:bodyPr wrap="square" anchor="ctr" lIns="50800" rIns="50800" tIns="25400" bIns="25400">
            <a:spAutoFit/>
          </a:bodyPr>
          <a:lstStyle/>
          <a:p>
            <a:pPr algn="ctr"/>
            <a:r>
              <a:rPr sz="2600" b="1" i="0">
                <a:solidFill>
                  <a:srgbClr val="FFFFFF"/>
                </a:solidFill>
              </a:rPr>
              <a:t>2</a:t>
            </a:r>
          </a:p>
        </p:txBody>
      </p:sp>
      <p:sp>
        <p:nvSpPr>
          <p:cNvPr id="85" name="TextBox 84"/>
          <p:cNvSpPr txBox="1"/>
          <p:nvPr/>
        </p:nvSpPr>
        <p:spPr>
          <a:xfrm>
            <a:off x="1417320" y="2496312"/>
            <a:ext cx="7132320" cy="292608"/>
          </a:xfrm>
          <a:prstGeom prst="rect">
            <a:avLst/>
          </a:prstGeom>
          <a:noFill/>
        </p:spPr>
        <p:txBody>
          <a:bodyPr wrap="square" anchor="t" lIns="50800" rIns="50800" tIns="25400" bIns="25400">
            <a:spAutoFit/>
          </a:bodyPr>
          <a:lstStyle/>
          <a:p>
            <a:pPr algn="l"/>
            <a:r>
              <a:rPr sz="1500" b="1" i="0">
                <a:solidFill>
                  <a:srgbClr val="1E2761"/>
                </a:solidFill>
              </a:rPr>
              <a:t>Inject AI into an application</a:t>
            </a:r>
          </a:p>
        </p:txBody>
      </p:sp>
      <p:sp>
        <p:nvSpPr>
          <p:cNvPr id="86" name="TextBox 85"/>
          <p:cNvSpPr txBox="1"/>
          <p:nvPr/>
        </p:nvSpPr>
        <p:spPr>
          <a:xfrm>
            <a:off x="1417320" y="2807208"/>
            <a:ext cx="7132320" cy="292608"/>
          </a:xfrm>
          <a:prstGeom prst="rect">
            <a:avLst/>
          </a:prstGeom>
          <a:noFill/>
        </p:spPr>
        <p:txBody>
          <a:bodyPr wrap="square" anchor="t" lIns="50800" rIns="50800" tIns="25400" bIns="25400">
            <a:spAutoFit/>
          </a:bodyPr>
          <a:lstStyle/>
          <a:p>
            <a:pPr algn="l"/>
            <a:r>
              <a:rPr sz="1000" b="0" i="1">
                <a:solidFill>
                  <a:srgbClr val="4A4A4A"/>
                </a:solidFill>
              </a:rPr>
              <a:t>Chatbots, search, in-product features. Output is the surface.</a:t>
            </a:r>
          </a:p>
        </p:txBody>
      </p:sp>
      <p:sp>
        <p:nvSpPr>
          <p:cNvPr id="87" name="Rectangle 86"/>
          <p:cNvSpPr/>
          <p:nvPr/>
        </p:nvSpPr>
        <p:spPr>
          <a:xfrm>
            <a:off x="548640" y="3291840"/>
            <a:ext cx="8046720" cy="77724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40080" y="3364992"/>
            <a:ext cx="6400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 y="3364992"/>
            <a:ext cx="640080" cy="640080"/>
          </a:xfrm>
          <a:prstGeom prst="rect">
            <a:avLst/>
          </a:prstGeom>
          <a:noFill/>
        </p:spPr>
        <p:txBody>
          <a:bodyPr wrap="square" anchor="ctr" lIns="50800" rIns="50800" tIns="25400" bIns="25400">
            <a:spAutoFit/>
          </a:bodyPr>
          <a:lstStyle/>
          <a:p>
            <a:pPr algn="ctr"/>
            <a:r>
              <a:rPr sz="2600" b="1" i="0">
                <a:solidFill>
                  <a:srgbClr val="FF6B35"/>
                </a:solidFill>
              </a:rPr>
              <a:t>3</a:t>
            </a:r>
          </a:p>
        </p:txBody>
      </p:sp>
      <p:sp>
        <p:nvSpPr>
          <p:cNvPr id="90" name="TextBox 89"/>
          <p:cNvSpPr txBox="1"/>
          <p:nvPr/>
        </p:nvSpPr>
        <p:spPr>
          <a:xfrm>
            <a:off x="1417320" y="3364992"/>
            <a:ext cx="5486400" cy="292608"/>
          </a:xfrm>
          <a:prstGeom prst="rect">
            <a:avLst/>
          </a:prstGeom>
          <a:noFill/>
        </p:spPr>
        <p:txBody>
          <a:bodyPr wrap="square" anchor="t" lIns="50800" rIns="50800" tIns="25400" bIns="25400">
            <a:spAutoFit/>
          </a:bodyPr>
          <a:lstStyle/>
          <a:p>
            <a:pPr algn="l"/>
            <a:r>
              <a:rPr sz="1500" b="1" i="0">
                <a:solidFill>
                  <a:srgbClr val="FFFFFF"/>
                </a:solidFill>
              </a:rPr>
              <a:t>AI for systems management</a:t>
            </a:r>
          </a:p>
        </p:txBody>
      </p:sp>
      <p:sp>
        <p:nvSpPr>
          <p:cNvPr id="91" name="TextBox 90"/>
          <p:cNvSpPr txBox="1"/>
          <p:nvPr/>
        </p:nvSpPr>
        <p:spPr>
          <a:xfrm>
            <a:off x="1417320" y="3675888"/>
            <a:ext cx="5486400" cy="292608"/>
          </a:xfrm>
          <a:prstGeom prst="rect">
            <a:avLst/>
          </a:prstGeom>
          <a:noFill/>
        </p:spPr>
        <p:txBody>
          <a:bodyPr wrap="square" anchor="t" lIns="50800" rIns="50800" tIns="25400" bIns="25400">
            <a:spAutoFit/>
          </a:bodyPr>
          <a:lstStyle/>
          <a:p>
            <a:pPr algn="l"/>
            <a:r>
              <a:rPr sz="1000" b="0" i="1">
                <a:solidFill>
                  <a:srgbClr val="FFFFFF"/>
                </a:solidFill>
              </a:rPr>
              <a:t>Kubernetes, infrastructure operations, cloud. The agent touches production.</a:t>
            </a:r>
          </a:p>
        </p:txBody>
      </p:sp>
      <p:sp>
        <p:nvSpPr>
          <p:cNvPr id="92" name="Rectangle 91"/>
          <p:cNvSpPr/>
          <p:nvPr/>
        </p:nvSpPr>
        <p:spPr>
          <a:xfrm>
            <a:off x="7040880" y="3538728"/>
            <a:ext cx="14173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40880" y="3538728"/>
            <a:ext cx="1417320" cy="292608"/>
          </a:xfrm>
          <a:prstGeom prst="rect">
            <a:avLst/>
          </a:prstGeom>
          <a:noFill/>
        </p:spPr>
        <p:txBody>
          <a:bodyPr wrap="square" anchor="ctr" lIns="50800" rIns="50800" tIns="25400" bIns="25400">
            <a:spAutoFit/>
          </a:bodyPr>
          <a:lstStyle/>
          <a:p>
            <a:pPr algn="ctr"/>
            <a:r>
              <a:rPr sz="1000" b="1" i="0">
                <a:solidFill>
                  <a:srgbClr val="FF6B35"/>
                </a:solidFill>
              </a:rPr>
              <a:t>◀  THIS TALK</a:t>
            </a:r>
          </a:p>
        </p:txBody>
      </p:sp>
      <p:sp>
        <p:nvSpPr>
          <p:cNvPr id="94" name="TextBox 93"/>
          <p:cNvSpPr txBox="1"/>
          <p:nvPr/>
        </p:nvSpPr>
        <p:spPr>
          <a:xfrm>
            <a:off x="548640" y="4297680"/>
            <a:ext cx="8046720" cy="365760"/>
          </a:xfrm>
          <a:prstGeom prst="rect">
            <a:avLst/>
          </a:prstGeom>
          <a:noFill/>
        </p:spPr>
        <p:txBody>
          <a:bodyPr wrap="square" anchor="ctr" lIns="50800" rIns="50800" tIns="25400" bIns="25400">
            <a:spAutoFit/>
          </a:bodyPr>
          <a:lstStyle/>
          <a:p>
            <a:pPr algn="ctr"/>
            <a:r>
              <a:rPr sz="1300" b="1" i="1">
                <a:solidFill>
                  <a:srgbClr val="FF6B35"/>
                </a:solidFill>
              </a:rPr>
              <a:t>When the agent touches production, the guardrails have to be deterministic.</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pic>
        <p:nvPicPr>
          <p:cNvPr id="63" name="Google Shape;63;p2"/>
          <p:cNvPicPr preferRelativeResize="0"/>
          <p:nvPr/>
        </p:nvPicPr>
        <p:blipFill rotWithShape="1">
          <a:blip r:embed="rId4">
            <a:alphaModFix/>
          </a:blip>
          <a:srcRect b="0" l="0" r="0" t="0"/>
          <a:stretch/>
        </p:blipFill>
        <p:spPr>
          <a:xfrm>
            <a:off x="7732966" y="4568866"/>
            <a:ext cx="1158975" cy="442225"/>
          </a:xfrm>
          <a:prstGeom prst="rect">
            <a:avLst/>
          </a:prstGeom>
          <a:noFill/>
          <a:ln>
            <a:noFill/>
          </a:ln>
        </p:spPr>
      </p:pic>
      <p:sp>
        <p:nvSpPr>
          <p:cNvPr id="64" name="TextBox 63"/>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THE HOOK</a:t>
            </a:r>
          </a:p>
        </p:txBody>
      </p:sp>
      <p:sp>
        <p:nvSpPr>
          <p:cNvPr id="65" name="TextBox 64"/>
          <p:cNvSpPr txBox="1"/>
          <p:nvPr/>
        </p:nvSpPr>
        <p:spPr>
          <a:xfrm>
            <a:off x="548640" y="868680"/>
            <a:ext cx="8046720" cy="1554480"/>
          </a:xfrm>
          <a:prstGeom prst="rect">
            <a:avLst/>
          </a:prstGeom>
          <a:noFill/>
        </p:spPr>
        <p:txBody>
          <a:bodyPr wrap="square" anchor="t" lIns="50800" rIns="50800" tIns="25400" bIns="25400">
            <a:spAutoFit/>
          </a:bodyPr>
          <a:lstStyle/>
          <a:p>
            <a:pPr algn="l"/>
            <a:r>
              <a:rPr sz="3400" b="1" i="0">
                <a:solidFill>
                  <a:srgbClr val="1E2761"/>
                </a:solidFill>
              </a:rPr>
              <a:t>I’ve already built this IDP end-to-end with Claude Code.</a:t>
            </a:r>
          </a:p>
        </p:txBody>
      </p:sp>
      <p:sp>
        <p:nvSpPr>
          <p:cNvPr id="66" name="TextBox 65"/>
          <p:cNvSpPr txBox="1"/>
          <p:nvPr/>
        </p:nvSpPr>
        <p:spPr>
          <a:xfrm>
            <a:off x="548640" y="2651760"/>
            <a:ext cx="8046720" cy="822960"/>
          </a:xfrm>
          <a:prstGeom prst="rect">
            <a:avLst/>
          </a:prstGeom>
          <a:noFill/>
        </p:spPr>
        <p:txBody>
          <a:bodyPr wrap="square" anchor="t" lIns="50800" rIns="50800" tIns="25400" bIns="25400">
            <a:spAutoFit/>
          </a:bodyPr>
          <a:lstStyle/>
          <a:p>
            <a:pPr algn="l"/>
            <a:r>
              <a:rPr sz="1600" b="0" i="0">
                <a:solidFill>
                  <a:srgbClr val="4A4A4A"/>
                </a:solidFill>
              </a:rPr>
              <a:t>ArgoCD, Kyverno, Falco, OpenTelemetry, Backstage — the whole stack.</a:t>
            </a:r>
          </a:p>
          <a:p>
            <a:pPr algn="l">
              <a:spcBef>
                <a:spcPts val="600"/>
              </a:spcBef>
            </a:pPr>
            <a:r>
              <a:rPr sz="1300" b="0" i="1">
                <a:solidFill>
                  <a:srgbClr val="4A4A4A"/>
                </a:solidFill>
              </a:rPr>
              <a:t>7 phases  •  27 components  •  ~10 hours overnight  •  Scored on Install / Integration / Usability</a:t>
            </a:r>
          </a:p>
        </p:txBody>
      </p:sp>
      <p:sp>
        <p:nvSpPr>
          <p:cNvPr id="67" name="TextBox 66"/>
          <p:cNvSpPr txBox="1"/>
          <p:nvPr/>
        </p:nvSpPr>
        <p:spPr>
          <a:xfrm>
            <a:off x="548640" y="3611880"/>
            <a:ext cx="8046720" cy="365760"/>
          </a:xfrm>
          <a:prstGeom prst="rect">
            <a:avLst/>
          </a:prstGeom>
          <a:noFill/>
        </p:spPr>
        <p:txBody>
          <a:bodyPr wrap="square" anchor="t" lIns="50800" rIns="50800" tIns="25400" bIns="25400">
            <a:spAutoFit/>
          </a:bodyPr>
          <a:lstStyle/>
          <a:p>
            <a:pPr algn="l"/>
            <a:r>
              <a:rPr sz="1200" b="1" i="0">
                <a:solidFill>
                  <a:srgbClr val="FF6B35"/>
                </a:solidFill>
              </a:rPr>
              <a:t>github.com/peopleforrester/kubeauto-ai-day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THE PIVOT</a:t>
            </a:r>
          </a:p>
        </p:txBody>
      </p:sp>
      <p:sp>
        <p:nvSpPr>
          <p:cNvPr id="69" name="TextBox 68"/>
          <p:cNvSpPr txBox="1"/>
          <p:nvPr/>
        </p:nvSpPr>
        <p:spPr>
          <a:xfrm>
            <a:off x="548640" y="914400"/>
            <a:ext cx="8046720" cy="1463040"/>
          </a:xfrm>
          <a:prstGeom prst="rect">
            <a:avLst/>
          </a:prstGeom>
          <a:noFill/>
        </p:spPr>
        <p:txBody>
          <a:bodyPr wrap="square" anchor="t" lIns="50800" rIns="50800" tIns="25400" bIns="25400">
            <a:spAutoFit/>
          </a:bodyPr>
          <a:lstStyle/>
          <a:p>
            <a:pPr algn="l"/>
            <a:r>
              <a:rPr sz="3800" b="1" i="0">
                <a:solidFill>
                  <a:srgbClr val="1E2761"/>
                </a:solidFill>
              </a:rPr>
              <a:t>Same build. Real time.</a:t>
            </a:r>
          </a:p>
        </p:txBody>
      </p:sp>
      <p:sp>
        <p:nvSpPr>
          <p:cNvPr id="70" name="TextBox 69"/>
          <p:cNvSpPr txBox="1"/>
          <p:nvPr/>
        </p:nvSpPr>
        <p:spPr>
          <a:xfrm>
            <a:off x="548640" y="2606040"/>
            <a:ext cx="8046720" cy="1645920"/>
          </a:xfrm>
          <a:prstGeom prst="rect">
            <a:avLst/>
          </a:prstGeom>
          <a:noFill/>
        </p:spPr>
        <p:txBody>
          <a:bodyPr wrap="square" anchor="t" lIns="50800" rIns="50800" tIns="25400" bIns="25400">
            <a:spAutoFit/>
          </a:bodyPr>
          <a:lstStyle/>
          <a:p>
            <a:pPr algn="l"/>
            <a:r>
              <a:rPr sz="1800" b="0" i="0">
                <a:solidFill>
                  <a:srgbClr val="4A4A4A"/>
                </a:solidFill>
              </a:rPr>
              <a:t>7 phases. 27 components. 21 ArgoCD Applications.</a:t>
            </a:r>
          </a:p>
          <a:p>
            <a:pPr algn="l">
              <a:spcBef>
                <a:spcPts val="400"/>
              </a:spcBef>
            </a:pPr>
            <a:r>
              <a:rPr sz="1600" b="0" i="0">
                <a:solidFill>
                  <a:srgbClr val="4A4A4A"/>
                </a:solidFill>
              </a:rPr>
              <a:t>90 minutes instead of 10 hours — against a pre-provisioned cluster.</a:t>
            </a:r>
          </a:p>
          <a:p>
            <a:pPr algn="l">
              <a:spcBef>
                <a:spcPts val="1000"/>
              </a:spcBef>
            </a:pPr>
            <a:r>
              <a:rPr sz="1400" b="1" i="1">
                <a:solidFill>
                  <a:srgbClr val="1E2761"/>
                </a:solidFill>
              </a:rPr>
              <a:t>How far we get is how far we get. Whatever doesn’t land in the room, you finish on the plane.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548640" y="292608"/>
            <a:ext cx="8046720" cy="292608"/>
          </a:xfrm>
          <a:prstGeom prst="rect">
            <a:avLst/>
          </a:prstGeom>
          <a:noFill/>
        </p:spPr>
        <p:txBody>
          <a:bodyPr wrap="square" anchor="t" lIns="50800" rIns="50800" tIns="25400" bIns="25400">
            <a:spAutoFit/>
          </a:bodyPr>
          <a:lstStyle/>
          <a:p>
            <a:pPr algn="l"/>
            <a:r>
              <a:rPr sz="1100" b="1" i="0">
                <a:solidFill>
                  <a:srgbClr val="FF6B35"/>
                </a:solidFill>
              </a:rPr>
              <a:t>GROUNDING</a:t>
            </a:r>
          </a:p>
        </p:txBody>
      </p:sp>
      <p:sp>
        <p:nvSpPr>
          <p:cNvPr id="69" name="TextBox 68"/>
          <p:cNvSpPr txBox="1"/>
          <p:nvPr/>
        </p:nvSpPr>
        <p:spPr>
          <a:xfrm>
            <a:off x="548640" y="594360"/>
            <a:ext cx="8046720" cy="502920"/>
          </a:xfrm>
          <a:prstGeom prst="rect">
            <a:avLst/>
          </a:prstGeom>
          <a:noFill/>
        </p:spPr>
        <p:txBody>
          <a:bodyPr wrap="square" anchor="t" lIns="50800" rIns="50800" tIns="25400" bIns="25400">
            <a:spAutoFit/>
          </a:bodyPr>
          <a:lstStyle/>
          <a:p>
            <a:pPr algn="l"/>
            <a:r>
              <a:rPr sz="2400" b="1" i="0">
                <a:solidFill>
                  <a:srgbClr val="1E2761"/>
                </a:solidFill>
              </a:rPr>
              <a:t>Inside The Repo</a:t>
            </a:r>
          </a:p>
        </p:txBody>
      </p:sp>
      <p:sp>
        <p:nvSpPr>
          <p:cNvPr id="70" name="TextBox 69"/>
          <p:cNvSpPr txBox="1"/>
          <p:nvPr/>
        </p:nvSpPr>
        <p:spPr>
          <a:xfrm>
            <a:off x="548640" y="1097280"/>
            <a:ext cx="8046720" cy="292608"/>
          </a:xfrm>
          <a:prstGeom prst="rect">
            <a:avLst/>
          </a:prstGeom>
          <a:noFill/>
        </p:spPr>
        <p:txBody>
          <a:bodyPr wrap="square" anchor="t" lIns="50800" rIns="50800" tIns="25400" bIns="25400">
            <a:spAutoFit/>
          </a:bodyPr>
          <a:lstStyle/>
          <a:p>
            <a:pPr algn="l"/>
            <a:r>
              <a:rPr sz="1200" b="0" i="1">
                <a:solidFill>
                  <a:srgbClr val="4A4A4A"/>
                </a:solidFill>
              </a:rPr>
              <a:t>Before we go any further — let me show you what’s actually in here.</a:t>
            </a:r>
          </a:p>
        </p:txBody>
      </p:sp>
      <p:sp>
        <p:nvSpPr>
          <p:cNvPr id="71" name="Rectangle 70"/>
          <p:cNvSpPr/>
          <p:nvPr/>
        </p:nvSpPr>
        <p:spPr>
          <a:xfrm>
            <a:off x="548640" y="1600200"/>
            <a:ext cx="4572000" cy="3108960"/>
          </a:xfrm>
          <a:prstGeom prst="rect">
            <a:avLst/>
          </a:prstGeom>
          <a:solidFill>
            <a:srgbClr val="10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77240" y="1691640"/>
            <a:ext cx="4297680" cy="3017520"/>
          </a:xfrm>
          <a:prstGeom prst="rect">
            <a:avLst/>
          </a:prstGeom>
          <a:noFill/>
        </p:spPr>
        <p:txBody>
          <a:bodyPr wrap="square" anchor="t" lIns="50800" rIns="50800" tIns="25400" bIns="25400">
            <a:spAutoFit/>
          </a:bodyPr>
          <a:lstStyle/>
          <a:p>
            <a:pPr algn="l"/>
            <a:r>
              <a:rPr sz="1100" b="1" i="0">
                <a:solidFill>
                  <a:srgbClr val="FFFFFF"/>
                </a:solidFill>
                <a:latin typeface="Courier New"/>
              </a:rPr>
              <a:t>KCD_Texas_2026_Workshop/</a:t>
            </a:r>
          </a:p>
          <a:p>
            <a:pPr algn="l"/>
            <a:r>
              <a:rPr sz="1000" b="0" i="0">
                <a:solidFill>
                  <a:srgbClr val="CADCFC"/>
                </a:solidFill>
                <a:latin typeface="Courier New"/>
              </a:rPr>
              <a:t>├─ spec/</a:t>
            </a:r>
          </a:p>
          <a:p>
            <a:pPr algn="l"/>
            <a:r>
              <a:rPr sz="900" b="0" i="0">
                <a:solidFill>
                  <a:srgbClr val="FFFFFF"/>
                </a:solidFill>
                <a:latin typeface="Courier New"/>
              </a:rPr>
              <a:t>│  ├─ BUILD-SPEC.md            ← the paste</a:t>
            </a:r>
          </a:p>
          <a:p>
            <a:pPr algn="l"/>
            <a:r>
              <a:rPr sz="900" b="0" i="0">
                <a:solidFill>
                  <a:srgbClr val="FFFFFF"/>
                </a:solidFill>
                <a:latin typeface="Courier New"/>
              </a:rPr>
              <a:t>│  └─ phases/                  ← 7 phase files</a:t>
            </a:r>
          </a:p>
          <a:p>
            <a:pPr algn="l"/>
            <a:r>
              <a:rPr sz="1000" b="0" i="0">
                <a:solidFill>
                  <a:srgbClr val="CADCFC"/>
                </a:solidFill>
                <a:latin typeface="Courier New"/>
              </a:rPr>
              <a:t>├─ .claude/</a:t>
            </a:r>
          </a:p>
          <a:p>
            <a:pPr algn="l"/>
            <a:r>
              <a:rPr sz="900" b="0" i="0">
                <a:solidFill>
                  <a:srgbClr val="FFFFFF"/>
                </a:solidFill>
                <a:latin typeface="Courier New"/>
              </a:rPr>
              <a:t>│  ├─ skills/                  ← 6 skill files</a:t>
            </a:r>
          </a:p>
          <a:p>
            <a:pPr algn="l"/>
            <a:r>
              <a:rPr sz="900" b="0" i="0">
                <a:solidFill>
                  <a:srgbClr val="FFFFFF"/>
                </a:solidFill>
                <a:latin typeface="Courier New"/>
              </a:rPr>
              <a:t>│  ├─ commands/                ← /build-phase N</a:t>
            </a:r>
          </a:p>
          <a:p>
            <a:pPr algn="l"/>
            <a:r>
              <a:rPr sz="900" b="0" i="0">
                <a:solidFill>
                  <a:srgbClr val="FFFFFF"/>
                </a:solidFill>
                <a:latin typeface="Courier New"/>
              </a:rPr>
              <a:t>│  └─ hooks/                   ← stop hook</a:t>
            </a:r>
          </a:p>
          <a:p>
            <a:pPr algn="l"/>
            <a:r>
              <a:rPr sz="1000" b="0" i="0">
                <a:solidFill>
                  <a:srgbClr val="CADCFC"/>
                </a:solidFill>
                <a:latin typeface="Courier New"/>
              </a:rPr>
              <a:t>├─ gitops/</a:t>
            </a:r>
          </a:p>
          <a:p>
            <a:pPr algn="l"/>
            <a:r>
              <a:rPr sz="900" b="0" i="0">
                <a:solidFill>
                  <a:srgbClr val="FFFFFF"/>
                </a:solidFill>
                <a:latin typeface="Courier New"/>
              </a:rPr>
              <a:t>│  ├─ bootstrap/app-of-apps.yaml</a:t>
            </a:r>
          </a:p>
          <a:p>
            <a:pPr algn="l"/>
            <a:r>
              <a:rPr sz="900" b="0" i="0">
                <a:solidFill>
                  <a:srgbClr val="FFFFFF"/>
                </a:solidFill>
                <a:latin typeface="Courier New"/>
              </a:rPr>
              <a:t>│  └─ apps/                    ← 21 Applications</a:t>
            </a:r>
          </a:p>
          <a:p>
            <a:pPr algn="l"/>
            <a:r>
              <a:rPr sz="1000" b="0" i="0">
                <a:solidFill>
                  <a:srgbClr val="CADCFC"/>
                </a:solidFill>
                <a:latin typeface="Courier New"/>
              </a:rPr>
              <a:t>├─ tests/                       ← 47 pytest gates</a:t>
            </a:r>
          </a:p>
          <a:p>
            <a:pPr algn="l"/>
            <a:r>
              <a:rPr sz="1000" b="0" i="0">
                <a:solidFill>
                  <a:srgbClr val="CADCFC"/>
                </a:solidFill>
                <a:latin typeface="Courier New"/>
              </a:rPr>
              <a:t>├─ scorecard/                   ← 3 dimensions × 7 rows</a:t>
            </a:r>
          </a:p>
          <a:p>
            <a:pPr algn="l"/>
            <a:r>
              <a:rPr sz="1000" b="0" i="0">
                <a:solidFill>
                  <a:srgbClr val="CADCFC"/>
                </a:solidFill>
                <a:latin typeface="Courier New"/>
              </a:rPr>
              <a:t>├─ CLAUDE.md                    ← Claude’s brief</a:t>
            </a:r>
          </a:p>
          <a:p>
            <a:pPr algn="l"/>
            <a:r>
              <a:rPr sz="1000" b="0" i="0">
                <a:solidFill>
                  <a:srgbClr val="CADCFC"/>
                </a:solidFill>
                <a:latin typeface="Courier New"/>
              </a:rPr>
              <a:t>├─ README.md</a:t>
            </a:r>
          </a:p>
          <a:p>
            <a:pPr algn="l"/>
            <a:r>
              <a:rPr sz="1000" b="0" i="0">
                <a:solidFill>
                  <a:srgbClr val="CADCFC"/>
                </a:solidFill>
                <a:latin typeface="Courier New"/>
              </a:rPr>
              <a:t>└─ kcd-tx-attendee-playbook.md</a:t>
            </a:r>
          </a:p>
        </p:txBody>
      </p:sp>
      <p:sp>
        <p:nvSpPr>
          <p:cNvPr id="73" name="TextBox 72"/>
          <p:cNvSpPr txBox="1"/>
          <p:nvPr/>
        </p:nvSpPr>
        <p:spPr>
          <a:xfrm>
            <a:off x="5577840" y="1691640"/>
            <a:ext cx="3017520" cy="292608"/>
          </a:xfrm>
          <a:prstGeom prst="rect">
            <a:avLst/>
          </a:prstGeom>
          <a:noFill/>
        </p:spPr>
        <p:txBody>
          <a:bodyPr wrap="square" anchor="t" lIns="50800" rIns="50800" tIns="25400" bIns="25400">
            <a:spAutoFit/>
          </a:bodyPr>
          <a:lstStyle/>
          <a:p>
            <a:pPr algn="ctr"/>
            <a:r>
              <a:rPr sz="1200" b="1" i="0">
                <a:solidFill>
                  <a:srgbClr val="1E2761"/>
                </a:solidFill>
              </a:rPr>
              <a:t>Pull it up yourself</a:t>
            </a:r>
          </a:p>
        </p:txBody>
      </p:sp>
      <p:pic>
        <p:nvPicPr>
          <p:cNvPr id="74" name="Picture 73" descr="repo-qr.png"/>
          <p:cNvPicPr>
            <a:picLocks noChangeAspect="1"/>
          </p:cNvPicPr>
          <p:nvPr/>
        </p:nvPicPr>
        <p:blipFill>
          <a:blip r:embed="rId2"/>
          <a:stretch>
            <a:fillRect/>
          </a:stretch>
        </p:blipFill>
        <p:spPr>
          <a:xfrm>
            <a:off x="6080760" y="2057400"/>
            <a:ext cx="2011680" cy="2011680"/>
          </a:xfrm>
          <a:prstGeom prst="rect">
            <a:avLst/>
          </a:prstGeom>
        </p:spPr>
      </p:pic>
      <p:sp>
        <p:nvSpPr>
          <p:cNvPr id="75" name="TextBox 74"/>
          <p:cNvSpPr txBox="1"/>
          <p:nvPr/>
        </p:nvSpPr>
        <p:spPr>
          <a:xfrm>
            <a:off x="5577840" y="4160520"/>
            <a:ext cx="3017520" cy="274320"/>
          </a:xfrm>
          <a:prstGeom prst="rect">
            <a:avLst/>
          </a:prstGeom>
          <a:noFill/>
        </p:spPr>
        <p:txBody>
          <a:bodyPr wrap="square" anchor="t" lIns="50800" rIns="50800" tIns="25400" bIns="25400">
            <a:spAutoFit/>
          </a:bodyPr>
          <a:lstStyle/>
          <a:p>
            <a:pPr algn="ctr"/>
            <a:r>
              <a:rPr sz="900" b="1" i="0">
                <a:solidFill>
                  <a:srgbClr val="FF6B35"/>
                </a:solidFill>
              </a:rPr>
              <a:t>github.com/peopleforrester</a:t>
            </a:r>
          </a:p>
        </p:txBody>
      </p:sp>
      <p:sp>
        <p:nvSpPr>
          <p:cNvPr id="76" name="TextBox 75"/>
          <p:cNvSpPr txBox="1"/>
          <p:nvPr/>
        </p:nvSpPr>
        <p:spPr>
          <a:xfrm>
            <a:off x="5577840" y="4370832"/>
            <a:ext cx="3017520" cy="274320"/>
          </a:xfrm>
          <a:prstGeom prst="rect">
            <a:avLst/>
          </a:prstGeom>
          <a:noFill/>
        </p:spPr>
        <p:txBody>
          <a:bodyPr wrap="square" anchor="t" lIns="50800" rIns="50800" tIns="25400" bIns="25400">
            <a:spAutoFit/>
          </a:bodyPr>
          <a:lstStyle/>
          <a:p>
            <a:pPr algn="ctr"/>
            <a:r>
              <a:rPr sz="900" b="1" i="0">
                <a:solidFill>
                  <a:srgbClr val="FF6B35"/>
                </a:solidFill>
              </a:rPr>
              <a:t>/KCD_Texas_2026_Workshop</a:t>
            </a:r>
          </a:p>
        </p:txBody>
      </p:sp>
      <p:sp>
        <p:nvSpPr>
          <p:cNvPr id="77" name="TextBox 76"/>
          <p:cNvSpPr txBox="1"/>
          <p:nvPr/>
        </p:nvSpPr>
        <p:spPr>
          <a:xfrm>
            <a:off x="548640" y="4846320"/>
            <a:ext cx="8046720" cy="292608"/>
          </a:xfrm>
          <a:prstGeom prst="rect">
            <a:avLst/>
          </a:prstGeom>
          <a:noFill/>
        </p:spPr>
        <p:txBody>
          <a:bodyPr wrap="square" anchor="t" lIns="50800" rIns="50800" tIns="25400" bIns="25400">
            <a:spAutoFit/>
          </a:bodyPr>
          <a:lstStyle/>
          <a:p>
            <a:pPr algn="ctr"/>
            <a:r>
              <a:rPr sz="1000" b="0" i="1">
                <a:solidFill>
                  <a:srgbClr val="888888"/>
                </a:solidFill>
              </a:rPr>
              <a:t>I’ll walk through the live repo on screen — follow along on your laptop if you’re cloning early.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TODAY’S LESSON</a:t>
            </a:r>
          </a:p>
        </p:txBody>
      </p:sp>
      <p:sp>
        <p:nvSpPr>
          <p:cNvPr id="78" name="TextBox 77"/>
          <p:cNvSpPr txBox="1"/>
          <p:nvPr/>
        </p:nvSpPr>
        <p:spPr>
          <a:xfrm>
            <a:off x="548640" y="731520"/>
            <a:ext cx="8046720" cy="640080"/>
          </a:xfrm>
          <a:prstGeom prst="rect">
            <a:avLst/>
          </a:prstGeom>
          <a:noFill/>
        </p:spPr>
        <p:txBody>
          <a:bodyPr wrap="square" anchor="t" lIns="50800" rIns="50800" tIns="25400" bIns="25400">
            <a:spAutoFit/>
          </a:bodyPr>
          <a:lstStyle/>
          <a:p>
            <a:pPr algn="l"/>
            <a:r>
              <a:rPr sz="2600" b="1" i="0">
                <a:solidFill>
                  <a:srgbClr val="1E2761"/>
                </a:solidFill>
              </a:rPr>
              <a:t>Spec-Driven Development with Claude Code</a:t>
            </a:r>
          </a:p>
        </p:txBody>
      </p:sp>
      <p:sp>
        <p:nvSpPr>
          <p:cNvPr id="79" name="TextBox 78"/>
          <p:cNvSpPr txBox="1"/>
          <p:nvPr/>
        </p:nvSpPr>
        <p:spPr>
          <a:xfrm>
            <a:off x="731520" y="1600200"/>
            <a:ext cx="457200" cy="365760"/>
          </a:xfrm>
          <a:prstGeom prst="rect">
            <a:avLst/>
          </a:prstGeom>
          <a:noFill/>
        </p:spPr>
        <p:txBody>
          <a:bodyPr wrap="square" anchor="t" lIns="50800" rIns="50800" tIns="25400" bIns="25400">
            <a:spAutoFit/>
          </a:bodyPr>
          <a:lstStyle/>
          <a:p>
            <a:pPr algn="l"/>
            <a:r>
              <a:rPr sz="1600" b="1" i="0">
                <a:solidFill>
                  <a:srgbClr val="FF6B35"/>
                </a:solidFill>
              </a:rPr>
              <a:t>1.</a:t>
            </a:r>
          </a:p>
        </p:txBody>
      </p:sp>
      <p:sp>
        <p:nvSpPr>
          <p:cNvPr id="80" name="TextBox 79"/>
          <p:cNvSpPr txBox="1"/>
          <p:nvPr/>
        </p:nvSpPr>
        <p:spPr>
          <a:xfrm>
            <a:off x="1188720" y="1600200"/>
            <a:ext cx="7315200" cy="365760"/>
          </a:xfrm>
          <a:prstGeom prst="rect">
            <a:avLst/>
          </a:prstGeom>
          <a:noFill/>
        </p:spPr>
        <p:txBody>
          <a:bodyPr wrap="square" anchor="t" lIns="50800" rIns="50800" tIns="25400" bIns="25400">
            <a:spAutoFit/>
          </a:bodyPr>
          <a:lstStyle/>
          <a:p>
            <a:pPr algn="l"/>
            <a:r>
              <a:rPr sz="1600" b="1" i="0">
                <a:solidFill>
                  <a:srgbClr val="1E2761"/>
                </a:solidFill>
              </a:rPr>
              <a:t>I write a spec.</a:t>
            </a:r>
          </a:p>
        </p:txBody>
      </p:sp>
      <p:sp>
        <p:nvSpPr>
          <p:cNvPr id="81" name="TextBox 80"/>
          <p:cNvSpPr txBox="1"/>
          <p:nvPr/>
        </p:nvSpPr>
        <p:spPr>
          <a:xfrm>
            <a:off x="731520" y="2011680"/>
            <a:ext cx="457200" cy="365760"/>
          </a:xfrm>
          <a:prstGeom prst="rect">
            <a:avLst/>
          </a:prstGeom>
          <a:noFill/>
        </p:spPr>
        <p:txBody>
          <a:bodyPr wrap="square" anchor="t" lIns="50800" rIns="50800" tIns="25400" bIns="25400">
            <a:spAutoFit/>
          </a:bodyPr>
          <a:lstStyle/>
          <a:p>
            <a:pPr algn="l"/>
            <a:r>
              <a:rPr sz="1600" b="1" i="0">
                <a:solidFill>
                  <a:srgbClr val="FF6B35"/>
                </a:solidFill>
              </a:rPr>
              <a:t>2.</a:t>
            </a:r>
          </a:p>
        </p:txBody>
      </p:sp>
      <p:sp>
        <p:nvSpPr>
          <p:cNvPr id="82" name="TextBox 81"/>
          <p:cNvSpPr txBox="1"/>
          <p:nvPr/>
        </p:nvSpPr>
        <p:spPr>
          <a:xfrm>
            <a:off x="1188720" y="2011680"/>
            <a:ext cx="7315200" cy="365760"/>
          </a:xfrm>
          <a:prstGeom prst="rect">
            <a:avLst/>
          </a:prstGeom>
          <a:noFill/>
        </p:spPr>
        <p:txBody>
          <a:bodyPr wrap="square" anchor="t" lIns="50800" rIns="50800" tIns="25400" bIns="25400">
            <a:spAutoFit/>
          </a:bodyPr>
          <a:lstStyle/>
          <a:p>
            <a:pPr algn="l"/>
            <a:r>
              <a:rPr sz="1600" b="1" i="0">
                <a:solidFill>
                  <a:srgbClr val="1E2761"/>
                </a:solidFill>
              </a:rPr>
              <a:t>I hand it to Claude.</a:t>
            </a:r>
          </a:p>
        </p:txBody>
      </p:sp>
      <p:sp>
        <p:nvSpPr>
          <p:cNvPr id="83" name="TextBox 82"/>
          <p:cNvSpPr txBox="1"/>
          <p:nvPr/>
        </p:nvSpPr>
        <p:spPr>
          <a:xfrm>
            <a:off x="731520" y="2423160"/>
            <a:ext cx="457200" cy="365760"/>
          </a:xfrm>
          <a:prstGeom prst="rect">
            <a:avLst/>
          </a:prstGeom>
          <a:noFill/>
        </p:spPr>
        <p:txBody>
          <a:bodyPr wrap="square" anchor="t" lIns="50800" rIns="50800" tIns="25400" bIns="25400">
            <a:spAutoFit/>
          </a:bodyPr>
          <a:lstStyle/>
          <a:p>
            <a:pPr algn="l"/>
            <a:r>
              <a:rPr sz="1600" b="1" i="0">
                <a:solidFill>
                  <a:srgbClr val="FF6B35"/>
                </a:solidFill>
              </a:rPr>
              <a:t>3.</a:t>
            </a:r>
          </a:p>
        </p:txBody>
      </p:sp>
      <p:sp>
        <p:nvSpPr>
          <p:cNvPr id="84" name="TextBox 83"/>
          <p:cNvSpPr txBox="1"/>
          <p:nvPr/>
        </p:nvSpPr>
        <p:spPr>
          <a:xfrm>
            <a:off x="1188720" y="2423160"/>
            <a:ext cx="7315200" cy="365760"/>
          </a:xfrm>
          <a:prstGeom prst="rect">
            <a:avLst/>
          </a:prstGeom>
          <a:noFill/>
        </p:spPr>
        <p:txBody>
          <a:bodyPr wrap="square" anchor="t" lIns="50800" rIns="50800" tIns="25400" bIns="25400">
            <a:spAutoFit/>
          </a:bodyPr>
          <a:lstStyle/>
          <a:p>
            <a:pPr algn="l"/>
            <a:r>
              <a:rPr sz="1600" b="1" i="0">
                <a:solidFill>
                  <a:srgbClr val="1E2761"/>
                </a:solidFill>
              </a:rPr>
              <a:t>Claude generates the platform.</a:t>
            </a:r>
          </a:p>
        </p:txBody>
      </p:sp>
      <p:sp>
        <p:nvSpPr>
          <p:cNvPr id="85" name="TextBox 84"/>
          <p:cNvSpPr txBox="1"/>
          <p:nvPr/>
        </p:nvSpPr>
        <p:spPr>
          <a:xfrm>
            <a:off x="731520" y="2834640"/>
            <a:ext cx="457200" cy="365760"/>
          </a:xfrm>
          <a:prstGeom prst="rect">
            <a:avLst/>
          </a:prstGeom>
          <a:noFill/>
        </p:spPr>
        <p:txBody>
          <a:bodyPr wrap="square" anchor="t" lIns="50800" rIns="50800" tIns="25400" bIns="25400">
            <a:spAutoFit/>
          </a:bodyPr>
          <a:lstStyle/>
          <a:p>
            <a:pPr algn="l"/>
            <a:r>
              <a:rPr sz="1600" b="1" i="0">
                <a:solidFill>
                  <a:srgbClr val="FF6B35"/>
                </a:solidFill>
              </a:rPr>
              <a:t>4.</a:t>
            </a:r>
          </a:p>
        </p:txBody>
      </p:sp>
      <p:sp>
        <p:nvSpPr>
          <p:cNvPr id="86" name="TextBox 85"/>
          <p:cNvSpPr txBox="1"/>
          <p:nvPr/>
        </p:nvSpPr>
        <p:spPr>
          <a:xfrm>
            <a:off x="1188720" y="2834640"/>
            <a:ext cx="7315200" cy="365760"/>
          </a:xfrm>
          <a:prstGeom prst="rect">
            <a:avLst/>
          </a:prstGeom>
          <a:noFill/>
        </p:spPr>
        <p:txBody>
          <a:bodyPr wrap="square" anchor="t" lIns="50800" rIns="50800" tIns="25400" bIns="25400">
            <a:spAutoFit/>
          </a:bodyPr>
          <a:lstStyle/>
          <a:p>
            <a:pPr algn="l"/>
            <a:r>
              <a:rPr sz="1600" b="1" i="0">
                <a:solidFill>
                  <a:srgbClr val="1E2761"/>
                </a:solidFill>
              </a:rPr>
              <a:t>I verify with test gates.</a:t>
            </a:r>
          </a:p>
        </p:txBody>
      </p:sp>
      <p:sp>
        <p:nvSpPr>
          <p:cNvPr id="87" name="TextBox 86"/>
          <p:cNvSpPr txBox="1"/>
          <p:nvPr/>
        </p:nvSpPr>
        <p:spPr>
          <a:xfrm>
            <a:off x="731520" y="3246120"/>
            <a:ext cx="457200" cy="365760"/>
          </a:xfrm>
          <a:prstGeom prst="rect">
            <a:avLst/>
          </a:prstGeom>
          <a:noFill/>
        </p:spPr>
        <p:txBody>
          <a:bodyPr wrap="square" anchor="t" lIns="50800" rIns="50800" tIns="25400" bIns="25400">
            <a:spAutoFit/>
          </a:bodyPr>
          <a:lstStyle/>
          <a:p>
            <a:pPr algn="l"/>
            <a:r>
              <a:rPr sz="1600" b="1" i="0">
                <a:solidFill>
                  <a:srgbClr val="FF6B35"/>
                </a:solidFill>
              </a:rPr>
              <a:t>5.</a:t>
            </a:r>
          </a:p>
        </p:txBody>
      </p:sp>
      <p:sp>
        <p:nvSpPr>
          <p:cNvPr id="88" name="TextBox 87"/>
          <p:cNvSpPr txBox="1"/>
          <p:nvPr/>
        </p:nvSpPr>
        <p:spPr>
          <a:xfrm>
            <a:off x="1188720" y="3246120"/>
            <a:ext cx="7315200" cy="365760"/>
          </a:xfrm>
          <a:prstGeom prst="rect">
            <a:avLst/>
          </a:prstGeom>
          <a:noFill/>
        </p:spPr>
        <p:txBody>
          <a:bodyPr wrap="square" anchor="t" lIns="50800" rIns="50800" tIns="25400" bIns="25400">
            <a:spAutoFit/>
          </a:bodyPr>
          <a:lstStyle/>
          <a:p>
            <a:pPr algn="l"/>
            <a:r>
              <a:rPr sz="1600" b="1" i="0">
                <a:solidFill>
                  <a:srgbClr val="1E2761"/>
                </a:solidFill>
              </a:rPr>
              <a:t>I score what Claude did, and move on.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TextBox 80"/>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THE THREE ARTIFACTS</a:t>
            </a:r>
          </a:p>
        </p:txBody>
      </p:sp>
      <p:sp>
        <p:nvSpPr>
          <p:cNvPr id="82" name="TextBox 81"/>
          <p:cNvSpPr txBox="1"/>
          <p:nvPr/>
        </p:nvSpPr>
        <p:spPr>
          <a:xfrm>
            <a:off x="548640" y="731520"/>
            <a:ext cx="8046720" cy="640080"/>
          </a:xfrm>
          <a:prstGeom prst="rect">
            <a:avLst/>
          </a:prstGeom>
          <a:noFill/>
        </p:spPr>
        <p:txBody>
          <a:bodyPr wrap="square" anchor="t" lIns="50800" rIns="50800" tIns="25400" bIns="25400">
            <a:spAutoFit/>
          </a:bodyPr>
          <a:lstStyle/>
          <a:p>
            <a:pPr algn="l"/>
            <a:r>
              <a:rPr sz="2600" b="1" i="0">
                <a:solidFill>
                  <a:srgbClr val="1E2761"/>
                </a:solidFill>
              </a:rPr>
              <a:t>Spec + Skills + Gates</a:t>
            </a:r>
          </a:p>
        </p:txBody>
      </p:sp>
      <p:sp>
        <p:nvSpPr>
          <p:cNvPr id="83" name="Rectangle 82"/>
          <p:cNvSpPr/>
          <p:nvPr/>
        </p:nvSpPr>
        <p:spPr>
          <a:xfrm>
            <a:off x="548640" y="1600200"/>
            <a:ext cx="2606040" cy="26517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85800" y="1737360"/>
            <a:ext cx="2331720" cy="411480"/>
          </a:xfrm>
          <a:prstGeom prst="rect">
            <a:avLst/>
          </a:prstGeom>
          <a:noFill/>
        </p:spPr>
        <p:txBody>
          <a:bodyPr wrap="square" anchor="t" lIns="50800" rIns="50800" tIns="25400" bIns="25400">
            <a:spAutoFit/>
          </a:bodyPr>
          <a:lstStyle/>
          <a:p>
            <a:pPr algn="l"/>
            <a:r>
              <a:rPr sz="1700" b="1" i="0">
                <a:solidFill>
                  <a:srgbClr val="1E2761"/>
                </a:solidFill>
              </a:rPr>
              <a:t>The Spec</a:t>
            </a:r>
          </a:p>
        </p:txBody>
      </p:sp>
      <p:sp>
        <p:nvSpPr>
          <p:cNvPr id="85" name="TextBox 84"/>
          <p:cNvSpPr txBox="1"/>
          <p:nvPr/>
        </p:nvSpPr>
        <p:spPr>
          <a:xfrm>
            <a:off x="685800" y="2240280"/>
            <a:ext cx="2331720" cy="1280160"/>
          </a:xfrm>
          <a:prstGeom prst="rect">
            <a:avLst/>
          </a:prstGeom>
          <a:noFill/>
        </p:spPr>
        <p:txBody>
          <a:bodyPr wrap="square" anchor="t" lIns="50800" rIns="50800" tIns="25400" bIns="25400">
            <a:spAutoFit/>
          </a:bodyPr>
          <a:lstStyle/>
          <a:p>
            <a:pPr algn="l"/>
            <a:r>
              <a:rPr sz="1200" b="0" i="0">
                <a:solidFill>
                  <a:srgbClr val="4A4A4A"/>
                </a:solidFill>
              </a:rPr>
              <a:t>What I want Claude to build. Phases, manifests, completion criteria.</a:t>
            </a:r>
          </a:p>
        </p:txBody>
      </p:sp>
      <p:sp>
        <p:nvSpPr>
          <p:cNvPr id="86" name="TextBox 85"/>
          <p:cNvSpPr txBox="1"/>
          <p:nvPr/>
        </p:nvSpPr>
        <p:spPr>
          <a:xfrm>
            <a:off x="685800" y="3474720"/>
            <a:ext cx="2331720" cy="640080"/>
          </a:xfrm>
          <a:prstGeom prst="rect">
            <a:avLst/>
          </a:prstGeom>
          <a:noFill/>
        </p:spPr>
        <p:txBody>
          <a:bodyPr wrap="square" anchor="t" lIns="50800" rIns="50800" tIns="25400" bIns="25400">
            <a:spAutoFit/>
          </a:bodyPr>
          <a:lstStyle/>
          <a:p>
            <a:pPr algn="l"/>
            <a:r>
              <a:rPr sz="900" b="0" i="1">
                <a:solidFill>
                  <a:srgbClr val="1E2761"/>
                </a:solidFill>
              </a:rPr>
              <a:t>spec/BUILD-SPEC.md — ~120 lines markdown.</a:t>
            </a:r>
          </a:p>
        </p:txBody>
      </p:sp>
      <p:sp>
        <p:nvSpPr>
          <p:cNvPr id="87" name="Rectangle 86"/>
          <p:cNvSpPr/>
          <p:nvPr/>
        </p:nvSpPr>
        <p:spPr>
          <a:xfrm>
            <a:off x="3273552" y="1600200"/>
            <a:ext cx="2606040" cy="26517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410712" y="1737360"/>
            <a:ext cx="2331720" cy="411480"/>
          </a:xfrm>
          <a:prstGeom prst="rect">
            <a:avLst/>
          </a:prstGeom>
          <a:noFill/>
        </p:spPr>
        <p:txBody>
          <a:bodyPr wrap="square" anchor="t" lIns="50800" rIns="50800" tIns="25400" bIns="25400">
            <a:spAutoFit/>
          </a:bodyPr>
          <a:lstStyle/>
          <a:p>
            <a:pPr algn="l"/>
            <a:r>
              <a:rPr sz="1700" b="1" i="0">
                <a:solidFill>
                  <a:srgbClr val="1E2761"/>
                </a:solidFill>
              </a:rPr>
              <a:t>The Skills</a:t>
            </a:r>
          </a:p>
        </p:txBody>
      </p:sp>
      <p:sp>
        <p:nvSpPr>
          <p:cNvPr id="89" name="TextBox 88"/>
          <p:cNvSpPr txBox="1"/>
          <p:nvPr/>
        </p:nvSpPr>
        <p:spPr>
          <a:xfrm>
            <a:off x="3410712" y="2240280"/>
            <a:ext cx="2331720" cy="1280160"/>
          </a:xfrm>
          <a:prstGeom prst="rect">
            <a:avLst/>
          </a:prstGeom>
          <a:noFill/>
        </p:spPr>
        <p:txBody>
          <a:bodyPr wrap="square" anchor="t" lIns="50800" rIns="50800" tIns="25400" bIns="25400">
            <a:spAutoFit/>
          </a:bodyPr>
          <a:lstStyle/>
          <a:p>
            <a:pPr algn="l"/>
            <a:r>
              <a:rPr sz="1200" b="0" i="0">
                <a:solidFill>
                  <a:srgbClr val="4A4A4A"/>
                </a:solidFill>
              </a:rPr>
              <a:t>Current-version patterns Claude needs. One per CNCF project. Auto-loaded.</a:t>
            </a:r>
          </a:p>
        </p:txBody>
      </p:sp>
      <p:sp>
        <p:nvSpPr>
          <p:cNvPr id="90" name="TextBox 89"/>
          <p:cNvSpPr txBox="1"/>
          <p:nvPr/>
        </p:nvSpPr>
        <p:spPr>
          <a:xfrm>
            <a:off x="3410712" y="3474720"/>
            <a:ext cx="2331720" cy="640080"/>
          </a:xfrm>
          <a:prstGeom prst="rect">
            <a:avLst/>
          </a:prstGeom>
          <a:noFill/>
        </p:spPr>
        <p:txBody>
          <a:bodyPr wrap="square" anchor="t" lIns="50800" rIns="50800" tIns="25400" bIns="25400">
            <a:spAutoFit/>
          </a:bodyPr>
          <a:lstStyle/>
          <a:p>
            <a:pPr algn="l"/>
            <a:r>
              <a:rPr sz="900" b="0" i="1">
                <a:solidFill>
                  <a:srgbClr val="1E2761"/>
                </a:solidFill>
              </a:rPr>
              <a:t>argocd • kyverno • kube-prometheus-stack • backstage</a:t>
            </a:r>
          </a:p>
        </p:txBody>
      </p:sp>
      <p:sp>
        <p:nvSpPr>
          <p:cNvPr id="91" name="Rectangle 90"/>
          <p:cNvSpPr/>
          <p:nvPr/>
        </p:nvSpPr>
        <p:spPr>
          <a:xfrm>
            <a:off x="5998464" y="1600200"/>
            <a:ext cx="2606040" cy="26517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135624" y="1737360"/>
            <a:ext cx="2331720" cy="411480"/>
          </a:xfrm>
          <a:prstGeom prst="rect">
            <a:avLst/>
          </a:prstGeom>
          <a:noFill/>
        </p:spPr>
        <p:txBody>
          <a:bodyPr wrap="square" anchor="t" lIns="50800" rIns="50800" tIns="25400" bIns="25400">
            <a:spAutoFit/>
          </a:bodyPr>
          <a:lstStyle/>
          <a:p>
            <a:pPr algn="l"/>
            <a:r>
              <a:rPr sz="1700" b="1" i="0">
                <a:solidFill>
                  <a:srgbClr val="1E2761"/>
                </a:solidFill>
              </a:rPr>
              <a:t>The Gates</a:t>
            </a:r>
          </a:p>
        </p:txBody>
      </p:sp>
      <p:sp>
        <p:nvSpPr>
          <p:cNvPr id="93" name="TextBox 92"/>
          <p:cNvSpPr txBox="1"/>
          <p:nvPr/>
        </p:nvSpPr>
        <p:spPr>
          <a:xfrm>
            <a:off x="6135624" y="2240280"/>
            <a:ext cx="2331720" cy="1280160"/>
          </a:xfrm>
          <a:prstGeom prst="rect">
            <a:avLst/>
          </a:prstGeom>
          <a:noFill/>
        </p:spPr>
        <p:txBody>
          <a:bodyPr wrap="square" anchor="t" lIns="50800" rIns="50800" tIns="25400" bIns="25400">
            <a:spAutoFit/>
          </a:bodyPr>
          <a:lstStyle/>
          <a:p>
            <a:pPr algn="l"/>
            <a:r>
              <a:rPr sz="1200" b="0" i="0">
                <a:solidFill>
                  <a:srgbClr val="4A4A4A"/>
                </a:solidFill>
              </a:rPr>
              <a:t>pytest tests proving a phase actually worked. Real infrastructure, no mocks.</a:t>
            </a:r>
          </a:p>
        </p:txBody>
      </p:sp>
      <p:sp>
        <p:nvSpPr>
          <p:cNvPr id="94" name="TextBox 93"/>
          <p:cNvSpPr txBox="1"/>
          <p:nvPr/>
        </p:nvSpPr>
        <p:spPr>
          <a:xfrm>
            <a:off x="6135624" y="3474720"/>
            <a:ext cx="2331720" cy="640080"/>
          </a:xfrm>
          <a:prstGeom prst="rect">
            <a:avLst/>
          </a:prstGeom>
          <a:noFill/>
        </p:spPr>
        <p:txBody>
          <a:bodyPr wrap="square" anchor="t" lIns="50800" rIns="50800" tIns="25400" bIns="25400">
            <a:spAutoFit/>
          </a:bodyPr>
          <a:lstStyle/>
          <a:p>
            <a:pPr algn="l"/>
            <a:r>
              <a:rPr sz="900" b="0" i="1">
                <a:solidFill>
                  <a:srgbClr val="1E2761"/>
                </a:solidFill>
              </a:rPr>
              <a:t>tests/test_phase_0N_*.py — kubectl-driven assertions.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pic>
        <p:nvPicPr>
          <p:cNvPr id="89" name="Google Shape;89;p6"/>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90" name="TextBox 89"/>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THE LIVE SCORECARD</a:t>
            </a:r>
          </a:p>
        </p:txBody>
      </p:sp>
      <p:sp>
        <p:nvSpPr>
          <p:cNvPr id="91" name="TextBox 90"/>
          <p:cNvSpPr txBox="1"/>
          <p:nvPr/>
        </p:nvSpPr>
        <p:spPr>
          <a:xfrm>
            <a:off x="548640" y="731520"/>
            <a:ext cx="8046720" cy="640080"/>
          </a:xfrm>
          <a:prstGeom prst="rect">
            <a:avLst/>
          </a:prstGeom>
          <a:noFill/>
        </p:spPr>
        <p:txBody>
          <a:bodyPr wrap="square" anchor="t" lIns="50800" rIns="50800" tIns="25400" bIns="25400">
            <a:spAutoFit/>
          </a:bodyPr>
          <a:lstStyle/>
          <a:p>
            <a:pPr algn="l"/>
            <a:r>
              <a:rPr sz="2400" b="1" i="0">
                <a:solidFill>
                  <a:srgbClr val="1E2761"/>
                </a:solidFill>
              </a:rPr>
              <a:t>Three Dimensions, Scored Independently</a:t>
            </a:r>
          </a:p>
        </p:txBody>
      </p:sp>
      <p:sp>
        <p:nvSpPr>
          <p:cNvPr id="92" name="Rectangle 91"/>
          <p:cNvSpPr/>
          <p:nvPr/>
        </p:nvSpPr>
        <p:spPr>
          <a:xfrm>
            <a:off x="548640" y="1600200"/>
            <a:ext cx="2606040" cy="23317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85800" y="1737360"/>
            <a:ext cx="2331720" cy="457200"/>
          </a:xfrm>
          <a:prstGeom prst="rect">
            <a:avLst/>
          </a:prstGeom>
          <a:noFill/>
        </p:spPr>
        <p:txBody>
          <a:bodyPr wrap="square" anchor="t" lIns="50800" rIns="50800" tIns="25400" bIns="25400">
            <a:spAutoFit/>
          </a:bodyPr>
          <a:lstStyle/>
          <a:p>
            <a:pPr algn="l"/>
            <a:r>
              <a:rPr sz="1900" b="1" i="0">
                <a:solidFill>
                  <a:srgbClr val="1E2761"/>
                </a:solidFill>
              </a:rPr>
              <a:t>Install</a:t>
            </a:r>
          </a:p>
        </p:txBody>
      </p:sp>
      <p:sp>
        <p:nvSpPr>
          <p:cNvPr id="94" name="TextBox 93"/>
          <p:cNvSpPr txBox="1"/>
          <p:nvPr/>
        </p:nvSpPr>
        <p:spPr>
          <a:xfrm>
            <a:off x="685800" y="2240280"/>
            <a:ext cx="2331720" cy="868680"/>
          </a:xfrm>
          <a:prstGeom prst="rect">
            <a:avLst/>
          </a:prstGeom>
          <a:noFill/>
        </p:spPr>
        <p:txBody>
          <a:bodyPr wrap="square" anchor="t" lIns="50800" rIns="50800" tIns="25400" bIns="25400">
            <a:spAutoFit/>
          </a:bodyPr>
          <a:lstStyle/>
          <a:p>
            <a:pPr algn="l"/>
            <a:r>
              <a:rPr sz="1200" b="1" i="0">
                <a:solidFill>
                  <a:srgbClr val="4A4A4A"/>
                </a:solidFill>
              </a:rPr>
              <a:t>Did Claude generate a manifest that came up healthy?</a:t>
            </a:r>
          </a:p>
        </p:txBody>
      </p:sp>
      <p:sp>
        <p:nvSpPr>
          <p:cNvPr id="95" name="TextBox 94"/>
          <p:cNvSpPr txBox="1"/>
          <p:nvPr/>
        </p:nvSpPr>
        <p:spPr>
          <a:xfrm>
            <a:off x="685800" y="3017520"/>
            <a:ext cx="2331720" cy="868680"/>
          </a:xfrm>
          <a:prstGeom prst="rect">
            <a:avLst/>
          </a:prstGeom>
          <a:noFill/>
        </p:spPr>
        <p:txBody>
          <a:bodyPr wrap="square" anchor="t" lIns="50800" rIns="50800" tIns="25400" bIns="25400">
            <a:spAutoFit/>
          </a:bodyPr>
          <a:lstStyle/>
          <a:p>
            <a:pPr algn="l"/>
            <a:r>
              <a:rPr sz="1000" b="0" i="1">
                <a:solidFill>
                  <a:srgbClr val="1E2761"/>
                </a:solidFill>
              </a:rPr>
              <a:t>Pods Running. No rewrites. First try.</a:t>
            </a:r>
          </a:p>
        </p:txBody>
      </p:sp>
      <p:sp>
        <p:nvSpPr>
          <p:cNvPr id="96" name="Rectangle 95"/>
          <p:cNvSpPr/>
          <p:nvPr/>
        </p:nvSpPr>
        <p:spPr>
          <a:xfrm>
            <a:off x="3273552" y="1600200"/>
            <a:ext cx="2606040" cy="23317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10712" y="1737360"/>
            <a:ext cx="2331720" cy="457200"/>
          </a:xfrm>
          <a:prstGeom prst="rect">
            <a:avLst/>
          </a:prstGeom>
          <a:noFill/>
        </p:spPr>
        <p:txBody>
          <a:bodyPr wrap="square" anchor="t" lIns="50800" rIns="50800" tIns="25400" bIns="25400">
            <a:spAutoFit/>
          </a:bodyPr>
          <a:lstStyle/>
          <a:p>
            <a:pPr algn="l"/>
            <a:r>
              <a:rPr sz="1900" b="1" i="0">
                <a:solidFill>
                  <a:srgbClr val="1E2761"/>
                </a:solidFill>
              </a:rPr>
              <a:t>Integration</a:t>
            </a:r>
          </a:p>
        </p:txBody>
      </p:sp>
      <p:sp>
        <p:nvSpPr>
          <p:cNvPr id="98" name="TextBox 97"/>
          <p:cNvSpPr txBox="1"/>
          <p:nvPr/>
        </p:nvSpPr>
        <p:spPr>
          <a:xfrm>
            <a:off x="3410712" y="2240280"/>
            <a:ext cx="2331720" cy="868680"/>
          </a:xfrm>
          <a:prstGeom prst="rect">
            <a:avLst/>
          </a:prstGeom>
          <a:noFill/>
        </p:spPr>
        <p:txBody>
          <a:bodyPr wrap="square" anchor="t" lIns="50800" rIns="50800" tIns="25400" bIns="25400">
            <a:spAutoFit/>
          </a:bodyPr>
          <a:lstStyle/>
          <a:p>
            <a:pPr algn="l"/>
            <a:r>
              <a:rPr sz="1200" b="1" i="0">
                <a:solidFill>
                  <a:srgbClr val="4A4A4A"/>
                </a:solidFill>
              </a:rPr>
              <a:t>Does it work with the other components?</a:t>
            </a:r>
          </a:p>
        </p:txBody>
      </p:sp>
      <p:sp>
        <p:nvSpPr>
          <p:cNvPr id="99" name="TextBox 98"/>
          <p:cNvSpPr txBox="1"/>
          <p:nvPr/>
        </p:nvSpPr>
        <p:spPr>
          <a:xfrm>
            <a:off x="3410712" y="3017520"/>
            <a:ext cx="2331720" cy="868680"/>
          </a:xfrm>
          <a:prstGeom prst="rect">
            <a:avLst/>
          </a:prstGeom>
          <a:noFill/>
        </p:spPr>
        <p:txBody>
          <a:bodyPr wrap="square" anchor="t" lIns="50800" rIns="50800" tIns="25400" bIns="25400">
            <a:spAutoFit/>
          </a:bodyPr>
          <a:lstStyle/>
          <a:p>
            <a:pPr algn="l"/>
            <a:r>
              <a:rPr sz="1000" b="0" i="1">
                <a:solidFill>
                  <a:srgbClr val="1E2761"/>
                </a:solidFill>
              </a:rPr>
              <a:t>Sync waves, webhooks, scrape, policy collisions. Where humans still earn salary.</a:t>
            </a:r>
          </a:p>
        </p:txBody>
      </p:sp>
      <p:sp>
        <p:nvSpPr>
          <p:cNvPr id="100" name="Rectangle 99"/>
          <p:cNvSpPr/>
          <p:nvPr/>
        </p:nvSpPr>
        <p:spPr>
          <a:xfrm>
            <a:off x="5998464" y="1600200"/>
            <a:ext cx="2606040" cy="23317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135624" y="1737360"/>
            <a:ext cx="2331720" cy="457200"/>
          </a:xfrm>
          <a:prstGeom prst="rect">
            <a:avLst/>
          </a:prstGeom>
          <a:noFill/>
        </p:spPr>
        <p:txBody>
          <a:bodyPr wrap="square" anchor="t" lIns="50800" rIns="50800" tIns="25400" bIns="25400">
            <a:spAutoFit/>
          </a:bodyPr>
          <a:lstStyle/>
          <a:p>
            <a:pPr algn="l"/>
            <a:r>
              <a:rPr sz="1900" b="1" i="0">
                <a:solidFill>
                  <a:srgbClr val="1E2761"/>
                </a:solidFill>
              </a:rPr>
              <a:t>Usability</a:t>
            </a:r>
          </a:p>
        </p:txBody>
      </p:sp>
      <p:sp>
        <p:nvSpPr>
          <p:cNvPr id="102" name="TextBox 101"/>
          <p:cNvSpPr txBox="1"/>
          <p:nvPr/>
        </p:nvSpPr>
        <p:spPr>
          <a:xfrm>
            <a:off x="6135624" y="2240280"/>
            <a:ext cx="2331720" cy="868680"/>
          </a:xfrm>
          <a:prstGeom prst="rect">
            <a:avLst/>
          </a:prstGeom>
          <a:noFill/>
        </p:spPr>
        <p:txBody>
          <a:bodyPr wrap="square" anchor="t" lIns="50800" rIns="50800" tIns="25400" bIns="25400">
            <a:spAutoFit/>
          </a:bodyPr>
          <a:lstStyle/>
          <a:p>
            <a:pPr algn="l"/>
            <a:r>
              <a:rPr sz="1200" b="1" i="0">
                <a:solidFill>
                  <a:srgbClr val="4A4A4A"/>
                </a:solidFill>
              </a:rPr>
              <a:t>Could a developer drive this Monday morning?</a:t>
            </a:r>
          </a:p>
        </p:txBody>
      </p:sp>
      <p:sp>
        <p:nvSpPr>
          <p:cNvPr id="103" name="TextBox 102"/>
          <p:cNvSpPr txBox="1"/>
          <p:nvPr/>
        </p:nvSpPr>
        <p:spPr>
          <a:xfrm>
            <a:off x="6135624" y="3017520"/>
            <a:ext cx="2331720" cy="868680"/>
          </a:xfrm>
          <a:prstGeom prst="rect">
            <a:avLst/>
          </a:prstGeom>
          <a:noFill/>
        </p:spPr>
        <p:txBody>
          <a:bodyPr wrap="square" anchor="t" lIns="50800" rIns="50800" tIns="25400" bIns="25400">
            <a:spAutoFit/>
          </a:bodyPr>
          <a:lstStyle/>
          <a:p>
            <a:pPr algn="l"/>
            <a:r>
              <a:rPr sz="1000" b="0" i="1">
                <a:solidFill>
                  <a:srgbClr val="1E2761"/>
                </a:solidFill>
              </a:rPr>
              <a:t>Clear UI. Sensible defaults. The right things are discoverable.</a:t>
            </a:r>
          </a:p>
        </p:txBody>
      </p:sp>
      <p:sp>
        <p:nvSpPr>
          <p:cNvPr id="104" name="TextBox 103"/>
          <p:cNvSpPr txBox="1"/>
          <p:nvPr/>
        </p:nvSpPr>
        <p:spPr>
          <a:xfrm>
            <a:off x="548640" y="4069080"/>
            <a:ext cx="8046720" cy="365760"/>
          </a:xfrm>
          <a:prstGeom prst="rect">
            <a:avLst/>
          </a:prstGeom>
          <a:noFill/>
        </p:spPr>
        <p:txBody>
          <a:bodyPr wrap="square" anchor="t" lIns="50800" rIns="50800" tIns="25400" bIns="25400">
            <a:spAutoFit/>
          </a:bodyPr>
          <a:lstStyle/>
          <a:p>
            <a:pPr algn="ctr"/>
            <a:r>
              <a:rPr sz="1100" b="0" i="1">
                <a:solidFill>
                  <a:srgbClr val="888888"/>
                </a:solidFill>
              </a:rPr>
              <a:t>Plus: correction cycles (count) and AI wall-clock time (minutes).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pic>
        <p:nvPicPr>
          <p:cNvPr id="96" name="Google Shape;96;p7"/>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97" name="TextBox 9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TODAY’S BUILD</a:t>
            </a:r>
          </a:p>
        </p:txBody>
      </p:sp>
      <p:sp>
        <p:nvSpPr>
          <p:cNvPr id="98" name="TextBox 97"/>
          <p:cNvSpPr txBox="1"/>
          <p:nvPr/>
        </p:nvSpPr>
        <p:spPr>
          <a:xfrm>
            <a:off x="548640" y="594360"/>
            <a:ext cx="8046720" cy="457200"/>
          </a:xfrm>
          <a:prstGeom prst="rect">
            <a:avLst/>
          </a:prstGeom>
          <a:noFill/>
        </p:spPr>
        <p:txBody>
          <a:bodyPr wrap="square" anchor="t" lIns="50800" rIns="50800" tIns="25400" bIns="25400">
            <a:spAutoFit/>
          </a:bodyPr>
          <a:lstStyle/>
          <a:p>
            <a:pPr algn="l"/>
            <a:r>
              <a:rPr sz="2000" b="1" i="0">
                <a:solidFill>
                  <a:srgbClr val="1E2761"/>
                </a:solidFill>
              </a:rPr>
              <a:t>7 Phases. 27 Components. As Far As We Get.</a:t>
            </a:r>
          </a:p>
        </p:txBody>
      </p:sp>
      <p:sp>
        <p:nvSpPr>
          <p:cNvPr id="99" name="Rectangle 98"/>
          <p:cNvSpPr/>
          <p:nvPr/>
        </p:nvSpPr>
        <p:spPr>
          <a:xfrm>
            <a:off x="548640" y="1188720"/>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48640" y="1188720"/>
            <a:ext cx="365760" cy="384048"/>
          </a:xfrm>
          <a:prstGeom prst="rect">
            <a:avLst/>
          </a:prstGeom>
          <a:noFill/>
        </p:spPr>
        <p:txBody>
          <a:bodyPr wrap="square" anchor="ctr" lIns="50800" rIns="50800" tIns="25400" bIns="25400">
            <a:spAutoFit/>
          </a:bodyPr>
          <a:lstStyle/>
          <a:p>
            <a:pPr algn="ctr"/>
            <a:r>
              <a:rPr sz="1400" b="1" i="0">
                <a:solidFill>
                  <a:srgbClr val="FFFFFF"/>
                </a:solidFill>
              </a:rPr>
              <a:t>1</a:t>
            </a:r>
          </a:p>
        </p:txBody>
      </p:sp>
      <p:sp>
        <p:nvSpPr>
          <p:cNvPr id="101" name="TextBox 100"/>
          <p:cNvSpPr txBox="1"/>
          <p:nvPr/>
        </p:nvSpPr>
        <p:spPr>
          <a:xfrm>
            <a:off x="1051560" y="1170432"/>
            <a:ext cx="7589520" cy="256032"/>
          </a:xfrm>
          <a:prstGeom prst="rect">
            <a:avLst/>
          </a:prstGeom>
          <a:noFill/>
        </p:spPr>
        <p:txBody>
          <a:bodyPr wrap="square" anchor="t" lIns="50800" rIns="50800" tIns="25400" bIns="25400">
            <a:spAutoFit/>
          </a:bodyPr>
          <a:lstStyle/>
          <a:p>
            <a:pPr algn="l"/>
            <a:r>
              <a:rPr sz="1400" b="1" i="0">
                <a:solidFill>
                  <a:srgbClr val="1E2761"/>
                </a:solidFill>
              </a:rPr>
              <a:t>Foundation</a:t>
            </a:r>
          </a:p>
        </p:txBody>
      </p:sp>
      <p:sp>
        <p:nvSpPr>
          <p:cNvPr id="102" name="TextBox 101"/>
          <p:cNvSpPr txBox="1"/>
          <p:nvPr/>
        </p:nvSpPr>
        <p:spPr>
          <a:xfrm>
            <a:off x="1051560" y="1389888"/>
            <a:ext cx="7589520" cy="256032"/>
          </a:xfrm>
          <a:prstGeom prst="rect">
            <a:avLst/>
          </a:prstGeom>
          <a:noFill/>
        </p:spPr>
        <p:txBody>
          <a:bodyPr wrap="square" anchor="t" lIns="50800" rIns="50800" tIns="25400" bIns="25400">
            <a:spAutoFit/>
          </a:bodyPr>
          <a:lstStyle/>
          <a:p>
            <a:pPr algn="l"/>
            <a:r>
              <a:rPr sz="900" b="0" i="0">
                <a:solidFill>
                  <a:srgbClr val="4A4A4A"/>
                </a:solidFill>
              </a:rPr>
              <a:t>Assert pre-provisioned cluster, IAM, namespaces (no manifests generated)</a:t>
            </a:r>
          </a:p>
        </p:txBody>
      </p:sp>
      <p:sp>
        <p:nvSpPr>
          <p:cNvPr id="103" name="Rectangle 102"/>
          <p:cNvSpPr/>
          <p:nvPr/>
        </p:nvSpPr>
        <p:spPr>
          <a:xfrm>
            <a:off x="548640" y="1609344"/>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48640" y="1609344"/>
            <a:ext cx="365760" cy="384048"/>
          </a:xfrm>
          <a:prstGeom prst="rect">
            <a:avLst/>
          </a:prstGeom>
          <a:noFill/>
        </p:spPr>
        <p:txBody>
          <a:bodyPr wrap="square" anchor="ctr" lIns="50800" rIns="50800" tIns="25400" bIns="25400">
            <a:spAutoFit/>
          </a:bodyPr>
          <a:lstStyle/>
          <a:p>
            <a:pPr algn="ctr"/>
            <a:r>
              <a:rPr sz="1400" b="1" i="0">
                <a:solidFill>
                  <a:srgbClr val="FFFFFF"/>
                </a:solidFill>
              </a:rPr>
              <a:t>2</a:t>
            </a:r>
          </a:p>
        </p:txBody>
      </p:sp>
      <p:sp>
        <p:nvSpPr>
          <p:cNvPr id="105" name="TextBox 104"/>
          <p:cNvSpPr txBox="1"/>
          <p:nvPr/>
        </p:nvSpPr>
        <p:spPr>
          <a:xfrm>
            <a:off x="1051560" y="1591056"/>
            <a:ext cx="7589520" cy="256032"/>
          </a:xfrm>
          <a:prstGeom prst="rect">
            <a:avLst/>
          </a:prstGeom>
          <a:noFill/>
        </p:spPr>
        <p:txBody>
          <a:bodyPr wrap="square" anchor="t" lIns="50800" rIns="50800" tIns="25400" bIns="25400">
            <a:spAutoFit/>
          </a:bodyPr>
          <a:lstStyle/>
          <a:p>
            <a:pPr algn="l"/>
            <a:r>
              <a:rPr sz="1400" b="1" i="0">
                <a:solidFill>
                  <a:srgbClr val="1E2761"/>
                </a:solidFill>
              </a:rPr>
              <a:t>GitOps</a:t>
            </a:r>
          </a:p>
        </p:txBody>
      </p:sp>
      <p:sp>
        <p:nvSpPr>
          <p:cNvPr id="106" name="TextBox 105"/>
          <p:cNvSpPr txBox="1"/>
          <p:nvPr/>
        </p:nvSpPr>
        <p:spPr>
          <a:xfrm>
            <a:off x="1051560" y="1810512"/>
            <a:ext cx="7589520" cy="256032"/>
          </a:xfrm>
          <a:prstGeom prst="rect">
            <a:avLst/>
          </a:prstGeom>
          <a:noFill/>
        </p:spPr>
        <p:txBody>
          <a:bodyPr wrap="square" anchor="t" lIns="50800" rIns="50800" tIns="25400" bIns="25400">
            <a:spAutoFit/>
          </a:bodyPr>
          <a:lstStyle/>
          <a:p>
            <a:pPr algn="l"/>
            <a:r>
              <a:rPr sz="900" b="0" i="0">
                <a:solidFill>
                  <a:srgbClr val="4A4A4A"/>
                </a:solidFill>
              </a:rPr>
              <a:t>ArgoCD install + app-of-apps → 21 child Applications reconcile in parallel</a:t>
            </a:r>
          </a:p>
        </p:txBody>
      </p:sp>
      <p:sp>
        <p:nvSpPr>
          <p:cNvPr id="107" name="Rectangle 106"/>
          <p:cNvSpPr/>
          <p:nvPr/>
        </p:nvSpPr>
        <p:spPr>
          <a:xfrm>
            <a:off x="548640" y="2029968"/>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48640" y="2029968"/>
            <a:ext cx="365760" cy="384048"/>
          </a:xfrm>
          <a:prstGeom prst="rect">
            <a:avLst/>
          </a:prstGeom>
          <a:noFill/>
        </p:spPr>
        <p:txBody>
          <a:bodyPr wrap="square" anchor="ctr" lIns="50800" rIns="50800" tIns="25400" bIns="25400">
            <a:spAutoFit/>
          </a:bodyPr>
          <a:lstStyle/>
          <a:p>
            <a:pPr algn="ctr"/>
            <a:r>
              <a:rPr sz="1400" b="1" i="0">
                <a:solidFill>
                  <a:srgbClr val="FFFFFF"/>
                </a:solidFill>
              </a:rPr>
              <a:t>3</a:t>
            </a:r>
          </a:p>
        </p:txBody>
      </p:sp>
      <p:sp>
        <p:nvSpPr>
          <p:cNvPr id="109" name="TextBox 108"/>
          <p:cNvSpPr txBox="1"/>
          <p:nvPr/>
        </p:nvSpPr>
        <p:spPr>
          <a:xfrm>
            <a:off x="1051560" y="2011680"/>
            <a:ext cx="7589520" cy="256032"/>
          </a:xfrm>
          <a:prstGeom prst="rect">
            <a:avLst/>
          </a:prstGeom>
          <a:noFill/>
        </p:spPr>
        <p:txBody>
          <a:bodyPr wrap="square" anchor="t" lIns="50800" rIns="50800" tIns="25400" bIns="25400">
            <a:spAutoFit/>
          </a:bodyPr>
          <a:lstStyle/>
          <a:p>
            <a:pPr algn="l"/>
            <a:r>
              <a:rPr sz="1400" b="1" i="0">
                <a:solidFill>
                  <a:srgbClr val="1E2761"/>
                </a:solidFill>
              </a:rPr>
              <a:t>Security</a:t>
            </a:r>
          </a:p>
        </p:txBody>
      </p:sp>
      <p:sp>
        <p:nvSpPr>
          <p:cNvPr id="110" name="TextBox 109"/>
          <p:cNvSpPr txBox="1"/>
          <p:nvPr/>
        </p:nvSpPr>
        <p:spPr>
          <a:xfrm>
            <a:off x="1051560" y="2231136"/>
            <a:ext cx="7589520" cy="256032"/>
          </a:xfrm>
          <a:prstGeom prst="rect">
            <a:avLst/>
          </a:prstGeom>
          <a:noFill/>
        </p:spPr>
        <p:txBody>
          <a:bodyPr wrap="square" anchor="t" lIns="50800" rIns="50800" tIns="25400" bIns="25400">
            <a:spAutoFit/>
          </a:bodyPr>
          <a:lstStyle/>
          <a:p>
            <a:pPr algn="l"/>
            <a:r>
              <a:rPr sz="900" b="0" i="0">
                <a:solidFill>
                  <a:srgbClr val="4A4A4A"/>
                </a:solidFill>
              </a:rPr>
              <a:t>Kyverno + 3 policies, Falco + falcosidekick + falco-talon, ESO, RBAC, NetworkPolicies</a:t>
            </a:r>
          </a:p>
        </p:txBody>
      </p:sp>
      <p:sp>
        <p:nvSpPr>
          <p:cNvPr id="111" name="Rectangle 110"/>
          <p:cNvSpPr/>
          <p:nvPr/>
        </p:nvSpPr>
        <p:spPr>
          <a:xfrm>
            <a:off x="548640" y="2450592"/>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48640" y="2450592"/>
            <a:ext cx="365760" cy="384048"/>
          </a:xfrm>
          <a:prstGeom prst="rect">
            <a:avLst/>
          </a:prstGeom>
          <a:noFill/>
        </p:spPr>
        <p:txBody>
          <a:bodyPr wrap="square" anchor="ctr" lIns="50800" rIns="50800" tIns="25400" bIns="25400">
            <a:spAutoFit/>
          </a:bodyPr>
          <a:lstStyle/>
          <a:p>
            <a:pPr algn="ctr"/>
            <a:r>
              <a:rPr sz="1400" b="1" i="0">
                <a:solidFill>
                  <a:srgbClr val="FFFFFF"/>
                </a:solidFill>
              </a:rPr>
              <a:t>4</a:t>
            </a:r>
          </a:p>
        </p:txBody>
      </p:sp>
      <p:sp>
        <p:nvSpPr>
          <p:cNvPr id="113" name="TextBox 112"/>
          <p:cNvSpPr txBox="1"/>
          <p:nvPr/>
        </p:nvSpPr>
        <p:spPr>
          <a:xfrm>
            <a:off x="1051560" y="2432304"/>
            <a:ext cx="7589520" cy="256032"/>
          </a:xfrm>
          <a:prstGeom prst="rect">
            <a:avLst/>
          </a:prstGeom>
          <a:noFill/>
        </p:spPr>
        <p:txBody>
          <a:bodyPr wrap="square" anchor="t" lIns="50800" rIns="50800" tIns="25400" bIns="25400">
            <a:spAutoFit/>
          </a:bodyPr>
          <a:lstStyle/>
          <a:p>
            <a:pPr algn="l"/>
            <a:r>
              <a:rPr sz="1400" b="1" i="0">
                <a:solidFill>
                  <a:srgbClr val="1E2761"/>
                </a:solidFill>
              </a:rPr>
              <a:t>Observability</a:t>
            </a:r>
          </a:p>
        </p:txBody>
      </p:sp>
      <p:sp>
        <p:nvSpPr>
          <p:cNvPr id="114" name="TextBox 113"/>
          <p:cNvSpPr txBox="1"/>
          <p:nvPr/>
        </p:nvSpPr>
        <p:spPr>
          <a:xfrm>
            <a:off x="1051560" y="2651760"/>
            <a:ext cx="7589520" cy="256032"/>
          </a:xfrm>
          <a:prstGeom prst="rect">
            <a:avLst/>
          </a:prstGeom>
          <a:noFill/>
        </p:spPr>
        <p:txBody>
          <a:bodyPr wrap="square" anchor="t" lIns="50800" rIns="50800" tIns="25400" bIns="25400">
            <a:spAutoFit/>
          </a:bodyPr>
          <a:lstStyle/>
          <a:p>
            <a:pPr algn="l"/>
            <a:r>
              <a:rPr sz="900" b="0" i="0">
                <a:solidFill>
                  <a:srgbClr val="4A4A4A"/>
                </a:solidFill>
              </a:rPr>
              <a:t>kube-prometheus-stack, Grafana, OTel Collector, Loki, Promtail, Tempo, ArgoCD ServiceMonitors</a:t>
            </a:r>
          </a:p>
        </p:txBody>
      </p:sp>
      <p:sp>
        <p:nvSpPr>
          <p:cNvPr id="115" name="Rectangle 114"/>
          <p:cNvSpPr/>
          <p:nvPr/>
        </p:nvSpPr>
        <p:spPr>
          <a:xfrm>
            <a:off x="548640" y="2871216"/>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48640" y="2871216"/>
            <a:ext cx="365760" cy="384048"/>
          </a:xfrm>
          <a:prstGeom prst="rect">
            <a:avLst/>
          </a:prstGeom>
          <a:noFill/>
        </p:spPr>
        <p:txBody>
          <a:bodyPr wrap="square" anchor="ctr" lIns="50800" rIns="50800" tIns="25400" bIns="25400">
            <a:spAutoFit/>
          </a:bodyPr>
          <a:lstStyle/>
          <a:p>
            <a:pPr algn="ctr"/>
            <a:r>
              <a:rPr sz="1400" b="1" i="0">
                <a:solidFill>
                  <a:srgbClr val="FFFFFF"/>
                </a:solidFill>
              </a:rPr>
              <a:t>5</a:t>
            </a:r>
          </a:p>
        </p:txBody>
      </p:sp>
      <p:sp>
        <p:nvSpPr>
          <p:cNvPr id="117" name="TextBox 116"/>
          <p:cNvSpPr txBox="1"/>
          <p:nvPr/>
        </p:nvSpPr>
        <p:spPr>
          <a:xfrm>
            <a:off x="1051560" y="2852928"/>
            <a:ext cx="7589520" cy="256032"/>
          </a:xfrm>
          <a:prstGeom prst="rect">
            <a:avLst/>
          </a:prstGeom>
          <a:noFill/>
        </p:spPr>
        <p:txBody>
          <a:bodyPr wrap="square" anchor="t" lIns="50800" rIns="50800" tIns="25400" bIns="25400">
            <a:spAutoFit/>
          </a:bodyPr>
          <a:lstStyle/>
          <a:p>
            <a:pPr algn="l"/>
            <a:r>
              <a:rPr sz="1400" b="1" i="0">
                <a:solidFill>
                  <a:srgbClr val="1E2761"/>
                </a:solidFill>
              </a:rPr>
              <a:t>Portal</a:t>
            </a:r>
          </a:p>
        </p:txBody>
      </p:sp>
      <p:sp>
        <p:nvSpPr>
          <p:cNvPr id="118" name="TextBox 117"/>
          <p:cNvSpPr txBox="1"/>
          <p:nvPr/>
        </p:nvSpPr>
        <p:spPr>
          <a:xfrm>
            <a:off x="1051560" y="3072384"/>
            <a:ext cx="7589520" cy="256032"/>
          </a:xfrm>
          <a:prstGeom prst="rect">
            <a:avLst/>
          </a:prstGeom>
          <a:noFill/>
        </p:spPr>
        <p:txBody>
          <a:bodyPr wrap="square" anchor="t" lIns="50800" rIns="50800" tIns="25400" bIns="25400">
            <a:spAutoFit/>
          </a:bodyPr>
          <a:lstStyle/>
          <a:p>
            <a:pPr algn="l"/>
            <a:r>
              <a:rPr sz="900" b="0" i="0">
                <a:solidFill>
                  <a:srgbClr val="4A4A4A"/>
                </a:solidFill>
              </a:rPr>
              <a:t>Backstage (with appConfig override + image pin — the trap that defines the phase)</a:t>
            </a:r>
          </a:p>
        </p:txBody>
      </p:sp>
      <p:sp>
        <p:nvSpPr>
          <p:cNvPr id="119" name="Rectangle 118"/>
          <p:cNvSpPr/>
          <p:nvPr/>
        </p:nvSpPr>
        <p:spPr>
          <a:xfrm>
            <a:off x="548640" y="3291840"/>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48640" y="3291840"/>
            <a:ext cx="365760" cy="384048"/>
          </a:xfrm>
          <a:prstGeom prst="rect">
            <a:avLst/>
          </a:prstGeom>
          <a:noFill/>
        </p:spPr>
        <p:txBody>
          <a:bodyPr wrap="square" anchor="ctr" lIns="50800" rIns="50800" tIns="25400" bIns="25400">
            <a:spAutoFit/>
          </a:bodyPr>
          <a:lstStyle/>
          <a:p>
            <a:pPr algn="ctr"/>
            <a:r>
              <a:rPr sz="1400" b="1" i="0">
                <a:solidFill>
                  <a:srgbClr val="FFFFFF"/>
                </a:solidFill>
              </a:rPr>
              <a:t>6</a:t>
            </a:r>
          </a:p>
        </p:txBody>
      </p:sp>
      <p:sp>
        <p:nvSpPr>
          <p:cNvPr id="121" name="TextBox 120"/>
          <p:cNvSpPr txBox="1"/>
          <p:nvPr/>
        </p:nvSpPr>
        <p:spPr>
          <a:xfrm>
            <a:off x="1051560" y="3273552"/>
            <a:ext cx="7589520" cy="256032"/>
          </a:xfrm>
          <a:prstGeom prst="rect">
            <a:avLst/>
          </a:prstGeom>
          <a:noFill/>
        </p:spPr>
        <p:txBody>
          <a:bodyPr wrap="square" anchor="t" lIns="50800" rIns="50800" tIns="25400" bIns="25400">
            <a:spAutoFit/>
          </a:bodyPr>
          <a:lstStyle/>
          <a:p>
            <a:pPr algn="l"/>
            <a:r>
              <a:rPr sz="1400" b="1" i="0">
                <a:solidFill>
                  <a:srgbClr val="1E2761"/>
                </a:solidFill>
              </a:rPr>
              <a:t>Integration</a:t>
            </a:r>
          </a:p>
        </p:txBody>
      </p:sp>
      <p:sp>
        <p:nvSpPr>
          <p:cNvPr id="122" name="TextBox 121"/>
          <p:cNvSpPr txBox="1"/>
          <p:nvPr/>
        </p:nvSpPr>
        <p:spPr>
          <a:xfrm>
            <a:off x="1051560" y="3493008"/>
            <a:ext cx="7589520" cy="256032"/>
          </a:xfrm>
          <a:prstGeom prst="rect">
            <a:avLst/>
          </a:prstGeom>
          <a:noFill/>
        </p:spPr>
        <p:txBody>
          <a:bodyPr wrap="square" anchor="t" lIns="50800" rIns="50800" tIns="25400" bIns="25400">
            <a:spAutoFit/>
          </a:bodyPr>
          <a:lstStyle/>
          <a:p>
            <a:pPr algn="l"/>
            <a:r>
              <a:rPr sz="900" b="0" i="0">
                <a:solidFill>
                  <a:srgbClr val="4A4A4A"/>
                </a:solidFill>
              </a:rPr>
              <a:t>Cross-component: GitOps drift reversion, admission firing during scrape, audit trail</a:t>
            </a:r>
          </a:p>
        </p:txBody>
      </p:sp>
      <p:sp>
        <p:nvSpPr>
          <p:cNvPr id="123" name="Rectangle 122"/>
          <p:cNvSpPr/>
          <p:nvPr/>
        </p:nvSpPr>
        <p:spPr>
          <a:xfrm>
            <a:off x="548640" y="3712464"/>
            <a:ext cx="36576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48640" y="3712464"/>
            <a:ext cx="365760" cy="384048"/>
          </a:xfrm>
          <a:prstGeom prst="rect">
            <a:avLst/>
          </a:prstGeom>
          <a:noFill/>
        </p:spPr>
        <p:txBody>
          <a:bodyPr wrap="square" anchor="ctr" lIns="50800" rIns="50800" tIns="25400" bIns="25400">
            <a:spAutoFit/>
          </a:bodyPr>
          <a:lstStyle/>
          <a:p>
            <a:pPr algn="ctr"/>
            <a:r>
              <a:rPr sz="1400" b="1" i="0">
                <a:solidFill>
                  <a:srgbClr val="FFFFFF"/>
                </a:solidFill>
              </a:rPr>
              <a:t>7</a:t>
            </a:r>
          </a:p>
        </p:txBody>
      </p:sp>
      <p:sp>
        <p:nvSpPr>
          <p:cNvPr id="125" name="TextBox 124"/>
          <p:cNvSpPr txBox="1"/>
          <p:nvPr/>
        </p:nvSpPr>
        <p:spPr>
          <a:xfrm>
            <a:off x="1051560" y="3694176"/>
            <a:ext cx="7589520" cy="256032"/>
          </a:xfrm>
          <a:prstGeom prst="rect">
            <a:avLst/>
          </a:prstGeom>
          <a:noFill/>
        </p:spPr>
        <p:txBody>
          <a:bodyPr wrap="square" anchor="t" lIns="50800" rIns="50800" tIns="25400" bIns="25400">
            <a:spAutoFit/>
          </a:bodyPr>
          <a:lstStyle/>
          <a:p>
            <a:pPr algn="l"/>
            <a:r>
              <a:rPr sz="1400" b="1" i="0">
                <a:solidFill>
                  <a:srgbClr val="1E2761"/>
                </a:solidFill>
              </a:rPr>
              <a:t>Hardening</a:t>
            </a:r>
          </a:p>
        </p:txBody>
      </p:sp>
      <p:sp>
        <p:nvSpPr>
          <p:cNvPr id="126" name="TextBox 125"/>
          <p:cNvSpPr txBox="1"/>
          <p:nvPr/>
        </p:nvSpPr>
        <p:spPr>
          <a:xfrm>
            <a:off x="1051560" y="3913632"/>
            <a:ext cx="7589520" cy="256032"/>
          </a:xfrm>
          <a:prstGeom prst="rect">
            <a:avLst/>
          </a:prstGeom>
          <a:noFill/>
        </p:spPr>
        <p:txBody>
          <a:bodyPr wrap="square" anchor="t" lIns="50800" rIns="50800" tIns="25400" bIns="25400">
            <a:spAutoFit/>
          </a:bodyPr>
          <a:lstStyle/>
          <a:p>
            <a:pPr algn="l"/>
            <a:r>
              <a:rPr sz="900" b="0" i="0">
                <a:solidFill>
                  <a:srgbClr val="4A4A4A"/>
                </a:solidFill>
              </a:rPr>
              <a:t>cert-manager + ClusterIssuers, ResourceQuotas, PDBs</a:t>
            </a:r>
          </a:p>
        </p:txBody>
      </p:sp>
      <p:sp>
        <p:nvSpPr>
          <p:cNvPr id="127" name="TextBox 126"/>
          <p:cNvSpPr txBox="1"/>
          <p:nvPr/>
        </p:nvSpPr>
        <p:spPr>
          <a:xfrm>
            <a:off x="548640" y="4160520"/>
            <a:ext cx="8046720" cy="320040"/>
          </a:xfrm>
          <a:prstGeom prst="rect">
            <a:avLst/>
          </a:prstGeom>
          <a:noFill/>
        </p:spPr>
        <p:txBody>
          <a:bodyPr wrap="square" anchor="t" lIns="50800" rIns="50800" tIns="25400" bIns="25400">
            <a:spAutoFit/>
          </a:bodyPr>
          <a:lstStyle/>
          <a:p>
            <a:pPr algn="ctr"/>
            <a:r>
              <a:rPr sz="1000" b="0" i="1">
                <a:solidFill>
                  <a:srgbClr val="888888"/>
                </a:solidFill>
              </a:rPr>
              <a:t>Phase 2 fans out everything. Phases 3–7 wait for components to reach Healthy and score them.</a:t>
            </a:r>
          </a:p>
        </p:txBody>
      </p:sp>
      <p:sp>
        <p:nvSpPr>
          <p:cNvPr id="128" name="TextBox 127"/>
          <p:cNvSpPr txBox="1"/>
          <p:nvPr/>
        </p:nvSpPr>
        <p:spPr>
          <a:xfrm>
            <a:off x="548640" y="4480560"/>
            <a:ext cx="8046720" cy="320040"/>
          </a:xfrm>
          <a:prstGeom prst="rect">
            <a:avLst/>
          </a:prstGeom>
          <a:noFill/>
        </p:spPr>
        <p:txBody>
          <a:bodyPr wrap="square" anchor="t" lIns="50800" rIns="50800" tIns="25400" bIns="25400">
            <a:spAutoFit/>
          </a:bodyPr>
          <a:lstStyle/>
          <a:p>
            <a:pPr algn="ctr"/>
            <a:r>
              <a:rPr sz="1300" b="1" i="1">
                <a:solidFill>
                  <a:srgbClr val="FF6B35"/>
                </a:solidFill>
              </a:rPr>
              <a:t>How far we get is how far we get.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TextBox 100"/>
          <p:cNvSpPr txBox="1"/>
          <p:nvPr/>
        </p:nvSpPr>
        <p:spPr>
          <a:xfrm>
            <a:off x="548640" y="365760"/>
            <a:ext cx="8046720" cy="320040"/>
          </a:xfrm>
          <a:prstGeom prst="rect">
            <a:avLst/>
          </a:prstGeom>
          <a:noFill/>
        </p:spPr>
        <p:txBody>
          <a:bodyPr wrap="square" anchor="t" lIns="50800" rIns="50800" tIns="25400" bIns="25400">
            <a:spAutoFit/>
          </a:bodyPr>
          <a:lstStyle/>
          <a:p>
            <a:pPr algn="l"/>
            <a:r>
              <a:rPr sz="1100" b="1" i="0">
                <a:solidFill>
                  <a:srgbClr val="FF6B35"/>
                </a:solidFill>
              </a:rPr>
              <a:t>NOW WE GO LIVE</a:t>
            </a:r>
          </a:p>
        </p:txBody>
      </p:sp>
      <p:sp>
        <p:nvSpPr>
          <p:cNvPr id="102" name="TextBox 101"/>
          <p:cNvSpPr txBox="1"/>
          <p:nvPr/>
        </p:nvSpPr>
        <p:spPr>
          <a:xfrm>
            <a:off x="548640" y="685800"/>
            <a:ext cx="8046720" cy="548640"/>
          </a:xfrm>
          <a:prstGeom prst="rect">
            <a:avLst/>
          </a:prstGeom>
          <a:noFill/>
        </p:spPr>
        <p:txBody>
          <a:bodyPr wrap="square" anchor="t" lIns="50800" rIns="50800" tIns="25400" bIns="25400">
            <a:spAutoFit/>
          </a:bodyPr>
          <a:lstStyle/>
          <a:p>
            <a:pPr algn="l"/>
            <a:r>
              <a:rPr sz="2800" b="1" i="0">
                <a:solidFill>
                  <a:srgbClr val="1E2761"/>
                </a:solidFill>
              </a:rPr>
              <a:t>Open your laptops.</a:t>
            </a:r>
          </a:p>
        </p:txBody>
      </p:sp>
      <p:sp>
        <p:nvSpPr>
          <p:cNvPr id="103" name="TextBox 102"/>
          <p:cNvSpPr txBox="1"/>
          <p:nvPr/>
        </p:nvSpPr>
        <p:spPr>
          <a:xfrm>
            <a:off x="548640" y="1280160"/>
            <a:ext cx="8046720" cy="320040"/>
          </a:xfrm>
          <a:prstGeom prst="rect">
            <a:avLst/>
          </a:prstGeom>
          <a:noFill/>
        </p:spPr>
        <p:txBody>
          <a:bodyPr wrap="square" anchor="t" lIns="50800" rIns="50800" tIns="25400" bIns="25400">
            <a:spAutoFit/>
          </a:bodyPr>
          <a:lstStyle/>
          <a:p>
            <a:pPr algn="l"/>
            <a:r>
              <a:rPr sz="1200" b="0" i="0">
                <a:solidFill>
                  <a:srgbClr val="4A4A4A"/>
                </a:solidFill>
              </a:rPr>
              <a:t>Whichever path you picked from slide 1, get to a working claude session:</a:t>
            </a:r>
          </a:p>
        </p:txBody>
      </p:sp>
      <p:sp>
        <p:nvSpPr>
          <p:cNvPr id="104" name="Rectangle 103"/>
          <p:cNvSpPr/>
          <p:nvPr/>
        </p:nvSpPr>
        <p:spPr>
          <a:xfrm>
            <a:off x="548640" y="1691640"/>
            <a:ext cx="457200" cy="29260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8640" y="1691640"/>
            <a:ext cx="457200" cy="292608"/>
          </a:xfrm>
          <a:prstGeom prst="rect">
            <a:avLst/>
          </a:prstGeom>
          <a:noFill/>
        </p:spPr>
        <p:txBody>
          <a:bodyPr wrap="square" anchor="ctr" lIns="50800" rIns="50800" tIns="25400" bIns="25400">
            <a:spAutoFit/>
          </a:bodyPr>
          <a:lstStyle/>
          <a:p>
            <a:pPr algn="ctr"/>
            <a:r>
              <a:rPr sz="1200" b="1" i="0">
                <a:solidFill>
                  <a:srgbClr val="FFFFFF"/>
                </a:solidFill>
              </a:rPr>
              <a:t>A</a:t>
            </a:r>
          </a:p>
        </p:txBody>
      </p:sp>
      <p:sp>
        <p:nvSpPr>
          <p:cNvPr id="106" name="TextBox 105"/>
          <p:cNvSpPr txBox="1"/>
          <p:nvPr/>
        </p:nvSpPr>
        <p:spPr>
          <a:xfrm>
            <a:off x="1097280" y="1691640"/>
            <a:ext cx="2926080" cy="292608"/>
          </a:xfrm>
          <a:prstGeom prst="rect">
            <a:avLst/>
          </a:prstGeom>
          <a:noFill/>
        </p:spPr>
        <p:txBody>
          <a:bodyPr wrap="square" anchor="ctr" lIns="50800" rIns="50800" tIns="25400" bIns="25400">
            <a:spAutoFit/>
          </a:bodyPr>
          <a:lstStyle/>
          <a:p>
            <a:pPr algn="l"/>
            <a:r>
              <a:rPr sz="1100" b="1" i="0">
                <a:solidFill>
                  <a:srgbClr val="1E2761"/>
                </a:solidFill>
              </a:rPr>
              <a:t>BROWSER (KodeKloud)</a:t>
            </a:r>
          </a:p>
        </p:txBody>
      </p:sp>
      <p:sp>
        <p:nvSpPr>
          <p:cNvPr id="107" name="Rectangle 106"/>
          <p:cNvSpPr/>
          <p:nvPr/>
        </p:nvSpPr>
        <p:spPr>
          <a:xfrm>
            <a:off x="548640" y="2057400"/>
            <a:ext cx="4023360" cy="2331720"/>
          </a:xfrm>
          <a:prstGeom prst="rect">
            <a:avLst/>
          </a:prstGeom>
          <a:solidFill>
            <a:srgbClr val="10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85800" y="2121408"/>
            <a:ext cx="3840480" cy="2240280"/>
          </a:xfrm>
          <a:prstGeom prst="rect">
            <a:avLst/>
          </a:prstGeom>
          <a:noFill/>
        </p:spPr>
        <p:txBody>
          <a:bodyPr wrap="square" anchor="t" lIns="50800" rIns="50800" tIns="25400" bIns="25400">
            <a:spAutoFit/>
          </a:bodyPr>
          <a:lstStyle/>
          <a:p>
            <a:pPr algn="l"/>
            <a:r>
              <a:rPr sz="800" b="0" i="0">
                <a:solidFill>
                  <a:srgbClr val="888888"/>
                </a:solidFill>
                <a:latin typeface="Courier New"/>
              </a:rPr>
              <a:t># Already in browser shell</a:t>
            </a:r>
          </a:p>
          <a:p>
            <a:pPr algn="l"/>
            <a:r>
              <a:rPr sz="900" b="0" i="0">
                <a:solidFill>
                  <a:srgbClr val="FFFFFF"/>
                </a:solidFill>
                <a:latin typeface="Courier New"/>
              </a:rPr>
              <a:t>$ kubectl get nodes  # nodes Ready</a:t>
            </a:r>
          </a:p>
          <a:p>
            <a:pPr algn="l"/>
            <a:r>
              <a:rPr sz="900" b="0" i="0">
                <a:solidFill>
                  <a:srgbClr val="FFFFFF"/>
                </a:solidFill>
                <a:latin typeface="Courier New"/>
              </a:rPr>
              <a:t>$ git clone &lt;repo-URL&gt;</a:t>
            </a:r>
          </a:p>
          <a:p>
            <a:pPr algn="l"/>
            <a:r>
              <a:rPr sz="900" b="0" i="0">
                <a:solidFill>
                  <a:srgbClr val="FFFFFF"/>
                </a:solidFill>
                <a:latin typeface="Courier New"/>
              </a:rPr>
              <a:t>$ cd KCD_Texas_2026_Workshop</a:t>
            </a:r>
          </a:p>
          <a:p>
            <a:pPr algn="l"/>
            <a:r>
              <a:rPr sz="900" b="0" i="0">
                <a:solidFill>
                  <a:srgbClr val="CADCFC"/>
                </a:solidFill>
                <a:latin typeface="Courier New"/>
              </a:rPr>
              <a:t>$ claude</a:t>
            </a:r>
          </a:p>
          <a:p>
            <a:pPr algn="l"/>
            <a:r>
              <a:rPr sz="900" b="0" i="1">
                <a:solidFill>
                  <a:srgbClr val="CADCFC"/>
                </a:solidFill>
                <a:latin typeface="Courier New"/>
              </a:rPr>
              <a:t>&gt; Paste prompt from</a:t>
            </a:r>
          </a:p>
          <a:p>
            <a:pPr algn="l"/>
            <a:r>
              <a:rPr sz="900" b="0" i="1">
                <a:solidFill>
                  <a:srgbClr val="CADCFC"/>
                </a:solidFill>
                <a:latin typeface="Courier New"/>
              </a:rPr>
              <a:t xml:space="preserve">  spec/BUILD-SPEC.md (top)</a:t>
            </a:r>
          </a:p>
          <a:p>
            <a:pPr algn="l"/>
            <a:r>
              <a:rPr sz="900" b="0" i="0">
                <a:solidFill>
                  <a:srgbClr val="FFFFFF"/>
                </a:solidFill>
              </a:rPr>
              <a:t/>
            </a:r>
          </a:p>
          <a:p>
            <a:pPr algn="l"/>
            <a:r>
              <a:rPr sz="800" b="0" i="0">
                <a:solidFill>
                  <a:srgbClr val="888888"/>
                </a:solidFill>
                <a:latin typeface="Courier New"/>
              </a:rPr>
              <a:t># Claude detects cluster type</a:t>
            </a:r>
          </a:p>
          <a:p>
            <a:pPr algn="l"/>
            <a:r>
              <a:rPr sz="800" b="0" i="0">
                <a:solidFill>
                  <a:srgbClr val="888888"/>
                </a:solidFill>
                <a:latin typeface="Courier New"/>
              </a:rPr>
              <a:t># and adapts Phases 1, 3, 7</a:t>
            </a:r>
          </a:p>
          <a:p>
            <a:pPr algn="l"/>
            <a:r>
              <a:rPr sz="800" b="0" i="0">
                <a:solidFill>
                  <a:srgbClr val="888888"/>
                </a:solidFill>
                <a:latin typeface="Courier New"/>
              </a:rPr>
              <a:t># to vanilla kubeadm vs EKS.</a:t>
            </a:r>
          </a:p>
        </p:txBody>
      </p:sp>
      <p:sp>
        <p:nvSpPr>
          <p:cNvPr id="109" name="Rectangle 108"/>
          <p:cNvSpPr/>
          <p:nvPr/>
        </p:nvSpPr>
        <p:spPr>
          <a:xfrm>
            <a:off x="4663440" y="1691640"/>
            <a:ext cx="457200" cy="292608"/>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663440" y="1691640"/>
            <a:ext cx="457200" cy="292608"/>
          </a:xfrm>
          <a:prstGeom prst="rect">
            <a:avLst/>
          </a:prstGeom>
          <a:noFill/>
        </p:spPr>
        <p:txBody>
          <a:bodyPr wrap="square" anchor="ctr" lIns="50800" rIns="50800" tIns="25400" bIns="25400">
            <a:spAutoFit/>
          </a:bodyPr>
          <a:lstStyle/>
          <a:p>
            <a:pPr algn="ctr"/>
            <a:r>
              <a:rPr sz="1200" b="1" i="0">
                <a:solidFill>
                  <a:srgbClr val="FFFFFF"/>
                </a:solidFill>
              </a:rPr>
              <a:t>B</a:t>
            </a:r>
          </a:p>
        </p:txBody>
      </p:sp>
      <p:sp>
        <p:nvSpPr>
          <p:cNvPr id="111" name="TextBox 110"/>
          <p:cNvSpPr txBox="1"/>
          <p:nvPr/>
        </p:nvSpPr>
        <p:spPr>
          <a:xfrm>
            <a:off x="5212080" y="1691640"/>
            <a:ext cx="3200400" cy="292608"/>
          </a:xfrm>
          <a:prstGeom prst="rect">
            <a:avLst/>
          </a:prstGeom>
          <a:noFill/>
        </p:spPr>
        <p:txBody>
          <a:bodyPr wrap="square" anchor="ctr" lIns="50800" rIns="50800" tIns="25400" bIns="25400">
            <a:spAutoFit/>
          </a:bodyPr>
          <a:lstStyle/>
          <a:p>
            <a:pPr algn="l"/>
            <a:r>
              <a:rPr sz="1100" b="1" i="0">
                <a:solidFill>
                  <a:srgbClr val="1E2761"/>
                </a:solidFill>
              </a:rPr>
              <a:t>TERMINAL (Accenture EKS)</a:t>
            </a:r>
          </a:p>
        </p:txBody>
      </p:sp>
      <p:sp>
        <p:nvSpPr>
          <p:cNvPr id="112" name="Rectangle 111"/>
          <p:cNvSpPr/>
          <p:nvPr/>
        </p:nvSpPr>
        <p:spPr>
          <a:xfrm>
            <a:off x="4663440" y="2057400"/>
            <a:ext cx="3931920" cy="2331720"/>
          </a:xfrm>
          <a:prstGeom prst="rect">
            <a:avLst/>
          </a:prstGeom>
          <a:solidFill>
            <a:srgbClr val="10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800600" y="2121408"/>
            <a:ext cx="3749039" cy="2240280"/>
          </a:xfrm>
          <a:prstGeom prst="rect">
            <a:avLst/>
          </a:prstGeom>
          <a:noFill/>
        </p:spPr>
        <p:txBody>
          <a:bodyPr wrap="square" anchor="t" lIns="50800" rIns="50800" tIns="25400" bIns="25400">
            <a:spAutoFit/>
          </a:bodyPr>
          <a:lstStyle/>
          <a:p>
            <a:pPr algn="l"/>
            <a:r>
              <a:rPr sz="800" b="0" i="0">
                <a:solidFill>
                  <a:srgbClr val="888888"/>
                </a:solidFill>
                <a:latin typeface="Courier New"/>
              </a:rPr>
              <a:t># Creds from Railway success page</a:t>
            </a:r>
          </a:p>
          <a:p>
            <a:pPr algn="l"/>
            <a:r>
              <a:rPr sz="900" b="0" i="0">
                <a:solidFill>
                  <a:srgbClr val="FFFFFF"/>
                </a:solidFill>
                <a:latin typeface="Courier New"/>
              </a:rPr>
              <a:t>$ aws configure</a:t>
            </a:r>
          </a:p>
          <a:p>
            <a:pPr algn="l"/>
            <a:r>
              <a:rPr sz="900" b="0" i="0">
                <a:solidFill>
                  <a:srgbClr val="FFFFFF"/>
                </a:solidFill>
                <a:latin typeface="Courier New"/>
              </a:rPr>
              <a:t>$ aws eks update-kubeconfig \\</a:t>
            </a:r>
          </a:p>
          <a:p>
            <a:pPr algn="l"/>
            <a:r>
              <a:rPr sz="900" b="0" i="0">
                <a:solidFill>
                  <a:srgbClr val="FFFFFF"/>
                </a:solidFill>
                <a:latin typeface="Courier New"/>
              </a:rPr>
              <a:t xml:space="preserve">    --name kcd-tx-attendee-NN \\</a:t>
            </a:r>
          </a:p>
          <a:p>
            <a:pPr algn="l"/>
            <a:r>
              <a:rPr sz="900" b="0" i="0">
                <a:solidFill>
                  <a:srgbClr val="FFFFFF"/>
                </a:solidFill>
                <a:latin typeface="Courier New"/>
              </a:rPr>
              <a:t xml:space="preserve">    --region us-east-2</a:t>
            </a:r>
          </a:p>
          <a:p>
            <a:pPr algn="l"/>
            <a:r>
              <a:rPr sz="900" b="0" i="0">
                <a:solidFill>
                  <a:srgbClr val="FFFFFF"/>
                </a:solidFill>
                <a:latin typeface="Courier New"/>
              </a:rPr>
              <a:t>$ kubectl get nodes  # nodes Ready</a:t>
            </a:r>
          </a:p>
          <a:p>
            <a:pPr algn="l"/>
            <a:r>
              <a:rPr sz="900" b="0" i="0">
                <a:solidFill>
                  <a:srgbClr val="FFFFFF"/>
                </a:solidFill>
                <a:latin typeface="Courier New"/>
              </a:rPr>
              <a:t>$ git clone &lt;repo-URL&gt;</a:t>
            </a:r>
          </a:p>
          <a:p>
            <a:pPr algn="l"/>
            <a:r>
              <a:rPr sz="900" b="0" i="0">
                <a:solidFill>
                  <a:srgbClr val="FFFFFF"/>
                </a:solidFill>
                <a:latin typeface="Courier New"/>
              </a:rPr>
              <a:t>$ cd KCD_Texas_2026_Workshop</a:t>
            </a:r>
          </a:p>
          <a:p>
            <a:pPr algn="l"/>
            <a:r>
              <a:rPr sz="900" b="0" i="0">
                <a:solidFill>
                  <a:srgbClr val="CADCFC"/>
                </a:solidFill>
                <a:latin typeface="Courier New"/>
              </a:rPr>
              <a:t>$ claude</a:t>
            </a:r>
          </a:p>
          <a:p>
            <a:pPr algn="l"/>
            <a:r>
              <a:rPr sz="900" b="0" i="1">
                <a:solidFill>
                  <a:srgbClr val="CADCFC"/>
                </a:solidFill>
                <a:latin typeface="Courier New"/>
              </a:rPr>
              <a:t>&gt; Paste prompt from</a:t>
            </a:r>
          </a:p>
          <a:p>
            <a:pPr algn="l"/>
            <a:r>
              <a:rPr sz="900" b="0" i="1">
                <a:solidFill>
                  <a:srgbClr val="CADCFC"/>
                </a:solidFill>
                <a:latin typeface="Courier New"/>
              </a:rPr>
              <a:t xml:space="preserve">  spec/BUILD-SPEC.md (top)</a:t>
            </a:r>
          </a:p>
        </p:txBody>
      </p:sp>
      <p:sp>
        <p:nvSpPr>
          <p:cNvPr id="114" name="TextBox 113"/>
          <p:cNvSpPr txBox="1"/>
          <p:nvPr/>
        </p:nvSpPr>
        <p:spPr>
          <a:xfrm>
            <a:off x="548640" y="4526280"/>
            <a:ext cx="8046720" cy="292608"/>
          </a:xfrm>
          <a:prstGeom prst="rect">
            <a:avLst/>
          </a:prstGeom>
          <a:noFill/>
        </p:spPr>
        <p:txBody>
          <a:bodyPr wrap="square" anchor="t" lIns="50800" rIns="50800" tIns="25400" bIns="25400">
            <a:spAutoFit/>
          </a:bodyPr>
          <a:lstStyle/>
          <a:p>
            <a:pPr algn="ctr"/>
            <a:r>
              <a:rPr sz="1000" b="1" i="1">
                <a:solidFill>
                  <a:srgbClr val="1E2761"/>
                </a:solidFill>
              </a:rPr>
              <a:t>I'm on EKS up here; most of you are on KodeKloud. Phases 3 + 7 will look different on your screen vs. mine — that divergence IS the data.</a:t>
            </a:r>
          </a:p>
        </p:txBody>
      </p:sp>
      <p:sp>
        <p:nvSpPr>
          <p:cNvPr id="115" name="TextBox 114"/>
          <p:cNvSpPr txBox="1"/>
          <p:nvPr/>
        </p:nvSpPr>
        <p:spPr>
          <a:xfrm>
            <a:off x="548640" y="4846320"/>
            <a:ext cx="8046720" cy="292608"/>
          </a:xfrm>
          <a:prstGeom prst="rect">
            <a:avLst/>
          </a:prstGeom>
          <a:noFill/>
        </p:spPr>
        <p:txBody>
          <a:bodyPr wrap="square" anchor="t" lIns="50800" rIns="50800" tIns="25400" bIns="25400">
            <a:spAutoFit/>
          </a:bodyPr>
          <a:lstStyle/>
          <a:p>
            <a:pPr algn="ctr"/>
            <a:r>
              <a:rPr sz="1000" b="0" i="1">
                <a:solidFill>
                  <a:srgbClr val="888888"/>
                </a:solidFill>
              </a:rPr>
              <a:t>No TAs today — just me. Setup window is the only time I can help individuals.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TextBox 80"/>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WHAT YOU’RE ABOUT TO WATCH</a:t>
            </a:r>
          </a:p>
        </p:txBody>
      </p:sp>
      <p:sp>
        <p:nvSpPr>
          <p:cNvPr id="82" name="TextBox 81"/>
          <p:cNvSpPr txBox="1"/>
          <p:nvPr/>
        </p:nvSpPr>
        <p:spPr>
          <a:xfrm>
            <a:off x="548640" y="731520"/>
            <a:ext cx="8046720" cy="548640"/>
          </a:xfrm>
          <a:prstGeom prst="rect">
            <a:avLst/>
          </a:prstGeom>
          <a:noFill/>
        </p:spPr>
        <p:txBody>
          <a:bodyPr wrap="square" anchor="t" lIns="50800" rIns="50800" tIns="25400" bIns="25400">
            <a:spAutoFit/>
          </a:bodyPr>
          <a:lstStyle/>
          <a:p>
            <a:pPr algn="l"/>
            <a:r>
              <a:rPr sz="2600" b="1" i="0">
                <a:solidFill>
                  <a:srgbClr val="1E2761"/>
                </a:solidFill>
              </a:rPr>
              <a:t>The Spec-Driven Loop</a:t>
            </a:r>
          </a:p>
        </p:txBody>
      </p:sp>
      <p:sp>
        <p:nvSpPr>
          <p:cNvPr id="83" name="Rectangle 82"/>
          <p:cNvSpPr/>
          <p:nvPr/>
        </p:nvSpPr>
        <p:spPr>
          <a:xfrm>
            <a:off x="548640" y="14630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48640" y="1463040"/>
            <a:ext cx="365760" cy="365760"/>
          </a:xfrm>
          <a:prstGeom prst="rect">
            <a:avLst/>
          </a:prstGeom>
          <a:noFill/>
        </p:spPr>
        <p:txBody>
          <a:bodyPr wrap="square" anchor="ctr" lIns="50800" rIns="50800" tIns="25400" bIns="25400">
            <a:spAutoFit/>
          </a:bodyPr>
          <a:lstStyle/>
          <a:p>
            <a:pPr algn="ctr"/>
            <a:r>
              <a:rPr sz="1300" b="1" i="0">
                <a:solidFill>
                  <a:srgbClr val="FFFFFF"/>
                </a:solidFill>
              </a:rPr>
              <a:t>1</a:t>
            </a:r>
          </a:p>
        </p:txBody>
      </p:sp>
      <p:sp>
        <p:nvSpPr>
          <p:cNvPr id="85" name="TextBox 84"/>
          <p:cNvSpPr txBox="1"/>
          <p:nvPr/>
        </p:nvSpPr>
        <p:spPr>
          <a:xfrm>
            <a:off x="1051560" y="1435608"/>
            <a:ext cx="7589520" cy="274320"/>
          </a:xfrm>
          <a:prstGeom prst="rect">
            <a:avLst/>
          </a:prstGeom>
          <a:noFill/>
        </p:spPr>
        <p:txBody>
          <a:bodyPr wrap="square" anchor="t" lIns="50800" rIns="50800" tIns="25400" bIns="25400">
            <a:spAutoFit/>
          </a:bodyPr>
          <a:lstStyle/>
          <a:p>
            <a:pPr algn="l"/>
            <a:r>
              <a:rPr sz="1300" b="1" i="0">
                <a:solidFill>
                  <a:srgbClr val="1E2761"/>
                </a:solidFill>
              </a:rPr>
              <a:t>I paste the spec</a:t>
            </a:r>
          </a:p>
        </p:txBody>
      </p:sp>
      <p:sp>
        <p:nvSpPr>
          <p:cNvPr id="86" name="TextBox 85"/>
          <p:cNvSpPr txBox="1"/>
          <p:nvPr/>
        </p:nvSpPr>
        <p:spPr>
          <a:xfrm>
            <a:off x="1051560" y="1664208"/>
            <a:ext cx="7589520" cy="274320"/>
          </a:xfrm>
          <a:prstGeom prst="rect">
            <a:avLst/>
          </a:prstGeom>
          <a:noFill/>
        </p:spPr>
        <p:txBody>
          <a:bodyPr wrap="square" anchor="t" lIns="50800" rIns="50800" tIns="25400" bIns="25400">
            <a:spAutoFit/>
          </a:bodyPr>
          <a:lstStyle/>
          <a:p>
            <a:pPr algn="l"/>
            <a:r>
              <a:rPr sz="1000" b="0" i="0">
                <a:solidFill>
                  <a:srgbClr val="4A4A4A"/>
                </a:solidFill>
              </a:rPr>
              <a:t>spec/BUILD-SPEC.md — single paste, autonomous run.</a:t>
            </a:r>
          </a:p>
        </p:txBody>
      </p:sp>
      <p:sp>
        <p:nvSpPr>
          <p:cNvPr id="87" name="Rectangle 86"/>
          <p:cNvSpPr/>
          <p:nvPr/>
        </p:nvSpPr>
        <p:spPr>
          <a:xfrm>
            <a:off x="548640" y="19202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8640" y="1920240"/>
            <a:ext cx="365760" cy="365760"/>
          </a:xfrm>
          <a:prstGeom prst="rect">
            <a:avLst/>
          </a:prstGeom>
          <a:noFill/>
        </p:spPr>
        <p:txBody>
          <a:bodyPr wrap="square" anchor="ctr" lIns="50800" rIns="50800" tIns="25400" bIns="25400">
            <a:spAutoFit/>
          </a:bodyPr>
          <a:lstStyle/>
          <a:p>
            <a:pPr algn="ctr"/>
            <a:r>
              <a:rPr sz="1300" b="1" i="0">
                <a:solidFill>
                  <a:srgbClr val="FFFFFF"/>
                </a:solidFill>
              </a:rPr>
              <a:t>2</a:t>
            </a:r>
          </a:p>
        </p:txBody>
      </p:sp>
      <p:sp>
        <p:nvSpPr>
          <p:cNvPr id="89" name="TextBox 88"/>
          <p:cNvSpPr txBox="1"/>
          <p:nvPr/>
        </p:nvSpPr>
        <p:spPr>
          <a:xfrm>
            <a:off x="1051560" y="1892808"/>
            <a:ext cx="7589520" cy="274320"/>
          </a:xfrm>
          <a:prstGeom prst="rect">
            <a:avLst/>
          </a:prstGeom>
          <a:noFill/>
        </p:spPr>
        <p:txBody>
          <a:bodyPr wrap="square" anchor="t" lIns="50800" rIns="50800" tIns="25400" bIns="25400">
            <a:spAutoFit/>
          </a:bodyPr>
          <a:lstStyle/>
          <a:p>
            <a:pPr algn="l"/>
            <a:r>
              <a:rPr sz="1300" b="1" i="0">
                <a:solidFill>
                  <a:srgbClr val="1E2761"/>
                </a:solidFill>
              </a:rPr>
              <a:t>Claude reads the skill</a:t>
            </a:r>
          </a:p>
        </p:txBody>
      </p:sp>
      <p:sp>
        <p:nvSpPr>
          <p:cNvPr id="90" name="TextBox 89"/>
          <p:cNvSpPr txBox="1"/>
          <p:nvPr/>
        </p:nvSpPr>
        <p:spPr>
          <a:xfrm>
            <a:off x="1051560" y="2121408"/>
            <a:ext cx="7589520" cy="274320"/>
          </a:xfrm>
          <a:prstGeom prst="rect">
            <a:avLst/>
          </a:prstGeom>
          <a:noFill/>
        </p:spPr>
        <p:txBody>
          <a:bodyPr wrap="square" anchor="t" lIns="50800" rIns="50800" tIns="25400" bIns="25400">
            <a:spAutoFit/>
          </a:bodyPr>
          <a:lstStyle/>
          <a:p>
            <a:pPr algn="l"/>
            <a:r>
              <a:rPr sz="1000" b="0" i="0">
                <a:solidFill>
                  <a:srgbClr val="4A4A4A"/>
                </a:solidFill>
              </a:rPr>
              <a:t>argocd-patterns / kyverno-policies / kube-prometheus-stack / backstage-templates.</a:t>
            </a:r>
          </a:p>
        </p:txBody>
      </p:sp>
      <p:sp>
        <p:nvSpPr>
          <p:cNvPr id="91" name="Rectangle 90"/>
          <p:cNvSpPr/>
          <p:nvPr/>
        </p:nvSpPr>
        <p:spPr>
          <a:xfrm>
            <a:off x="548640" y="23774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48640" y="2377440"/>
            <a:ext cx="365760" cy="365760"/>
          </a:xfrm>
          <a:prstGeom prst="rect">
            <a:avLst/>
          </a:prstGeom>
          <a:noFill/>
        </p:spPr>
        <p:txBody>
          <a:bodyPr wrap="square" anchor="ctr" lIns="50800" rIns="50800" tIns="25400" bIns="25400">
            <a:spAutoFit/>
          </a:bodyPr>
          <a:lstStyle/>
          <a:p>
            <a:pPr algn="ctr"/>
            <a:r>
              <a:rPr sz="1300" b="1" i="0">
                <a:solidFill>
                  <a:srgbClr val="FFFFFF"/>
                </a:solidFill>
              </a:rPr>
              <a:t>3</a:t>
            </a:r>
          </a:p>
        </p:txBody>
      </p:sp>
      <p:sp>
        <p:nvSpPr>
          <p:cNvPr id="93" name="TextBox 92"/>
          <p:cNvSpPr txBox="1"/>
          <p:nvPr/>
        </p:nvSpPr>
        <p:spPr>
          <a:xfrm>
            <a:off x="1051560" y="2350008"/>
            <a:ext cx="7589520" cy="274320"/>
          </a:xfrm>
          <a:prstGeom prst="rect">
            <a:avLst/>
          </a:prstGeom>
          <a:noFill/>
        </p:spPr>
        <p:txBody>
          <a:bodyPr wrap="square" anchor="t" lIns="50800" rIns="50800" tIns="25400" bIns="25400">
            <a:spAutoFit/>
          </a:bodyPr>
          <a:lstStyle/>
          <a:p>
            <a:pPr algn="l"/>
            <a:r>
              <a:rPr sz="1300" b="1" i="0">
                <a:solidFill>
                  <a:srgbClr val="1E2761"/>
                </a:solidFill>
              </a:rPr>
              <a:t>Claude generates a manifest</a:t>
            </a:r>
          </a:p>
        </p:txBody>
      </p:sp>
      <p:sp>
        <p:nvSpPr>
          <p:cNvPr id="94" name="TextBox 93"/>
          <p:cNvSpPr txBox="1"/>
          <p:nvPr/>
        </p:nvSpPr>
        <p:spPr>
          <a:xfrm>
            <a:off x="1051560" y="2578608"/>
            <a:ext cx="7589520" cy="274320"/>
          </a:xfrm>
          <a:prstGeom prst="rect">
            <a:avLst/>
          </a:prstGeom>
          <a:noFill/>
        </p:spPr>
        <p:txBody>
          <a:bodyPr wrap="square" anchor="t" lIns="50800" rIns="50800" tIns="25400" bIns="25400">
            <a:spAutoFit/>
          </a:bodyPr>
          <a:lstStyle/>
          <a:p>
            <a:pPr algn="l"/>
            <a:r>
              <a:rPr sz="1000" b="0" i="0">
                <a:solidFill>
                  <a:srgbClr val="4A4A4A"/>
                </a:solidFill>
              </a:rPr>
              <a:t>~/my-&lt;component&gt;.yaml — diffed against the pre-committed gitops/ ground truth on the projector.</a:t>
            </a:r>
          </a:p>
        </p:txBody>
      </p:sp>
      <p:sp>
        <p:nvSpPr>
          <p:cNvPr id="95" name="Rectangle 94"/>
          <p:cNvSpPr/>
          <p:nvPr/>
        </p:nvSpPr>
        <p:spPr>
          <a:xfrm>
            <a:off x="548640" y="28346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48640" y="2834640"/>
            <a:ext cx="365760" cy="365760"/>
          </a:xfrm>
          <a:prstGeom prst="rect">
            <a:avLst/>
          </a:prstGeom>
          <a:noFill/>
        </p:spPr>
        <p:txBody>
          <a:bodyPr wrap="square" anchor="ctr" lIns="50800" rIns="50800" tIns="25400" bIns="25400">
            <a:spAutoFit/>
          </a:bodyPr>
          <a:lstStyle/>
          <a:p>
            <a:pPr algn="ctr"/>
            <a:r>
              <a:rPr sz="1300" b="1" i="0">
                <a:solidFill>
                  <a:srgbClr val="FFFFFF"/>
                </a:solidFill>
              </a:rPr>
              <a:t>4</a:t>
            </a:r>
          </a:p>
        </p:txBody>
      </p:sp>
      <p:sp>
        <p:nvSpPr>
          <p:cNvPr id="97" name="TextBox 96"/>
          <p:cNvSpPr txBox="1"/>
          <p:nvPr/>
        </p:nvSpPr>
        <p:spPr>
          <a:xfrm>
            <a:off x="1051560" y="2807208"/>
            <a:ext cx="7589520" cy="274320"/>
          </a:xfrm>
          <a:prstGeom prst="rect">
            <a:avLst/>
          </a:prstGeom>
          <a:noFill/>
        </p:spPr>
        <p:txBody>
          <a:bodyPr wrap="square" anchor="t" lIns="50800" rIns="50800" tIns="25400" bIns="25400">
            <a:spAutoFit/>
          </a:bodyPr>
          <a:lstStyle/>
          <a:p>
            <a:pPr algn="l"/>
            <a:r>
              <a:rPr sz="1300" b="1" i="0">
                <a:solidFill>
                  <a:srgbClr val="1E2761"/>
                </a:solidFill>
              </a:rPr>
              <a:t>We apply + run the gate</a:t>
            </a:r>
          </a:p>
        </p:txBody>
      </p:sp>
      <p:sp>
        <p:nvSpPr>
          <p:cNvPr id="98" name="TextBox 97"/>
          <p:cNvSpPr txBox="1"/>
          <p:nvPr/>
        </p:nvSpPr>
        <p:spPr>
          <a:xfrm>
            <a:off x="1051560" y="3035808"/>
            <a:ext cx="7589520" cy="274320"/>
          </a:xfrm>
          <a:prstGeom prst="rect">
            <a:avLst/>
          </a:prstGeom>
          <a:noFill/>
        </p:spPr>
        <p:txBody>
          <a:bodyPr wrap="square" anchor="t" lIns="50800" rIns="50800" tIns="25400" bIns="25400">
            <a:spAutoFit/>
          </a:bodyPr>
          <a:lstStyle/>
          <a:p>
            <a:pPr algn="l"/>
            <a:r>
              <a:rPr sz="1000" b="0" i="0">
                <a:solidFill>
                  <a:srgbClr val="4A4A4A"/>
                </a:solidFill>
              </a:rPr>
              <a:t>kubectl apply, then pytest tests/test_phase_0N_*.py -v.</a:t>
            </a:r>
          </a:p>
        </p:txBody>
      </p:sp>
      <p:sp>
        <p:nvSpPr>
          <p:cNvPr id="99" name="Rectangle 98"/>
          <p:cNvSpPr/>
          <p:nvPr/>
        </p:nvSpPr>
        <p:spPr>
          <a:xfrm>
            <a:off x="548640" y="32918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48640" y="3291840"/>
            <a:ext cx="365760" cy="365760"/>
          </a:xfrm>
          <a:prstGeom prst="rect">
            <a:avLst/>
          </a:prstGeom>
          <a:noFill/>
        </p:spPr>
        <p:txBody>
          <a:bodyPr wrap="square" anchor="ctr" lIns="50800" rIns="50800" tIns="25400" bIns="25400">
            <a:spAutoFit/>
          </a:bodyPr>
          <a:lstStyle/>
          <a:p>
            <a:pPr algn="ctr"/>
            <a:r>
              <a:rPr sz="1300" b="1" i="0">
                <a:solidFill>
                  <a:srgbClr val="FFFFFF"/>
                </a:solidFill>
              </a:rPr>
              <a:t>5</a:t>
            </a:r>
          </a:p>
        </p:txBody>
      </p:sp>
      <p:sp>
        <p:nvSpPr>
          <p:cNvPr id="101" name="TextBox 100"/>
          <p:cNvSpPr txBox="1"/>
          <p:nvPr/>
        </p:nvSpPr>
        <p:spPr>
          <a:xfrm>
            <a:off x="1051560" y="3264408"/>
            <a:ext cx="7589520" cy="274320"/>
          </a:xfrm>
          <a:prstGeom prst="rect">
            <a:avLst/>
          </a:prstGeom>
          <a:noFill/>
        </p:spPr>
        <p:txBody>
          <a:bodyPr wrap="square" anchor="t" lIns="50800" rIns="50800" tIns="25400" bIns="25400">
            <a:spAutoFit/>
          </a:bodyPr>
          <a:lstStyle/>
          <a:p>
            <a:pPr algn="l"/>
            <a:r>
              <a:rPr sz="1300" b="1" i="0">
                <a:solidFill>
                  <a:srgbClr val="1E2761"/>
                </a:solidFill>
              </a:rPr>
              <a:t>Promise on green</a:t>
            </a:r>
          </a:p>
        </p:txBody>
      </p:sp>
      <p:sp>
        <p:nvSpPr>
          <p:cNvPr id="102" name="TextBox 101"/>
          <p:cNvSpPr txBox="1"/>
          <p:nvPr/>
        </p:nvSpPr>
        <p:spPr>
          <a:xfrm>
            <a:off x="1051560" y="3493008"/>
            <a:ext cx="7589520" cy="274320"/>
          </a:xfrm>
          <a:prstGeom prst="rect">
            <a:avLst/>
          </a:prstGeom>
          <a:noFill/>
        </p:spPr>
        <p:txBody>
          <a:bodyPr wrap="square" anchor="t" lIns="50800" rIns="50800" tIns="25400" bIns="25400">
            <a:spAutoFit/>
          </a:bodyPr>
          <a:lstStyle/>
          <a:p>
            <a:pPr algn="l"/>
            <a:r>
              <a:rPr sz="1000" b="0" i="0">
                <a:solidFill>
                  <a:srgbClr val="4A4A4A"/>
                </a:solidFill>
              </a:rPr>
              <a:t>&lt;promise&gt;PHASE_N_DONE&lt;/promise&gt; only when ALL tests pass. Otherwise PHASE_N_FAILED.</a:t>
            </a:r>
          </a:p>
        </p:txBody>
      </p:sp>
      <p:sp>
        <p:nvSpPr>
          <p:cNvPr id="103" name="Rectangle 102"/>
          <p:cNvSpPr/>
          <p:nvPr/>
        </p:nvSpPr>
        <p:spPr>
          <a:xfrm>
            <a:off x="548640" y="3749040"/>
            <a:ext cx="3657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48640" y="3749040"/>
            <a:ext cx="365760" cy="365760"/>
          </a:xfrm>
          <a:prstGeom prst="rect">
            <a:avLst/>
          </a:prstGeom>
          <a:noFill/>
        </p:spPr>
        <p:txBody>
          <a:bodyPr wrap="square" anchor="ctr" lIns="50800" rIns="50800" tIns="25400" bIns="25400">
            <a:spAutoFit/>
          </a:bodyPr>
          <a:lstStyle/>
          <a:p>
            <a:pPr algn="ctr"/>
            <a:r>
              <a:rPr sz="1300" b="1" i="0">
                <a:solidFill>
                  <a:srgbClr val="FFFFFF"/>
                </a:solidFill>
              </a:rPr>
              <a:t>6</a:t>
            </a:r>
          </a:p>
        </p:txBody>
      </p:sp>
      <p:sp>
        <p:nvSpPr>
          <p:cNvPr id="105" name="TextBox 104"/>
          <p:cNvSpPr txBox="1"/>
          <p:nvPr/>
        </p:nvSpPr>
        <p:spPr>
          <a:xfrm>
            <a:off x="1051560" y="3721608"/>
            <a:ext cx="7589520" cy="274320"/>
          </a:xfrm>
          <a:prstGeom prst="rect">
            <a:avLst/>
          </a:prstGeom>
          <a:noFill/>
        </p:spPr>
        <p:txBody>
          <a:bodyPr wrap="square" anchor="t" lIns="50800" rIns="50800" tIns="25400" bIns="25400">
            <a:spAutoFit/>
          </a:bodyPr>
          <a:lstStyle/>
          <a:p>
            <a:pPr algn="l"/>
            <a:r>
              <a:rPr sz="1300" b="1" i="0">
                <a:solidFill>
                  <a:srgbClr val="1E2761"/>
                </a:solidFill>
              </a:rPr>
              <a:t>Score and continue</a:t>
            </a:r>
          </a:p>
        </p:txBody>
      </p:sp>
      <p:sp>
        <p:nvSpPr>
          <p:cNvPr id="106" name="TextBox 105"/>
          <p:cNvSpPr txBox="1"/>
          <p:nvPr/>
        </p:nvSpPr>
        <p:spPr>
          <a:xfrm>
            <a:off x="1051560" y="3950208"/>
            <a:ext cx="7589520" cy="274320"/>
          </a:xfrm>
          <a:prstGeom prst="rect">
            <a:avLst/>
          </a:prstGeom>
          <a:noFill/>
        </p:spPr>
        <p:txBody>
          <a:bodyPr wrap="square" anchor="t" lIns="50800" rIns="50800" tIns="25400" bIns="25400">
            <a:spAutoFit/>
          </a:bodyPr>
          <a:lstStyle/>
          <a:p>
            <a:pPr algn="l"/>
            <a:r>
              <a:rPr sz="1000" b="0" i="0">
                <a:solidFill>
                  <a:srgbClr val="4A4A4A"/>
                </a:solidFill>
              </a:rPr>
              <a:t>Install / Integration / Usability on the live scorecard. Then “continue” and Claude moves to Phase N+1.</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pic>
        <p:nvPicPr>
          <p:cNvPr id="89" name="Google Shape;89;p6"/>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90" name="TextBox 89"/>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WHAT CLAUDE KNOWS BEFORE WE START</a:t>
            </a:r>
          </a:p>
        </p:txBody>
      </p:sp>
      <p:sp>
        <p:nvSpPr>
          <p:cNvPr id="91" name="TextBox 90"/>
          <p:cNvSpPr txBox="1"/>
          <p:nvPr/>
        </p:nvSpPr>
        <p:spPr>
          <a:xfrm>
            <a:off x="548640" y="594360"/>
            <a:ext cx="8046720" cy="457200"/>
          </a:xfrm>
          <a:prstGeom prst="rect">
            <a:avLst/>
          </a:prstGeom>
          <a:noFill/>
        </p:spPr>
        <p:txBody>
          <a:bodyPr wrap="square" anchor="t" lIns="50800" rIns="50800" tIns="25400" bIns="25400">
            <a:spAutoFit/>
          </a:bodyPr>
          <a:lstStyle/>
          <a:p>
            <a:pPr algn="l"/>
            <a:r>
              <a:rPr sz="2000" b="1" i="0">
                <a:solidFill>
                  <a:srgbClr val="1E2761"/>
                </a:solidFill>
              </a:rPr>
              <a:t>Skills Auto-Loaded from .claude/skills/</a:t>
            </a:r>
          </a:p>
        </p:txBody>
      </p:sp>
      <p:sp>
        <p:nvSpPr>
          <p:cNvPr id="92" name="TextBox 91"/>
          <p:cNvSpPr txBox="1"/>
          <p:nvPr/>
        </p:nvSpPr>
        <p:spPr>
          <a:xfrm>
            <a:off x="548640" y="1188720"/>
            <a:ext cx="2743200" cy="228600"/>
          </a:xfrm>
          <a:prstGeom prst="rect">
            <a:avLst/>
          </a:prstGeom>
          <a:noFill/>
        </p:spPr>
        <p:txBody>
          <a:bodyPr wrap="square" anchor="t" lIns="50800" rIns="50800" tIns="25400" bIns="25400">
            <a:spAutoFit/>
          </a:bodyPr>
          <a:lstStyle/>
          <a:p>
            <a:pPr algn="l"/>
            <a:r>
              <a:rPr sz="1100" b="1" i="0">
                <a:solidFill>
                  <a:srgbClr val="FF6B35"/>
                </a:solidFill>
              </a:rPr>
              <a:t>argocd-patterns.md</a:t>
            </a:r>
          </a:p>
        </p:txBody>
      </p:sp>
      <p:sp>
        <p:nvSpPr>
          <p:cNvPr id="93" name="TextBox 92"/>
          <p:cNvSpPr txBox="1"/>
          <p:nvPr/>
        </p:nvSpPr>
        <p:spPr>
          <a:xfrm>
            <a:off x="548640" y="1399032"/>
            <a:ext cx="8046720" cy="228600"/>
          </a:xfrm>
          <a:prstGeom prst="rect">
            <a:avLst/>
          </a:prstGeom>
          <a:noFill/>
        </p:spPr>
        <p:txBody>
          <a:bodyPr wrap="square" anchor="t" lIns="50800" rIns="50800" tIns="25400" bIns="25400">
            <a:spAutoFit/>
          </a:bodyPr>
          <a:lstStyle/>
          <a:p>
            <a:pPr algn="l"/>
            <a:r>
              <a:rPr sz="900" b="0" i="0">
                <a:solidFill>
                  <a:srgbClr val="4A4A4A"/>
                </a:solidFill>
              </a:rPr>
              <a:t>Chart 9.x → ArgoCD 3.x. Annotation-based tracking. SSA on CRD-heavy charts.</a:t>
            </a:r>
          </a:p>
        </p:txBody>
      </p:sp>
      <p:sp>
        <p:nvSpPr>
          <p:cNvPr id="94" name="TextBox 93"/>
          <p:cNvSpPr txBox="1"/>
          <p:nvPr/>
        </p:nvSpPr>
        <p:spPr>
          <a:xfrm>
            <a:off x="548640" y="1581912"/>
            <a:ext cx="8046720" cy="228600"/>
          </a:xfrm>
          <a:prstGeom prst="rect">
            <a:avLst/>
          </a:prstGeom>
          <a:noFill/>
        </p:spPr>
        <p:txBody>
          <a:bodyPr wrap="square" anchor="t" lIns="50800" rIns="50800" tIns="25400" bIns="25400">
            <a:spAutoFit/>
          </a:bodyPr>
          <a:lstStyle/>
          <a:p>
            <a:pPr algn="l"/>
            <a:r>
              <a:rPr sz="800" b="0" i="1">
                <a:solidFill>
                  <a:srgbClr val="1E2761"/>
                </a:solidFill>
              </a:rPr>
              <a:t>Prevents: timeout.reconciliation at wrong path; legacy 2.x resourceTrackingMethod.</a:t>
            </a:r>
          </a:p>
        </p:txBody>
      </p:sp>
      <p:sp>
        <p:nvSpPr>
          <p:cNvPr id="95" name="TextBox 94"/>
          <p:cNvSpPr txBox="1"/>
          <p:nvPr/>
        </p:nvSpPr>
        <p:spPr>
          <a:xfrm>
            <a:off x="548640" y="1737360"/>
            <a:ext cx="2743200" cy="228600"/>
          </a:xfrm>
          <a:prstGeom prst="rect">
            <a:avLst/>
          </a:prstGeom>
          <a:noFill/>
        </p:spPr>
        <p:txBody>
          <a:bodyPr wrap="square" anchor="t" lIns="50800" rIns="50800" tIns="25400" bIns="25400">
            <a:spAutoFit/>
          </a:bodyPr>
          <a:lstStyle/>
          <a:p>
            <a:pPr algn="l"/>
            <a:r>
              <a:rPr sz="1100" b="1" i="0">
                <a:solidFill>
                  <a:srgbClr val="FF6B35"/>
                </a:solidFill>
              </a:rPr>
              <a:t>kyverno-policies.md</a:t>
            </a:r>
          </a:p>
        </p:txBody>
      </p:sp>
      <p:sp>
        <p:nvSpPr>
          <p:cNvPr id="96" name="TextBox 95"/>
          <p:cNvSpPr txBox="1"/>
          <p:nvPr/>
        </p:nvSpPr>
        <p:spPr>
          <a:xfrm>
            <a:off x="548640" y="1947672"/>
            <a:ext cx="8046720" cy="228600"/>
          </a:xfrm>
          <a:prstGeom prst="rect">
            <a:avLst/>
          </a:prstGeom>
          <a:noFill/>
        </p:spPr>
        <p:txBody>
          <a:bodyPr wrap="square" anchor="t" lIns="50800" rIns="50800" tIns="25400" bIns="25400">
            <a:spAutoFit/>
          </a:bodyPr>
          <a:lstStyle/>
          <a:p>
            <a:pPr algn="l"/>
            <a:r>
              <a:rPr sz="900" b="0" i="0">
                <a:solidFill>
                  <a:srgbClr val="4A4A4A"/>
                </a:solidFill>
              </a:rPr>
              <a:t>Webhook-level namespace exclusion via chart values. background: false on workshop policies.</a:t>
            </a:r>
          </a:p>
        </p:txBody>
      </p:sp>
      <p:sp>
        <p:nvSpPr>
          <p:cNvPr id="97" name="TextBox 96"/>
          <p:cNvSpPr txBox="1"/>
          <p:nvPr/>
        </p:nvSpPr>
        <p:spPr>
          <a:xfrm>
            <a:off x="548640" y="2130552"/>
            <a:ext cx="8046720" cy="228600"/>
          </a:xfrm>
          <a:prstGeom prst="rect">
            <a:avLst/>
          </a:prstGeom>
          <a:noFill/>
        </p:spPr>
        <p:txBody>
          <a:bodyPr wrap="square" anchor="t" lIns="50800" rIns="50800" tIns="25400" bIns="25400">
            <a:spAutoFit/>
          </a:bodyPr>
          <a:lstStyle/>
          <a:p>
            <a:pPr algn="l"/>
            <a:r>
              <a:rPr sz="800" b="0" i="1">
                <a:solidFill>
                  <a:srgbClr val="1E2761"/>
                </a:solidFill>
              </a:rPr>
              <a:t>Prevents: per-policy excludes; case-mismatched validationFailureAction.</a:t>
            </a:r>
          </a:p>
        </p:txBody>
      </p:sp>
      <p:sp>
        <p:nvSpPr>
          <p:cNvPr id="98" name="TextBox 97"/>
          <p:cNvSpPr txBox="1"/>
          <p:nvPr/>
        </p:nvSpPr>
        <p:spPr>
          <a:xfrm>
            <a:off x="548640" y="2286000"/>
            <a:ext cx="2743200" cy="228600"/>
          </a:xfrm>
          <a:prstGeom prst="rect">
            <a:avLst/>
          </a:prstGeom>
          <a:noFill/>
        </p:spPr>
        <p:txBody>
          <a:bodyPr wrap="square" anchor="t" lIns="50800" rIns="50800" tIns="25400" bIns="25400">
            <a:spAutoFit/>
          </a:bodyPr>
          <a:lstStyle/>
          <a:p>
            <a:pPr algn="l"/>
            <a:r>
              <a:rPr sz="1100" b="1" i="0">
                <a:solidFill>
                  <a:srgbClr val="FF6B35"/>
                </a:solidFill>
              </a:rPr>
              <a:t>falco-rules.md</a:t>
            </a:r>
          </a:p>
        </p:txBody>
      </p:sp>
      <p:sp>
        <p:nvSpPr>
          <p:cNvPr id="99" name="TextBox 98"/>
          <p:cNvSpPr txBox="1"/>
          <p:nvPr/>
        </p:nvSpPr>
        <p:spPr>
          <a:xfrm>
            <a:off x="548640" y="2496312"/>
            <a:ext cx="8046720" cy="228600"/>
          </a:xfrm>
          <a:prstGeom prst="rect">
            <a:avLst/>
          </a:prstGeom>
          <a:noFill/>
        </p:spPr>
        <p:txBody>
          <a:bodyPr wrap="square" anchor="t" lIns="50800" rIns="50800" tIns="25400" bIns="25400">
            <a:spAutoFit/>
          </a:bodyPr>
          <a:lstStyle/>
          <a:p>
            <a:pPr algn="l"/>
            <a:r>
              <a:rPr sz="900" b="0" i="0">
                <a:solidFill>
                  <a:srgbClr val="4A4A4A"/>
                </a:solidFill>
              </a:rPr>
              <a:t>CRITICAL-tagged custom rules for credential access. Falcosidekick → Prometheus wiring.</a:t>
            </a:r>
          </a:p>
        </p:txBody>
      </p:sp>
      <p:sp>
        <p:nvSpPr>
          <p:cNvPr id="100" name="TextBox 99"/>
          <p:cNvSpPr txBox="1"/>
          <p:nvPr/>
        </p:nvSpPr>
        <p:spPr>
          <a:xfrm>
            <a:off x="548640" y="2679192"/>
            <a:ext cx="8046720" cy="228600"/>
          </a:xfrm>
          <a:prstGeom prst="rect">
            <a:avLst/>
          </a:prstGeom>
          <a:noFill/>
        </p:spPr>
        <p:txBody>
          <a:bodyPr wrap="square" anchor="t" lIns="50800" rIns="50800" tIns="25400" bIns="25400">
            <a:spAutoFit/>
          </a:bodyPr>
          <a:lstStyle/>
          <a:p>
            <a:pPr algn="l"/>
            <a:r>
              <a:rPr sz="800" b="0" i="1">
                <a:solidFill>
                  <a:srgbClr val="1E2761"/>
                </a:solidFill>
              </a:rPr>
              <a:t>Prevents: noisy default rules; missing falcosidekick metrics; eBPF probe mismatch.</a:t>
            </a:r>
          </a:p>
        </p:txBody>
      </p:sp>
      <p:sp>
        <p:nvSpPr>
          <p:cNvPr id="101" name="TextBox 100"/>
          <p:cNvSpPr txBox="1"/>
          <p:nvPr/>
        </p:nvSpPr>
        <p:spPr>
          <a:xfrm>
            <a:off x="548640" y="2834640"/>
            <a:ext cx="2743200" cy="228600"/>
          </a:xfrm>
          <a:prstGeom prst="rect">
            <a:avLst/>
          </a:prstGeom>
          <a:noFill/>
        </p:spPr>
        <p:txBody>
          <a:bodyPr wrap="square" anchor="t" lIns="50800" rIns="50800" tIns="25400" bIns="25400">
            <a:spAutoFit/>
          </a:bodyPr>
          <a:lstStyle/>
          <a:p>
            <a:pPr algn="l"/>
            <a:r>
              <a:rPr sz="1100" b="1" i="0">
                <a:solidFill>
                  <a:srgbClr val="FF6B35"/>
                </a:solidFill>
              </a:rPr>
              <a:t>kube-prometheus-stack.md</a:t>
            </a:r>
          </a:p>
        </p:txBody>
      </p:sp>
      <p:sp>
        <p:nvSpPr>
          <p:cNvPr id="102" name="TextBox 101"/>
          <p:cNvSpPr txBox="1"/>
          <p:nvPr/>
        </p:nvSpPr>
        <p:spPr>
          <a:xfrm>
            <a:off x="548640" y="3044952"/>
            <a:ext cx="8046720" cy="228600"/>
          </a:xfrm>
          <a:prstGeom prst="rect">
            <a:avLst/>
          </a:prstGeom>
          <a:noFill/>
        </p:spPr>
        <p:txBody>
          <a:bodyPr wrap="square" anchor="t" lIns="50800" rIns="50800" tIns="25400" bIns="25400">
            <a:spAutoFit/>
          </a:bodyPr>
          <a:lstStyle/>
          <a:p>
            <a:pPr algn="l"/>
            <a:r>
              <a:rPr sz="900" b="0" i="0">
                <a:solidFill>
                  <a:srgbClr val="4A4A4A"/>
                </a:solidFill>
              </a:rPr>
              <a:t>ServerSideApply mandatory. alertmanager disabled. 2h retention. Pre-defined Helm values.</a:t>
            </a:r>
          </a:p>
        </p:txBody>
      </p:sp>
      <p:sp>
        <p:nvSpPr>
          <p:cNvPr id="103" name="TextBox 102"/>
          <p:cNvSpPr txBox="1"/>
          <p:nvPr/>
        </p:nvSpPr>
        <p:spPr>
          <a:xfrm>
            <a:off x="548640" y="3227832"/>
            <a:ext cx="8046720" cy="228600"/>
          </a:xfrm>
          <a:prstGeom prst="rect">
            <a:avLst/>
          </a:prstGeom>
          <a:noFill/>
        </p:spPr>
        <p:txBody>
          <a:bodyPr wrap="square" anchor="t" lIns="50800" rIns="50800" tIns="25400" bIns="25400">
            <a:spAutoFit/>
          </a:bodyPr>
          <a:lstStyle/>
          <a:p>
            <a:pPr algn="l"/>
            <a:r>
              <a:rPr sz="800" b="0" i="1">
                <a:solidFill>
                  <a:srgbClr val="1E2761"/>
                </a:solidFill>
              </a:rPr>
              <a:t>Prevents: CRD-annotation overflow; default 10d retention burning disk; alertmanager Pending.</a:t>
            </a:r>
          </a:p>
        </p:txBody>
      </p:sp>
      <p:sp>
        <p:nvSpPr>
          <p:cNvPr id="104" name="TextBox 103"/>
          <p:cNvSpPr txBox="1"/>
          <p:nvPr/>
        </p:nvSpPr>
        <p:spPr>
          <a:xfrm>
            <a:off x="548640" y="3383280"/>
            <a:ext cx="2743200" cy="228600"/>
          </a:xfrm>
          <a:prstGeom prst="rect">
            <a:avLst/>
          </a:prstGeom>
          <a:noFill/>
        </p:spPr>
        <p:txBody>
          <a:bodyPr wrap="square" anchor="t" lIns="50800" rIns="50800" tIns="25400" bIns="25400">
            <a:spAutoFit/>
          </a:bodyPr>
          <a:lstStyle/>
          <a:p>
            <a:pPr algn="l"/>
            <a:r>
              <a:rPr sz="1100" b="1" i="0">
                <a:solidFill>
                  <a:srgbClr val="FF6B35"/>
                </a:solidFill>
              </a:rPr>
              <a:t>otel-wiring.md</a:t>
            </a:r>
          </a:p>
        </p:txBody>
      </p:sp>
      <p:sp>
        <p:nvSpPr>
          <p:cNvPr id="105" name="TextBox 104"/>
          <p:cNvSpPr txBox="1"/>
          <p:nvPr/>
        </p:nvSpPr>
        <p:spPr>
          <a:xfrm>
            <a:off x="548640" y="3593592"/>
            <a:ext cx="8046720" cy="228600"/>
          </a:xfrm>
          <a:prstGeom prst="rect">
            <a:avLst/>
          </a:prstGeom>
          <a:noFill/>
        </p:spPr>
        <p:txBody>
          <a:bodyPr wrap="square" anchor="t" lIns="50800" rIns="50800" tIns="25400" bIns="25400">
            <a:spAutoFit/>
          </a:bodyPr>
          <a:lstStyle/>
          <a:p>
            <a:pPr algn="l"/>
            <a:r>
              <a:rPr sz="900" b="0" i="0">
                <a:solidFill>
                  <a:srgbClr val="4A4A4A"/>
                </a:solidFill>
              </a:rPr>
              <a:t>memory_limiter MUST be first processor in every pipeline.</a:t>
            </a:r>
          </a:p>
        </p:txBody>
      </p:sp>
      <p:sp>
        <p:nvSpPr>
          <p:cNvPr id="106" name="TextBox 105"/>
          <p:cNvSpPr txBox="1"/>
          <p:nvPr/>
        </p:nvSpPr>
        <p:spPr>
          <a:xfrm>
            <a:off x="548640" y="3776472"/>
            <a:ext cx="8046720" cy="228600"/>
          </a:xfrm>
          <a:prstGeom prst="rect">
            <a:avLst/>
          </a:prstGeom>
          <a:noFill/>
        </p:spPr>
        <p:txBody>
          <a:bodyPr wrap="square" anchor="t" lIns="50800" rIns="50800" tIns="25400" bIns="25400">
            <a:spAutoFit/>
          </a:bodyPr>
          <a:lstStyle/>
          <a:p>
            <a:pPr algn="l"/>
            <a:r>
              <a:rPr sz="800" b="0" i="1">
                <a:solidFill>
                  <a:srgbClr val="1E2761"/>
                </a:solidFill>
              </a:rPr>
              <a:t>Prevents: collector OOM under load; cascading backpressure to receivers.</a:t>
            </a:r>
          </a:p>
        </p:txBody>
      </p:sp>
      <p:sp>
        <p:nvSpPr>
          <p:cNvPr id="107" name="TextBox 106"/>
          <p:cNvSpPr txBox="1"/>
          <p:nvPr/>
        </p:nvSpPr>
        <p:spPr>
          <a:xfrm>
            <a:off x="548640" y="3931920"/>
            <a:ext cx="2743200" cy="228600"/>
          </a:xfrm>
          <a:prstGeom prst="rect">
            <a:avLst/>
          </a:prstGeom>
          <a:noFill/>
        </p:spPr>
        <p:txBody>
          <a:bodyPr wrap="square" anchor="t" lIns="50800" rIns="50800" tIns="25400" bIns="25400">
            <a:spAutoFit/>
          </a:bodyPr>
          <a:lstStyle/>
          <a:p>
            <a:pPr algn="l"/>
            <a:r>
              <a:rPr sz="1100" b="1" i="0">
                <a:solidFill>
                  <a:srgbClr val="FF6B35"/>
                </a:solidFill>
              </a:rPr>
              <a:t>backstage-templates.md</a:t>
            </a:r>
          </a:p>
        </p:txBody>
      </p:sp>
      <p:sp>
        <p:nvSpPr>
          <p:cNvPr id="108" name="TextBox 107"/>
          <p:cNvSpPr txBox="1"/>
          <p:nvPr/>
        </p:nvSpPr>
        <p:spPr>
          <a:xfrm>
            <a:off x="548640" y="4142232"/>
            <a:ext cx="8046720" cy="228600"/>
          </a:xfrm>
          <a:prstGeom prst="rect">
            <a:avLst/>
          </a:prstGeom>
          <a:noFill/>
        </p:spPr>
        <p:txBody>
          <a:bodyPr wrap="square" anchor="t" lIns="50800" rIns="50800" tIns="25400" bIns="25400">
            <a:spAutoFit/>
          </a:bodyPr>
          <a:lstStyle/>
          <a:p>
            <a:pPr algn="l"/>
            <a:r>
              <a:rPr sz="900" b="0" i="0">
                <a:solidFill>
                  <a:srgbClr val="4A4A4A"/>
                </a:solidFill>
              </a:rPr>
              <a:t>Image pinned to ghcr.io/backstage/backstage:1.30.2 + appConfig kubernetes-plugin override.</a:t>
            </a:r>
          </a:p>
        </p:txBody>
      </p:sp>
      <p:sp>
        <p:nvSpPr>
          <p:cNvPr id="109" name="TextBox 108"/>
          <p:cNvSpPr txBox="1"/>
          <p:nvPr/>
        </p:nvSpPr>
        <p:spPr>
          <a:xfrm>
            <a:off x="548640" y="4325112"/>
            <a:ext cx="8046720" cy="228600"/>
          </a:xfrm>
          <a:prstGeom prst="rect">
            <a:avLst/>
          </a:prstGeom>
          <a:noFill/>
        </p:spPr>
        <p:txBody>
          <a:bodyPr wrap="square" anchor="t" lIns="50800" rIns="50800" tIns="25400" bIns="25400">
            <a:spAutoFit/>
          </a:bodyPr>
          <a:lstStyle/>
          <a:p>
            <a:pPr algn="l"/>
            <a:r>
              <a:rPr sz="800" b="0" i="1">
                <a:solidFill>
                  <a:srgbClr val="1E2761"/>
                </a:solidFill>
              </a:rPr>
              <a:t>Prevents: no-default-image trap; Kubernetes-plugin init crash; wrong backend-system era.</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TextBox 107"/>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WHAT’S RUNNING UNDERNEATH</a:t>
            </a:r>
          </a:p>
        </p:txBody>
      </p:sp>
      <p:sp>
        <p:nvSpPr>
          <p:cNvPr id="109" name="TextBox 108"/>
          <p:cNvSpPr txBox="1"/>
          <p:nvPr/>
        </p:nvSpPr>
        <p:spPr>
          <a:xfrm>
            <a:off x="548640" y="731520"/>
            <a:ext cx="8046720" cy="548640"/>
          </a:xfrm>
          <a:prstGeom prst="rect">
            <a:avLst/>
          </a:prstGeom>
          <a:noFill/>
        </p:spPr>
        <p:txBody>
          <a:bodyPr wrap="square" anchor="t" lIns="50800" rIns="50800" tIns="25400" bIns="25400">
            <a:spAutoFit/>
          </a:bodyPr>
          <a:lstStyle/>
          <a:p>
            <a:pPr algn="l"/>
            <a:r>
              <a:rPr sz="2400" b="1" i="0">
                <a:solidFill>
                  <a:srgbClr val="1E2761"/>
                </a:solidFill>
              </a:rPr>
              <a:t>The Guard Rails You Don’t See</a:t>
            </a:r>
          </a:p>
        </p:txBody>
      </p:sp>
      <p:sp>
        <p:nvSpPr>
          <p:cNvPr id="110" name="Rectangle 109"/>
          <p:cNvSpPr/>
          <p:nvPr/>
        </p:nvSpPr>
        <p:spPr>
          <a:xfrm>
            <a:off x="548640" y="1417320"/>
            <a:ext cx="2606040" cy="2468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85800" y="1554480"/>
            <a:ext cx="2331720" cy="411480"/>
          </a:xfrm>
          <a:prstGeom prst="rect">
            <a:avLst/>
          </a:prstGeom>
          <a:noFill/>
        </p:spPr>
        <p:txBody>
          <a:bodyPr wrap="square" anchor="t" lIns="50800" rIns="50800" tIns="25400" bIns="25400">
            <a:spAutoFit/>
          </a:bodyPr>
          <a:lstStyle/>
          <a:p>
            <a:pPr algn="l"/>
            <a:r>
              <a:rPr sz="1600" b="1" i="0">
                <a:solidFill>
                  <a:srgbClr val="1E2761"/>
                </a:solidFill>
              </a:rPr>
              <a:t>Pre-commit hooks</a:t>
            </a:r>
          </a:p>
        </p:txBody>
      </p:sp>
      <p:sp>
        <p:nvSpPr>
          <p:cNvPr id="112" name="TextBox 111"/>
          <p:cNvSpPr txBox="1"/>
          <p:nvPr/>
        </p:nvSpPr>
        <p:spPr>
          <a:xfrm>
            <a:off x="685800" y="2011680"/>
            <a:ext cx="2331720" cy="1097280"/>
          </a:xfrm>
          <a:prstGeom prst="rect">
            <a:avLst/>
          </a:prstGeom>
          <a:noFill/>
        </p:spPr>
        <p:txBody>
          <a:bodyPr wrap="square" anchor="t" lIns="50800" rIns="50800" tIns="25400" bIns="25400">
            <a:spAutoFit/>
          </a:bodyPr>
          <a:lstStyle/>
          <a:p>
            <a:pPr algn="l"/>
            <a:r>
              <a:rPr sz="1100" b="0" i="0">
                <a:solidFill>
                  <a:srgbClr val="4A4A4A"/>
                </a:solidFill>
              </a:rPr>
              <a:t>gitleaks  •  yamllint  •  kubeconform  •  helm-lint  •  shellcheck</a:t>
            </a:r>
          </a:p>
        </p:txBody>
      </p:sp>
      <p:sp>
        <p:nvSpPr>
          <p:cNvPr id="113" name="TextBox 112"/>
          <p:cNvSpPr txBox="1"/>
          <p:nvPr/>
        </p:nvSpPr>
        <p:spPr>
          <a:xfrm>
            <a:off x="685800" y="3017520"/>
            <a:ext cx="2331720" cy="777240"/>
          </a:xfrm>
          <a:prstGeom prst="rect">
            <a:avLst/>
          </a:prstGeom>
          <a:noFill/>
        </p:spPr>
        <p:txBody>
          <a:bodyPr wrap="square" anchor="t" lIns="50800" rIns="50800" tIns="25400" bIns="25400">
            <a:spAutoFit/>
          </a:bodyPr>
          <a:lstStyle/>
          <a:p>
            <a:pPr algn="l"/>
            <a:r>
              <a:rPr sz="900" b="0" i="1">
                <a:solidFill>
                  <a:srgbClr val="1E2761"/>
                </a:solidFill>
              </a:rPr>
              <a:t>Runs on every commit to staging. Bad YAML / leaked secrets never reach the branch.</a:t>
            </a:r>
          </a:p>
        </p:txBody>
      </p:sp>
      <p:sp>
        <p:nvSpPr>
          <p:cNvPr id="114" name="Rectangle 113"/>
          <p:cNvSpPr/>
          <p:nvPr/>
        </p:nvSpPr>
        <p:spPr>
          <a:xfrm>
            <a:off x="3273552" y="1417320"/>
            <a:ext cx="2606040" cy="2468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410712" y="1554480"/>
            <a:ext cx="2331720" cy="411480"/>
          </a:xfrm>
          <a:prstGeom prst="rect">
            <a:avLst/>
          </a:prstGeom>
          <a:noFill/>
        </p:spPr>
        <p:txBody>
          <a:bodyPr wrap="square" anchor="t" lIns="50800" rIns="50800" tIns="25400" bIns="25400">
            <a:spAutoFit/>
          </a:bodyPr>
          <a:lstStyle/>
          <a:p>
            <a:pPr algn="l"/>
            <a:r>
              <a:rPr sz="1600" b="1" i="0">
                <a:solidFill>
                  <a:srgbClr val="1E2761"/>
                </a:solidFill>
              </a:rPr>
              <a:t>pytest gates</a:t>
            </a:r>
          </a:p>
        </p:txBody>
      </p:sp>
      <p:sp>
        <p:nvSpPr>
          <p:cNvPr id="116" name="TextBox 115"/>
          <p:cNvSpPr txBox="1"/>
          <p:nvPr/>
        </p:nvSpPr>
        <p:spPr>
          <a:xfrm>
            <a:off x="3410712" y="2011680"/>
            <a:ext cx="2331720" cy="1097280"/>
          </a:xfrm>
          <a:prstGeom prst="rect">
            <a:avLst/>
          </a:prstGeom>
          <a:noFill/>
        </p:spPr>
        <p:txBody>
          <a:bodyPr wrap="square" anchor="t" lIns="50800" rIns="50800" tIns="25400" bIns="25400">
            <a:spAutoFit/>
          </a:bodyPr>
          <a:lstStyle/>
          <a:p>
            <a:pPr algn="l"/>
            <a:r>
              <a:rPr sz="1100" b="0" i="0">
                <a:solidFill>
                  <a:srgbClr val="4A4A4A"/>
                </a:solidFill>
              </a:rPr>
              <a:t>tests/test_phase_0N_*.py against the real cluster. ALL must pass.</a:t>
            </a:r>
          </a:p>
        </p:txBody>
      </p:sp>
      <p:sp>
        <p:nvSpPr>
          <p:cNvPr id="117" name="TextBox 116"/>
          <p:cNvSpPr txBox="1"/>
          <p:nvPr/>
        </p:nvSpPr>
        <p:spPr>
          <a:xfrm>
            <a:off x="3410712" y="3017520"/>
            <a:ext cx="2331720" cy="777240"/>
          </a:xfrm>
          <a:prstGeom prst="rect">
            <a:avLst/>
          </a:prstGeom>
          <a:noFill/>
        </p:spPr>
        <p:txBody>
          <a:bodyPr wrap="square" anchor="t" lIns="50800" rIns="50800" tIns="25400" bIns="25400">
            <a:spAutoFit/>
          </a:bodyPr>
          <a:lstStyle/>
          <a:p>
            <a:pPr algn="l"/>
            <a:r>
              <a:rPr sz="900" b="0" i="1">
                <a:solidFill>
                  <a:srgbClr val="1E2761"/>
                </a:solidFill>
              </a:rPr>
              <a:t>Promise &lt;PHASE_N_DONE/&gt; only fires when pytest exits 0. No faked passes.</a:t>
            </a:r>
          </a:p>
        </p:txBody>
      </p:sp>
      <p:sp>
        <p:nvSpPr>
          <p:cNvPr id="118" name="Rectangle 117"/>
          <p:cNvSpPr/>
          <p:nvPr/>
        </p:nvSpPr>
        <p:spPr>
          <a:xfrm>
            <a:off x="5998464" y="1417320"/>
            <a:ext cx="2606040" cy="2468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135624" y="1554480"/>
            <a:ext cx="2331720" cy="411480"/>
          </a:xfrm>
          <a:prstGeom prst="rect">
            <a:avLst/>
          </a:prstGeom>
          <a:noFill/>
        </p:spPr>
        <p:txBody>
          <a:bodyPr wrap="square" anchor="t" lIns="50800" rIns="50800" tIns="25400" bIns="25400">
            <a:spAutoFit/>
          </a:bodyPr>
          <a:lstStyle/>
          <a:p>
            <a:pPr algn="l"/>
            <a:r>
              <a:rPr sz="1600" b="1" i="0">
                <a:solidFill>
                  <a:srgbClr val="1E2761"/>
                </a:solidFill>
              </a:rPr>
              <a:t>GitOps reconciliation</a:t>
            </a:r>
          </a:p>
        </p:txBody>
      </p:sp>
      <p:sp>
        <p:nvSpPr>
          <p:cNvPr id="120" name="TextBox 119"/>
          <p:cNvSpPr txBox="1"/>
          <p:nvPr/>
        </p:nvSpPr>
        <p:spPr>
          <a:xfrm>
            <a:off x="6135624" y="2011680"/>
            <a:ext cx="2331720" cy="1097280"/>
          </a:xfrm>
          <a:prstGeom prst="rect">
            <a:avLst/>
          </a:prstGeom>
          <a:noFill/>
        </p:spPr>
        <p:txBody>
          <a:bodyPr wrap="square" anchor="t" lIns="50800" rIns="50800" tIns="25400" bIns="25400">
            <a:spAutoFit/>
          </a:bodyPr>
          <a:lstStyle/>
          <a:p>
            <a:pPr algn="l"/>
            <a:r>
              <a:rPr sz="1100" b="0" i="0">
                <a:solidFill>
                  <a:srgbClr val="4A4A4A"/>
                </a:solidFill>
              </a:rPr>
              <a:t>ArgoCD reads main. Pre-commit blocks bad commits. Promotion staging→main is local fast-forward.</a:t>
            </a:r>
          </a:p>
        </p:txBody>
      </p:sp>
      <p:sp>
        <p:nvSpPr>
          <p:cNvPr id="121" name="TextBox 120"/>
          <p:cNvSpPr txBox="1"/>
          <p:nvPr/>
        </p:nvSpPr>
        <p:spPr>
          <a:xfrm>
            <a:off x="6135624" y="3017520"/>
            <a:ext cx="2331720" cy="777240"/>
          </a:xfrm>
          <a:prstGeom prst="rect">
            <a:avLst/>
          </a:prstGeom>
          <a:noFill/>
        </p:spPr>
        <p:txBody>
          <a:bodyPr wrap="square" anchor="t" lIns="50800" rIns="50800" tIns="25400" bIns="25400">
            <a:spAutoFit/>
          </a:bodyPr>
          <a:lstStyle/>
          <a:p>
            <a:pPr algn="l"/>
            <a:r>
              <a:rPr sz="900" b="0" i="1">
                <a:solidFill>
                  <a:srgbClr val="1E2761"/>
                </a:solidFill>
              </a:rPr>
              <a:t>Single-maintainer rigor: no CI/CD, no remote gates — the local hooks ARE the gates.</a:t>
            </a:r>
          </a:p>
        </p:txBody>
      </p:sp>
      <p:sp>
        <p:nvSpPr>
          <p:cNvPr id="122" name="TextBox 121"/>
          <p:cNvSpPr txBox="1"/>
          <p:nvPr/>
        </p:nvSpPr>
        <p:spPr>
          <a:xfrm>
            <a:off x="548640" y="4023360"/>
            <a:ext cx="8046720" cy="365760"/>
          </a:xfrm>
          <a:prstGeom prst="rect">
            <a:avLst/>
          </a:prstGeom>
          <a:noFill/>
        </p:spPr>
        <p:txBody>
          <a:bodyPr wrap="square" anchor="t" lIns="50800" rIns="50800" tIns="25400" bIns="25400">
            <a:spAutoFit/>
          </a:bodyPr>
          <a:lstStyle/>
          <a:p>
            <a:pPr algn="ctr"/>
            <a:r>
              <a:rPr sz="1100" b="0" i="1">
                <a:solidFill>
                  <a:srgbClr val="888888"/>
                </a:solidFill>
              </a:rPr>
              <a:t>Same rigor as kubeauto-ai-day, scoped to local-only for a single-maintainer workshop repo.</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TextBox 107"/>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AFTER THE BUILD</a:t>
            </a:r>
          </a:p>
        </p:txBody>
      </p:sp>
      <p:sp>
        <p:nvSpPr>
          <p:cNvPr id="109" name="TextBox 108"/>
          <p:cNvSpPr txBox="1"/>
          <p:nvPr/>
        </p:nvSpPr>
        <p:spPr>
          <a:xfrm>
            <a:off x="548640" y="731520"/>
            <a:ext cx="8046720" cy="640080"/>
          </a:xfrm>
          <a:prstGeom prst="rect">
            <a:avLst/>
          </a:prstGeom>
          <a:noFill/>
        </p:spPr>
        <p:txBody>
          <a:bodyPr wrap="square" anchor="t" lIns="50800" rIns="50800" tIns="25400" bIns="25400">
            <a:spAutoFit/>
          </a:bodyPr>
          <a:lstStyle/>
          <a:p>
            <a:pPr algn="l"/>
            <a:r>
              <a:rPr sz="2600" b="1" i="0">
                <a:solidFill>
                  <a:srgbClr val="1E2761"/>
                </a:solidFill>
              </a:rPr>
              <a:t>What the Scorecard Showed</a:t>
            </a:r>
          </a:p>
        </p:txBody>
      </p:sp>
      <p:sp>
        <p:nvSpPr>
          <p:cNvPr id="110" name="Rectangle 109"/>
          <p:cNvSpPr/>
          <p:nvPr/>
        </p:nvSpPr>
        <p:spPr>
          <a:xfrm>
            <a:off x="548640" y="1600200"/>
            <a:ext cx="2606040" cy="21945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85800" y="1691640"/>
            <a:ext cx="2331720" cy="320040"/>
          </a:xfrm>
          <a:prstGeom prst="rect">
            <a:avLst/>
          </a:prstGeom>
          <a:noFill/>
        </p:spPr>
        <p:txBody>
          <a:bodyPr wrap="square" anchor="t" lIns="50800" rIns="50800" tIns="25400" bIns="25400">
            <a:spAutoFit/>
          </a:bodyPr>
          <a:lstStyle/>
          <a:p>
            <a:pPr algn="l"/>
            <a:r>
              <a:rPr sz="1300" b="1" i="0">
                <a:solidFill>
                  <a:srgbClr val="4A4A4A"/>
                </a:solidFill>
              </a:rPr>
              <a:t>Install</a:t>
            </a:r>
          </a:p>
        </p:txBody>
      </p:sp>
      <p:sp>
        <p:nvSpPr>
          <p:cNvPr id="112" name="TextBox 111"/>
          <p:cNvSpPr txBox="1"/>
          <p:nvPr/>
        </p:nvSpPr>
        <p:spPr>
          <a:xfrm>
            <a:off x="685800" y="2057400"/>
            <a:ext cx="2331720" cy="594360"/>
          </a:xfrm>
          <a:prstGeom prst="rect">
            <a:avLst/>
          </a:prstGeom>
          <a:noFill/>
        </p:spPr>
        <p:txBody>
          <a:bodyPr wrap="square" anchor="t" lIns="50800" rIns="50800" tIns="25400" bIns="25400">
            <a:spAutoFit/>
          </a:bodyPr>
          <a:lstStyle/>
          <a:p>
            <a:pPr algn="l"/>
            <a:r>
              <a:rPr sz="2400" b="1" i="0">
                <a:solidFill>
                  <a:srgbClr val="1E2761"/>
                </a:solidFill>
              </a:rPr>
              <a:t>↑  High</a:t>
            </a:r>
          </a:p>
        </p:txBody>
      </p:sp>
      <p:sp>
        <p:nvSpPr>
          <p:cNvPr id="113" name="TextBox 112"/>
          <p:cNvSpPr txBox="1"/>
          <p:nvPr/>
        </p:nvSpPr>
        <p:spPr>
          <a:xfrm>
            <a:off x="685800" y="2743200"/>
            <a:ext cx="2331720" cy="914400"/>
          </a:xfrm>
          <a:prstGeom prst="rect">
            <a:avLst/>
          </a:prstGeom>
          <a:noFill/>
        </p:spPr>
        <p:txBody>
          <a:bodyPr wrap="square" anchor="t" lIns="50800" rIns="50800" tIns="25400" bIns="25400">
            <a:spAutoFit/>
          </a:bodyPr>
          <a:lstStyle/>
          <a:p>
            <a:pPr algn="l"/>
            <a:r>
              <a:rPr sz="1100" b="0" i="0">
                <a:solidFill>
                  <a:srgbClr val="4A4A4A"/>
                </a:solidFill>
              </a:rPr>
              <a:t>AI generates manifests well. First-try success is real.</a:t>
            </a:r>
          </a:p>
        </p:txBody>
      </p:sp>
      <p:sp>
        <p:nvSpPr>
          <p:cNvPr id="114" name="Rectangle 113"/>
          <p:cNvSpPr/>
          <p:nvPr/>
        </p:nvSpPr>
        <p:spPr>
          <a:xfrm>
            <a:off x="3273552" y="1600200"/>
            <a:ext cx="2606040" cy="21945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410712" y="1691640"/>
            <a:ext cx="2331720" cy="320040"/>
          </a:xfrm>
          <a:prstGeom prst="rect">
            <a:avLst/>
          </a:prstGeom>
          <a:noFill/>
        </p:spPr>
        <p:txBody>
          <a:bodyPr wrap="square" anchor="t" lIns="50800" rIns="50800" tIns="25400" bIns="25400">
            <a:spAutoFit/>
          </a:bodyPr>
          <a:lstStyle/>
          <a:p>
            <a:pPr algn="l"/>
            <a:r>
              <a:rPr sz="1300" b="1" i="0">
                <a:solidFill>
                  <a:srgbClr val="4A4A4A"/>
                </a:solidFill>
              </a:rPr>
              <a:t>Integration</a:t>
            </a:r>
          </a:p>
        </p:txBody>
      </p:sp>
      <p:sp>
        <p:nvSpPr>
          <p:cNvPr id="116" name="TextBox 115"/>
          <p:cNvSpPr txBox="1"/>
          <p:nvPr/>
        </p:nvSpPr>
        <p:spPr>
          <a:xfrm>
            <a:off x="3410712" y="2057400"/>
            <a:ext cx="2331720" cy="594360"/>
          </a:xfrm>
          <a:prstGeom prst="rect">
            <a:avLst/>
          </a:prstGeom>
          <a:noFill/>
        </p:spPr>
        <p:txBody>
          <a:bodyPr wrap="square" anchor="t" lIns="50800" rIns="50800" tIns="25400" bIns="25400">
            <a:spAutoFit/>
          </a:bodyPr>
          <a:lstStyle/>
          <a:p>
            <a:pPr algn="l"/>
            <a:r>
              <a:rPr sz="2400" b="1" i="0">
                <a:solidFill>
                  <a:srgbClr val="1E2761"/>
                </a:solidFill>
              </a:rPr>
              <a:t>→  Middling</a:t>
            </a:r>
          </a:p>
        </p:txBody>
      </p:sp>
      <p:sp>
        <p:nvSpPr>
          <p:cNvPr id="117" name="TextBox 116"/>
          <p:cNvSpPr txBox="1"/>
          <p:nvPr/>
        </p:nvSpPr>
        <p:spPr>
          <a:xfrm>
            <a:off x="3410712" y="2743200"/>
            <a:ext cx="2331720" cy="914400"/>
          </a:xfrm>
          <a:prstGeom prst="rect">
            <a:avLst/>
          </a:prstGeom>
          <a:noFill/>
        </p:spPr>
        <p:txBody>
          <a:bodyPr wrap="square" anchor="t" lIns="50800" rIns="50800" tIns="25400" bIns="25400">
            <a:spAutoFit/>
          </a:bodyPr>
          <a:lstStyle/>
          <a:p>
            <a:pPr algn="l"/>
            <a:r>
              <a:rPr sz="1100" b="0" i="0">
                <a:solidFill>
                  <a:srgbClr val="4A4A4A"/>
                </a:solidFill>
              </a:rPr>
              <a:t>Sync waves missed, namespace exclusions forgotten, scrape not wired.</a:t>
            </a:r>
          </a:p>
        </p:txBody>
      </p:sp>
      <p:sp>
        <p:nvSpPr>
          <p:cNvPr id="118" name="Rectangle 117"/>
          <p:cNvSpPr/>
          <p:nvPr/>
        </p:nvSpPr>
        <p:spPr>
          <a:xfrm>
            <a:off x="5998464" y="1600200"/>
            <a:ext cx="2606040" cy="21945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135624" y="1691640"/>
            <a:ext cx="2331720" cy="320040"/>
          </a:xfrm>
          <a:prstGeom prst="rect">
            <a:avLst/>
          </a:prstGeom>
          <a:noFill/>
        </p:spPr>
        <p:txBody>
          <a:bodyPr wrap="square" anchor="t" lIns="50800" rIns="50800" tIns="25400" bIns="25400">
            <a:spAutoFit/>
          </a:bodyPr>
          <a:lstStyle/>
          <a:p>
            <a:pPr algn="l"/>
            <a:r>
              <a:rPr sz="1300" b="1" i="0">
                <a:solidFill>
                  <a:srgbClr val="4A4A4A"/>
                </a:solidFill>
              </a:rPr>
              <a:t>Usability</a:t>
            </a:r>
          </a:p>
        </p:txBody>
      </p:sp>
      <p:sp>
        <p:nvSpPr>
          <p:cNvPr id="120" name="TextBox 119"/>
          <p:cNvSpPr txBox="1"/>
          <p:nvPr/>
        </p:nvSpPr>
        <p:spPr>
          <a:xfrm>
            <a:off x="6135624" y="2057400"/>
            <a:ext cx="2331720" cy="594360"/>
          </a:xfrm>
          <a:prstGeom prst="rect">
            <a:avLst/>
          </a:prstGeom>
          <a:noFill/>
        </p:spPr>
        <p:txBody>
          <a:bodyPr wrap="square" anchor="t" lIns="50800" rIns="50800" tIns="25400" bIns="25400">
            <a:spAutoFit/>
          </a:bodyPr>
          <a:lstStyle/>
          <a:p>
            <a:pPr algn="l"/>
            <a:r>
              <a:rPr sz="2400" b="1" i="0">
                <a:solidFill>
                  <a:srgbClr val="1E2761"/>
                </a:solidFill>
              </a:rPr>
              <a:t>↓  Low</a:t>
            </a:r>
          </a:p>
        </p:txBody>
      </p:sp>
      <p:sp>
        <p:nvSpPr>
          <p:cNvPr id="121" name="TextBox 120"/>
          <p:cNvSpPr txBox="1"/>
          <p:nvPr/>
        </p:nvSpPr>
        <p:spPr>
          <a:xfrm>
            <a:off x="6135624" y="2743200"/>
            <a:ext cx="2331720" cy="914400"/>
          </a:xfrm>
          <a:prstGeom prst="rect">
            <a:avLst/>
          </a:prstGeom>
          <a:noFill/>
        </p:spPr>
        <p:txBody>
          <a:bodyPr wrap="square" anchor="t" lIns="50800" rIns="50800" tIns="25400" bIns="25400">
            <a:spAutoFit/>
          </a:bodyPr>
          <a:lstStyle/>
          <a:p>
            <a:pPr algn="l"/>
            <a:r>
              <a:rPr sz="1100" b="0" i="0">
                <a:solidFill>
                  <a:srgbClr val="4A4A4A"/>
                </a:solidFill>
              </a:rPr>
              <a:t>Working components, opaque UIs, defaults that don’t fit Monday morning.</a:t>
            </a:r>
          </a:p>
        </p:txBody>
      </p:sp>
      <p:sp>
        <p:nvSpPr>
          <p:cNvPr id="122" name="TextBox 121"/>
          <p:cNvSpPr txBox="1"/>
          <p:nvPr/>
        </p:nvSpPr>
        <p:spPr>
          <a:xfrm>
            <a:off x="548640" y="3931920"/>
            <a:ext cx="8046720" cy="457200"/>
          </a:xfrm>
          <a:prstGeom prst="rect">
            <a:avLst/>
          </a:prstGeom>
          <a:noFill/>
        </p:spPr>
        <p:txBody>
          <a:bodyPr wrap="square" anchor="t" lIns="50800" rIns="50800" tIns="25400" bIns="25400">
            <a:spAutoFit/>
          </a:bodyPr>
          <a:lstStyle/>
          <a:p>
            <a:pPr algn="ctr"/>
            <a:r>
              <a:rPr sz="1200" b="1" i="1">
                <a:solidFill>
                  <a:srgbClr val="1E2761"/>
                </a:solidFill>
              </a:rPr>
              <a:t>Install ≫ Integration ≫ Usability — same pattern as the kubeauto overnight build.</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pic>
        <p:nvPicPr>
          <p:cNvPr id="116" name="Google Shape;116;p10"/>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117" name="TextBox 116"/>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THE TAKEAWAY</a:t>
            </a:r>
          </a:p>
        </p:txBody>
      </p:sp>
      <p:sp>
        <p:nvSpPr>
          <p:cNvPr id="118" name="TextBox 117"/>
          <p:cNvSpPr txBox="1"/>
          <p:nvPr/>
        </p:nvSpPr>
        <p:spPr>
          <a:xfrm>
            <a:off x="548640" y="777240"/>
            <a:ext cx="8046720" cy="1280160"/>
          </a:xfrm>
          <a:prstGeom prst="rect">
            <a:avLst/>
          </a:prstGeom>
          <a:noFill/>
        </p:spPr>
        <p:txBody>
          <a:bodyPr wrap="square" anchor="t" lIns="50800" rIns="50800" tIns="25400" bIns="25400">
            <a:spAutoFit/>
          </a:bodyPr>
          <a:lstStyle/>
          <a:p>
            <a:pPr algn="l"/>
            <a:r>
              <a:rPr sz="2800" b="1" i="0">
                <a:solidFill>
                  <a:srgbClr val="1E2761"/>
                </a:solidFill>
              </a:rPr>
              <a:t>The implementation layer didn’t disappear.</a:t>
            </a:r>
          </a:p>
          <a:p>
            <a:pPr algn="l"/>
            <a:r>
              <a:rPr sz="2800" b="1" i="1">
                <a:solidFill>
                  <a:srgbClr val="FF6B35"/>
                </a:solidFill>
              </a:rPr>
              <a:t>It compressed.</a:t>
            </a:r>
          </a:p>
        </p:txBody>
      </p:sp>
      <p:sp>
        <p:nvSpPr>
          <p:cNvPr id="119" name="TextBox 118"/>
          <p:cNvSpPr txBox="1"/>
          <p:nvPr/>
        </p:nvSpPr>
        <p:spPr>
          <a:xfrm>
            <a:off x="548640" y="2468880"/>
            <a:ext cx="8046720" cy="1554480"/>
          </a:xfrm>
          <a:prstGeom prst="rect">
            <a:avLst/>
          </a:prstGeom>
          <a:noFill/>
        </p:spPr>
        <p:txBody>
          <a:bodyPr wrap="square" anchor="t" lIns="50800" rIns="50800" tIns="25400" bIns="25400">
            <a:spAutoFit/>
          </a:bodyPr>
          <a:lstStyle/>
          <a:p>
            <a:pPr algn="l"/>
            <a:r>
              <a:rPr sz="1400" b="0" i="0">
                <a:solidFill>
                  <a:srgbClr val="4A4A4A"/>
                </a:solidFill>
              </a:rPr>
              <a:t>AI handles the YAML and Helm values faster than I can.</a:t>
            </a:r>
          </a:p>
          <a:p>
            <a:pPr algn="l">
              <a:spcBef>
                <a:spcPts val="600"/>
              </a:spcBef>
            </a:pPr>
            <a:r>
              <a:rPr sz="1300" b="0" i="0">
                <a:solidFill>
                  <a:srgbClr val="4A4A4A"/>
                </a:solidFill>
              </a:rPr>
              <a:t>What’s left is sync wave ordering, namespace exclusions, policy collisions, image configs that don’t match the chart — the judgment calls that turn CNCF tools into a platform someone can actually use Monday morning.</a:t>
            </a:r>
          </a:p>
          <a:p>
            <a:pPr algn="l">
              <a:spcBef>
                <a:spcPts val="800"/>
              </a:spcBef>
            </a:pPr>
            <a:r>
              <a:rPr sz="1300" b="1" i="1">
                <a:solidFill>
                  <a:srgbClr val="1E2761"/>
                </a:solidFill>
              </a:rPr>
              <a:t>That’s the engineering work that didn’t go anywhere.</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pic>
        <p:nvPicPr>
          <p:cNvPr id="123" name="Google Shape;123;p11"/>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124" name="TextBox 123"/>
          <p:cNvSpPr txBox="1"/>
          <p:nvPr/>
        </p:nvSpPr>
        <p:spPr>
          <a:xfrm>
            <a:off x="548640" y="365760"/>
            <a:ext cx="8046720" cy="365760"/>
          </a:xfrm>
          <a:prstGeom prst="rect">
            <a:avLst/>
          </a:prstGeom>
          <a:noFill/>
        </p:spPr>
        <p:txBody>
          <a:bodyPr wrap="square" anchor="t" lIns="50800" rIns="50800" tIns="25400" bIns="25400">
            <a:spAutoFit/>
          </a:bodyPr>
          <a:lstStyle/>
          <a:p>
            <a:pPr algn="l"/>
            <a:r>
              <a:rPr sz="1100" b="1" i="0">
                <a:solidFill>
                  <a:srgbClr val="FF6B35"/>
                </a:solidFill>
              </a:rPr>
              <a:t>TAKE HOME</a:t>
            </a:r>
          </a:p>
        </p:txBody>
      </p:sp>
      <p:sp>
        <p:nvSpPr>
          <p:cNvPr id="125" name="TextBox 124"/>
          <p:cNvSpPr txBox="1"/>
          <p:nvPr/>
        </p:nvSpPr>
        <p:spPr>
          <a:xfrm>
            <a:off x="548640" y="731520"/>
            <a:ext cx="8046720" cy="640080"/>
          </a:xfrm>
          <a:prstGeom prst="rect">
            <a:avLst/>
          </a:prstGeom>
          <a:noFill/>
        </p:spPr>
        <p:txBody>
          <a:bodyPr wrap="square" anchor="t" lIns="50800" rIns="50800" tIns="25400" bIns="25400">
            <a:spAutoFit/>
          </a:bodyPr>
          <a:lstStyle/>
          <a:p>
            <a:pPr algn="l"/>
            <a:r>
              <a:rPr sz="2400" b="1" i="0">
                <a:solidFill>
                  <a:srgbClr val="1E2761"/>
                </a:solidFill>
              </a:rPr>
              <a:t>Methodology + Scorecard + Reference Build</a:t>
            </a:r>
          </a:p>
        </p:txBody>
      </p:sp>
      <p:pic>
        <p:nvPicPr>
          <p:cNvPr id="126" name="Picture 125" descr="qr-workshop.png"/>
          <p:cNvPicPr>
            <a:picLocks noChangeAspect="1"/>
          </p:cNvPicPr>
          <p:nvPr/>
        </p:nvPicPr>
        <p:blipFill>
          <a:blip r:embed="rId5"/>
          <a:stretch>
            <a:fillRect/>
          </a:stretch>
        </p:blipFill>
        <p:spPr>
          <a:xfrm>
            <a:off x="1211580" y="1554480"/>
            <a:ext cx="1280160" cy="1280160"/>
          </a:xfrm>
          <a:prstGeom prst="rect">
            <a:avLst/>
          </a:prstGeom>
        </p:spPr>
      </p:pic>
      <p:sp>
        <p:nvSpPr>
          <p:cNvPr id="127" name="TextBox 126"/>
          <p:cNvSpPr txBox="1"/>
          <p:nvPr/>
        </p:nvSpPr>
        <p:spPr>
          <a:xfrm>
            <a:off x="548640" y="2926080"/>
            <a:ext cx="2606040" cy="320040"/>
          </a:xfrm>
          <a:prstGeom prst="rect">
            <a:avLst/>
          </a:prstGeom>
          <a:noFill/>
        </p:spPr>
        <p:txBody>
          <a:bodyPr wrap="square" anchor="t" lIns="50800" rIns="50800" tIns="25400" bIns="25400">
            <a:spAutoFit/>
          </a:bodyPr>
          <a:lstStyle/>
          <a:p>
            <a:pPr algn="ctr"/>
            <a:r>
              <a:rPr sz="1300" b="1" i="0">
                <a:solidFill>
                  <a:srgbClr val="1E2761"/>
                </a:solidFill>
              </a:rPr>
              <a:t>Workshop Repo</a:t>
            </a:r>
          </a:p>
        </p:txBody>
      </p:sp>
      <p:sp>
        <p:nvSpPr>
          <p:cNvPr id="128" name="TextBox 127"/>
          <p:cNvSpPr txBox="1"/>
          <p:nvPr/>
        </p:nvSpPr>
        <p:spPr>
          <a:xfrm>
            <a:off x="548640" y="3291840"/>
            <a:ext cx="2606040" cy="274320"/>
          </a:xfrm>
          <a:prstGeom prst="rect">
            <a:avLst/>
          </a:prstGeom>
          <a:noFill/>
        </p:spPr>
        <p:txBody>
          <a:bodyPr wrap="square" anchor="t" lIns="50800" rIns="50800" tIns="25400" bIns="25400">
            <a:spAutoFit/>
          </a:bodyPr>
          <a:lstStyle/>
          <a:p>
            <a:pPr algn="ctr"/>
            <a:r>
              <a:rPr sz="800" b="0" i="0">
                <a:solidFill>
                  <a:srgbClr val="888888"/>
                </a:solidFill>
              </a:rPr>
              <a:t>github.com/peopleforrester/</a:t>
            </a:r>
          </a:p>
        </p:txBody>
      </p:sp>
      <p:sp>
        <p:nvSpPr>
          <p:cNvPr id="129" name="TextBox 128"/>
          <p:cNvSpPr txBox="1"/>
          <p:nvPr/>
        </p:nvSpPr>
        <p:spPr>
          <a:xfrm>
            <a:off x="548640" y="3520440"/>
            <a:ext cx="2606040" cy="274320"/>
          </a:xfrm>
          <a:prstGeom prst="rect">
            <a:avLst/>
          </a:prstGeom>
          <a:noFill/>
        </p:spPr>
        <p:txBody>
          <a:bodyPr wrap="square" anchor="t" lIns="50800" rIns="50800" tIns="25400" bIns="25400">
            <a:spAutoFit/>
          </a:bodyPr>
          <a:lstStyle/>
          <a:p>
            <a:pPr algn="ctr"/>
            <a:r>
              <a:rPr sz="900" b="1" i="0">
                <a:solidFill>
                  <a:srgbClr val="4A4A4A"/>
                </a:solidFill>
              </a:rPr>
              <a:t>KCD_Texas_2026_Workshop</a:t>
            </a:r>
          </a:p>
        </p:txBody>
      </p:sp>
      <p:sp>
        <p:nvSpPr>
          <p:cNvPr id="130" name="TextBox 129"/>
          <p:cNvSpPr txBox="1"/>
          <p:nvPr/>
        </p:nvSpPr>
        <p:spPr>
          <a:xfrm>
            <a:off x="548640" y="3840480"/>
            <a:ext cx="2606040" cy="457200"/>
          </a:xfrm>
          <a:prstGeom prst="rect">
            <a:avLst/>
          </a:prstGeom>
          <a:noFill/>
        </p:spPr>
        <p:txBody>
          <a:bodyPr wrap="square" anchor="t" lIns="50800" rIns="50800" tIns="25400" bIns="25400">
            <a:spAutoFit/>
          </a:bodyPr>
          <a:lstStyle/>
          <a:p>
            <a:pPr algn="ctr"/>
            <a:r>
              <a:rPr sz="1000" b="0" i="1">
                <a:solidFill>
                  <a:srgbClr val="4A4A4A"/>
                </a:solidFill>
              </a:rPr>
              <a:t>Spec, skills, gates, scorecard</a:t>
            </a:r>
          </a:p>
        </p:txBody>
      </p:sp>
      <p:pic>
        <p:nvPicPr>
          <p:cNvPr id="131" name="Picture 130" descr="qr-kubeauto.png"/>
          <p:cNvPicPr>
            <a:picLocks noChangeAspect="1"/>
          </p:cNvPicPr>
          <p:nvPr/>
        </p:nvPicPr>
        <p:blipFill>
          <a:blip r:embed="rId6"/>
          <a:stretch>
            <a:fillRect/>
          </a:stretch>
        </p:blipFill>
        <p:spPr>
          <a:xfrm>
            <a:off x="3936492" y="1554480"/>
            <a:ext cx="1280160" cy="1280160"/>
          </a:xfrm>
          <a:prstGeom prst="rect">
            <a:avLst/>
          </a:prstGeom>
        </p:spPr>
      </p:pic>
      <p:sp>
        <p:nvSpPr>
          <p:cNvPr id="132" name="TextBox 131"/>
          <p:cNvSpPr txBox="1"/>
          <p:nvPr/>
        </p:nvSpPr>
        <p:spPr>
          <a:xfrm>
            <a:off x="3273552" y="2926080"/>
            <a:ext cx="2606040" cy="320040"/>
          </a:xfrm>
          <a:prstGeom prst="rect">
            <a:avLst/>
          </a:prstGeom>
          <a:noFill/>
        </p:spPr>
        <p:txBody>
          <a:bodyPr wrap="square" anchor="t" lIns="50800" rIns="50800" tIns="25400" bIns="25400">
            <a:spAutoFit/>
          </a:bodyPr>
          <a:lstStyle/>
          <a:p>
            <a:pPr algn="ctr"/>
            <a:r>
              <a:rPr sz="1300" b="1" i="0">
                <a:solidFill>
                  <a:srgbClr val="1E2761"/>
                </a:solidFill>
              </a:rPr>
              <a:t>Reference Build</a:t>
            </a:r>
          </a:p>
        </p:txBody>
      </p:sp>
      <p:sp>
        <p:nvSpPr>
          <p:cNvPr id="133" name="TextBox 132"/>
          <p:cNvSpPr txBox="1"/>
          <p:nvPr/>
        </p:nvSpPr>
        <p:spPr>
          <a:xfrm>
            <a:off x="3273552" y="3291840"/>
            <a:ext cx="2606040" cy="274320"/>
          </a:xfrm>
          <a:prstGeom prst="rect">
            <a:avLst/>
          </a:prstGeom>
          <a:noFill/>
        </p:spPr>
        <p:txBody>
          <a:bodyPr wrap="square" anchor="t" lIns="50800" rIns="50800" tIns="25400" bIns="25400">
            <a:spAutoFit/>
          </a:bodyPr>
          <a:lstStyle/>
          <a:p>
            <a:pPr algn="ctr"/>
            <a:r>
              <a:rPr sz="800" b="0" i="0">
                <a:solidFill>
                  <a:srgbClr val="888888"/>
                </a:solidFill>
              </a:rPr>
              <a:t>github.com/peopleforrester/</a:t>
            </a:r>
          </a:p>
        </p:txBody>
      </p:sp>
      <p:sp>
        <p:nvSpPr>
          <p:cNvPr id="134" name="TextBox 133"/>
          <p:cNvSpPr txBox="1"/>
          <p:nvPr/>
        </p:nvSpPr>
        <p:spPr>
          <a:xfrm>
            <a:off x="3273552" y="3520440"/>
            <a:ext cx="2606040" cy="274320"/>
          </a:xfrm>
          <a:prstGeom prst="rect">
            <a:avLst/>
          </a:prstGeom>
          <a:noFill/>
        </p:spPr>
        <p:txBody>
          <a:bodyPr wrap="square" anchor="t" lIns="50800" rIns="50800" tIns="25400" bIns="25400">
            <a:spAutoFit/>
          </a:bodyPr>
          <a:lstStyle/>
          <a:p>
            <a:pPr algn="ctr"/>
            <a:r>
              <a:rPr sz="900" b="1" i="0">
                <a:solidFill>
                  <a:srgbClr val="4A4A4A"/>
                </a:solidFill>
              </a:rPr>
              <a:t>kubeauto-ai-day</a:t>
            </a:r>
          </a:p>
        </p:txBody>
      </p:sp>
      <p:sp>
        <p:nvSpPr>
          <p:cNvPr id="135" name="TextBox 134"/>
          <p:cNvSpPr txBox="1"/>
          <p:nvPr/>
        </p:nvSpPr>
        <p:spPr>
          <a:xfrm>
            <a:off x="3273552" y="3840480"/>
            <a:ext cx="2606040" cy="457200"/>
          </a:xfrm>
          <a:prstGeom prst="rect">
            <a:avLst/>
          </a:prstGeom>
          <a:noFill/>
        </p:spPr>
        <p:txBody>
          <a:bodyPr wrap="square" anchor="t" lIns="50800" rIns="50800" tIns="25400" bIns="25400">
            <a:spAutoFit/>
          </a:bodyPr>
          <a:lstStyle/>
          <a:p>
            <a:pPr algn="ctr"/>
            <a:r>
              <a:rPr sz="1000" b="0" i="1">
                <a:solidFill>
                  <a:srgbClr val="4A4A4A"/>
                </a:solidFill>
              </a:rPr>
              <a:t>7 phases, 27 components, full scorecard</a:t>
            </a:r>
          </a:p>
        </p:txBody>
      </p:sp>
      <p:pic>
        <p:nvPicPr>
          <p:cNvPr id="136" name="Picture 135" descr="qr-covenants.png"/>
          <p:cNvPicPr>
            <a:picLocks noChangeAspect="1"/>
          </p:cNvPicPr>
          <p:nvPr/>
        </p:nvPicPr>
        <p:blipFill>
          <a:blip r:embed="rId7"/>
          <a:stretch>
            <a:fillRect/>
          </a:stretch>
        </p:blipFill>
        <p:spPr>
          <a:xfrm>
            <a:off x="6661404" y="1554480"/>
            <a:ext cx="1280160" cy="1280160"/>
          </a:xfrm>
          <a:prstGeom prst="rect">
            <a:avLst/>
          </a:prstGeom>
        </p:spPr>
      </p:pic>
      <p:sp>
        <p:nvSpPr>
          <p:cNvPr id="137" name="TextBox 136"/>
          <p:cNvSpPr txBox="1"/>
          <p:nvPr/>
        </p:nvSpPr>
        <p:spPr>
          <a:xfrm>
            <a:off x="5998464" y="2926080"/>
            <a:ext cx="2606040" cy="320040"/>
          </a:xfrm>
          <a:prstGeom prst="rect">
            <a:avLst/>
          </a:prstGeom>
          <a:noFill/>
        </p:spPr>
        <p:txBody>
          <a:bodyPr wrap="square" anchor="t" lIns="50800" rIns="50800" tIns="25400" bIns="25400">
            <a:spAutoFit/>
          </a:bodyPr>
          <a:lstStyle/>
          <a:p>
            <a:pPr algn="ctr"/>
            <a:r>
              <a:rPr sz="1300" b="1" i="0">
                <a:solidFill>
                  <a:srgbClr val="1E2761"/>
                </a:solidFill>
              </a:rPr>
              <a:t>Agentic Covenants</a:t>
            </a:r>
          </a:p>
        </p:txBody>
      </p:sp>
      <p:sp>
        <p:nvSpPr>
          <p:cNvPr id="138" name="TextBox 137"/>
          <p:cNvSpPr txBox="1"/>
          <p:nvPr/>
        </p:nvSpPr>
        <p:spPr>
          <a:xfrm>
            <a:off x="5998464" y="3291840"/>
            <a:ext cx="2606040" cy="274320"/>
          </a:xfrm>
          <a:prstGeom prst="rect">
            <a:avLst/>
          </a:prstGeom>
          <a:noFill/>
        </p:spPr>
        <p:txBody>
          <a:bodyPr wrap="square" anchor="t" lIns="50800" rIns="50800" tIns="25400" bIns="25400">
            <a:spAutoFit/>
          </a:bodyPr>
          <a:lstStyle/>
          <a:p>
            <a:pPr algn="ctr"/>
            <a:r>
              <a:rPr sz="800" b="0" i="0">
                <a:solidFill>
                  <a:srgbClr val="888888"/>
                </a:solidFill>
              </a:rPr>
              <a:t>github.com/peopleforrester/</a:t>
            </a:r>
          </a:p>
        </p:txBody>
      </p:sp>
      <p:sp>
        <p:nvSpPr>
          <p:cNvPr id="139" name="TextBox 138"/>
          <p:cNvSpPr txBox="1"/>
          <p:nvPr/>
        </p:nvSpPr>
        <p:spPr>
          <a:xfrm>
            <a:off x="5998464" y="3520440"/>
            <a:ext cx="2606040" cy="274320"/>
          </a:xfrm>
          <a:prstGeom prst="rect">
            <a:avLst/>
          </a:prstGeom>
          <a:noFill/>
        </p:spPr>
        <p:txBody>
          <a:bodyPr wrap="square" anchor="t" lIns="50800" rIns="50800" tIns="25400" bIns="25400">
            <a:spAutoFit/>
          </a:bodyPr>
          <a:lstStyle/>
          <a:p>
            <a:pPr algn="ctr"/>
            <a:r>
              <a:rPr sz="900" b="1" i="0">
                <a:solidFill>
                  <a:srgbClr val="4A4A4A"/>
                </a:solidFill>
              </a:rPr>
              <a:t>agentic-covenants</a:t>
            </a:r>
          </a:p>
        </p:txBody>
      </p:sp>
      <p:sp>
        <p:nvSpPr>
          <p:cNvPr id="140" name="TextBox 139"/>
          <p:cNvSpPr txBox="1"/>
          <p:nvPr/>
        </p:nvSpPr>
        <p:spPr>
          <a:xfrm>
            <a:off x="5998464" y="3840480"/>
            <a:ext cx="2606040" cy="457200"/>
          </a:xfrm>
          <a:prstGeom prst="rect">
            <a:avLst/>
          </a:prstGeom>
          <a:noFill/>
        </p:spPr>
        <p:txBody>
          <a:bodyPr wrap="square" anchor="t" lIns="50800" rIns="50800" tIns="25400" bIns="25400">
            <a:spAutoFit/>
          </a:bodyPr>
          <a:lstStyle/>
          <a:p>
            <a:pPr algn="ctr"/>
            <a:r>
              <a:rPr sz="1000" b="0" i="1">
                <a:solidFill>
                  <a:srgbClr val="4A4A4A"/>
                </a:solidFill>
              </a:rPr>
              <a:t>Governance framework for autonomous agents</a:t>
            </a:r>
          </a:p>
        </p:txBody>
      </p:sp>
      <p:sp>
        <p:nvSpPr>
          <p:cNvPr id="141" name="Rectangle 140"/>
          <p:cNvSpPr/>
          <p:nvPr/>
        </p:nvSpPr>
        <p:spPr>
          <a:xfrm>
            <a:off x="548640" y="1554480"/>
            <a:ext cx="80467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8640" y="1554480"/>
            <a:ext cx="8046720" cy="274320"/>
          </a:xfrm>
          <a:prstGeom prst="rect">
            <a:avLst/>
          </a:prstGeom>
          <a:noFill/>
        </p:spPr>
        <p:txBody>
          <a:bodyPr wrap="square" anchor="ctr" lIns="50800" rIns="50800" tIns="25400" bIns="25400">
            <a:spAutoFit/>
          </a:bodyPr>
          <a:lstStyle/>
          <a:p>
            <a:pPr algn="ctr"/>
            <a:r>
              <a:rPr sz="1000" b="1" i="0">
                <a:solidFill>
                  <a:srgbClr val="FF6B35"/>
                </a:solidFill>
              </a:rPr>
              <a:t>KEEP BUILDING — LABS STAY UP AFTER THE WORKSHOP</a:t>
            </a:r>
          </a:p>
        </p:txBody>
      </p:sp>
      <p:sp>
        <p:nvSpPr>
          <p:cNvPr id="143" name="TextBox 142"/>
          <p:cNvSpPr txBox="1"/>
          <p:nvPr/>
        </p:nvSpPr>
        <p:spPr>
          <a:xfrm>
            <a:off x="548640" y="1810512"/>
            <a:ext cx="8046720" cy="256032"/>
          </a:xfrm>
          <a:prstGeom prst="rect">
            <a:avLst/>
          </a:prstGeom>
          <a:noFill/>
        </p:spPr>
        <p:txBody>
          <a:bodyPr wrap="square" anchor="ctr" lIns="50800" rIns="50800" tIns="25400" bIns="25400">
            <a:spAutoFit/>
          </a:bodyPr>
          <a:lstStyle/>
          <a:p>
            <a:pPr algn="ctr"/>
            <a:r>
              <a:rPr sz="1100" b="0" i="0">
                <a:solidFill>
                  <a:srgbClr val="FFFFFF"/>
                </a:solidFill>
              </a:rPr>
              <a:t>Accenture EKS clusters: live until end of day Friday  •  KodeKloud labs: available through Monday</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pic>
        <p:nvPicPr>
          <p:cNvPr id="130" name="Google Shape;130;p12"/>
          <p:cNvPicPr preferRelativeResize="0"/>
          <p:nvPr/>
        </p:nvPicPr>
        <p:blipFill rotWithShape="1">
          <a:blip r:embed="rId4">
            <a:alphaModFix/>
          </a:blip>
          <a:srcRect b="0" l="0" r="0" t="0"/>
          <a:stretch/>
        </p:blipFill>
        <p:spPr>
          <a:xfrm>
            <a:off x="7673316" y="4568866"/>
            <a:ext cx="1158975" cy="442225"/>
          </a:xfrm>
          <a:prstGeom prst="rect">
            <a:avLst/>
          </a:prstGeom>
          <a:noFill/>
          <a:ln>
            <a:noFill/>
          </a:ln>
        </p:spPr>
      </p:pic>
      <p:sp>
        <p:nvSpPr>
          <p:cNvPr id="131" name="TextBox 130"/>
          <p:cNvSpPr txBox="1"/>
          <p:nvPr/>
        </p:nvSpPr>
        <p:spPr>
          <a:xfrm>
            <a:off x="457200" y="640080"/>
            <a:ext cx="5029200" cy="1280160"/>
          </a:xfrm>
          <a:prstGeom prst="rect">
            <a:avLst/>
          </a:prstGeom>
          <a:noFill/>
        </p:spPr>
        <p:txBody>
          <a:bodyPr wrap="square" anchor="t" lIns="50800" rIns="50800" tIns="25400" bIns="25400">
            <a:spAutoFit/>
          </a:bodyPr>
          <a:lstStyle/>
          <a:p>
            <a:pPr algn="l"/>
            <a:r>
              <a:rPr sz="4800" b="1" i="0">
                <a:solidFill>
                  <a:srgbClr val="1E2761"/>
                </a:solidFill>
              </a:rPr>
              <a:t>Thank you.</a:t>
            </a:r>
          </a:p>
        </p:txBody>
      </p:sp>
      <p:sp>
        <p:nvSpPr>
          <p:cNvPr id="132" name="TextBox 131"/>
          <p:cNvSpPr txBox="1"/>
          <p:nvPr/>
        </p:nvSpPr>
        <p:spPr>
          <a:xfrm>
            <a:off x="457200" y="1874519"/>
            <a:ext cx="5029200" cy="548640"/>
          </a:xfrm>
          <a:prstGeom prst="rect">
            <a:avLst/>
          </a:prstGeom>
          <a:noFill/>
        </p:spPr>
        <p:txBody>
          <a:bodyPr wrap="square" anchor="t" lIns="50800" rIns="50800" tIns="25400" bIns="25400">
            <a:spAutoFit/>
          </a:bodyPr>
          <a:lstStyle/>
          <a:p>
            <a:pPr algn="l"/>
            <a:r>
              <a:rPr sz="2200" b="0" i="1">
                <a:solidFill>
                  <a:srgbClr val="FF6B35"/>
                </a:solidFill>
              </a:rPr>
              <a:t>Questions?</a:t>
            </a:r>
          </a:p>
        </p:txBody>
      </p:sp>
      <p:sp>
        <p:nvSpPr>
          <p:cNvPr id="133" name="TextBox 132"/>
          <p:cNvSpPr txBox="1"/>
          <p:nvPr/>
        </p:nvSpPr>
        <p:spPr>
          <a:xfrm>
            <a:off x="457200" y="3017520"/>
            <a:ext cx="5029200" cy="365760"/>
          </a:xfrm>
          <a:prstGeom prst="rect">
            <a:avLst/>
          </a:prstGeom>
          <a:noFill/>
        </p:spPr>
        <p:txBody>
          <a:bodyPr wrap="square" anchor="t" lIns="50800" rIns="50800" tIns="25400" bIns="25400">
            <a:spAutoFit/>
          </a:bodyPr>
          <a:lstStyle/>
          <a:p>
            <a:pPr algn="l"/>
            <a:r>
              <a:rPr sz="1600" b="1" i="0">
                <a:solidFill>
                  <a:srgbClr val="1E2761"/>
                </a:solidFill>
              </a:rPr>
              <a:t>Michael Forrester</a:t>
            </a:r>
          </a:p>
        </p:txBody>
      </p:sp>
      <p:sp>
        <p:nvSpPr>
          <p:cNvPr id="134" name="TextBox 133"/>
          <p:cNvSpPr txBox="1"/>
          <p:nvPr/>
        </p:nvSpPr>
        <p:spPr>
          <a:xfrm>
            <a:off x="457200" y="3383280"/>
            <a:ext cx="5029200" cy="365760"/>
          </a:xfrm>
          <a:prstGeom prst="rect">
            <a:avLst/>
          </a:prstGeom>
          <a:noFill/>
        </p:spPr>
        <p:txBody>
          <a:bodyPr wrap="square" anchor="t" lIns="50800" rIns="50800" tIns="25400" bIns="25400">
            <a:spAutoFit/>
          </a:bodyPr>
          <a:lstStyle/>
          <a:p>
            <a:pPr algn="l"/>
            <a:r>
              <a:rPr sz="1200" b="0" i="0">
                <a:solidFill>
                  <a:srgbClr val="4A4A4A"/>
                </a:solidFill>
              </a:rPr>
              <a:t>AI Workplace Transformation Specialist — Accenture</a:t>
            </a:r>
          </a:p>
        </p:txBody>
      </p:sp>
      <p:sp>
        <p:nvSpPr>
          <p:cNvPr id="135" name="TextBox 134"/>
          <p:cNvSpPr txBox="1"/>
          <p:nvPr/>
        </p:nvSpPr>
        <p:spPr>
          <a:xfrm>
            <a:off x="457200" y="3886200"/>
            <a:ext cx="5029200" cy="365760"/>
          </a:xfrm>
          <a:prstGeom prst="rect">
            <a:avLst/>
          </a:prstGeom>
          <a:noFill/>
        </p:spPr>
        <p:txBody>
          <a:bodyPr wrap="square" anchor="t" lIns="50800" rIns="50800" tIns="25400" bIns="25400">
            <a:spAutoFit/>
          </a:bodyPr>
          <a:lstStyle/>
          <a:p>
            <a:pPr algn="l"/>
            <a:r>
              <a:rPr sz="1100" b="0" i="0">
                <a:solidFill>
                  <a:srgbClr val="FF6B35"/>
                </a:solidFill>
              </a:rPr>
              <a:t>github.com/peopleforrester</a:t>
            </a:r>
          </a:p>
        </p:txBody>
      </p:sp>
      <p:pic>
        <p:nvPicPr>
          <p:cNvPr id="136" name="Picture 135" descr="headshot.png"/>
          <p:cNvPicPr>
            <a:picLocks noChangeAspect="1"/>
          </p:cNvPicPr>
          <p:nvPr/>
        </p:nvPicPr>
        <p:blipFill>
          <a:blip r:embed="rId5"/>
          <a:stretch>
            <a:fillRect/>
          </a:stretch>
        </p:blipFill>
        <p:spPr>
          <a:xfrm>
            <a:off x="6400800" y="457200"/>
            <a:ext cx="1645920" cy="1645920"/>
          </a:xfrm>
          <a:prstGeom prst="rect">
            <a:avLst/>
          </a:prstGeom>
        </p:spPr>
      </p:pic>
      <p:sp>
        <p:nvSpPr>
          <p:cNvPr id="137" name="TextBox 136"/>
          <p:cNvSpPr txBox="1"/>
          <p:nvPr/>
        </p:nvSpPr>
        <p:spPr>
          <a:xfrm>
            <a:off x="6309360" y="2148840"/>
            <a:ext cx="1828800" cy="274320"/>
          </a:xfrm>
          <a:prstGeom prst="rect">
            <a:avLst/>
          </a:prstGeom>
          <a:noFill/>
        </p:spPr>
        <p:txBody>
          <a:bodyPr wrap="square" anchor="t" lIns="50800" rIns="50800" tIns="25400" bIns="25400">
            <a:spAutoFit/>
          </a:bodyPr>
          <a:lstStyle/>
          <a:p>
            <a:pPr algn="ctr"/>
            <a:r>
              <a:rPr sz="900" b="1" i="0">
                <a:solidFill>
                  <a:srgbClr val="1E2761"/>
                </a:solidFill>
              </a:rPr>
              <a:t>Michael Forrester</a:t>
            </a:r>
          </a:p>
        </p:txBody>
      </p:sp>
      <p:pic>
        <p:nvPicPr>
          <p:cNvPr id="138" name="Picture 137" descr="linkedin-qr.png"/>
          <p:cNvPicPr>
            <a:picLocks noChangeAspect="1"/>
          </p:cNvPicPr>
          <p:nvPr/>
        </p:nvPicPr>
        <p:blipFill>
          <a:blip r:embed="rId6"/>
          <a:stretch>
            <a:fillRect/>
          </a:stretch>
        </p:blipFill>
        <p:spPr>
          <a:xfrm>
            <a:off x="6492240" y="2514600"/>
            <a:ext cx="1463040" cy="1463040"/>
          </a:xfrm>
          <a:prstGeom prst="rect">
            <a:avLst/>
          </a:prstGeom>
        </p:spPr>
      </p:pic>
      <p:sp>
        <p:nvSpPr>
          <p:cNvPr id="139" name="TextBox 138"/>
          <p:cNvSpPr txBox="1"/>
          <p:nvPr/>
        </p:nvSpPr>
        <p:spPr>
          <a:xfrm>
            <a:off x="6309360" y="4023360"/>
            <a:ext cx="1828800" cy="274320"/>
          </a:xfrm>
          <a:prstGeom prst="rect">
            <a:avLst/>
          </a:prstGeom>
          <a:noFill/>
        </p:spPr>
        <p:txBody>
          <a:bodyPr wrap="square" anchor="t" lIns="50800" rIns="50800" tIns="25400" bIns="25400">
            <a:spAutoFit/>
          </a:bodyPr>
          <a:lstStyle/>
          <a:p>
            <a:pPr algn="ctr"/>
            <a:r>
              <a:rPr sz="900" b="1" i="0">
                <a:solidFill>
                  <a:srgbClr val="1E2761"/>
                </a:solidFill>
              </a:rPr>
              <a:t>Scan: LinkedIn</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A</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The Hooks — Deterministic Enforcement</a:t>
            </a:r>
          </a:p>
        </p:txBody>
      </p:sp>
      <p:sp>
        <p:nvSpPr>
          <p:cNvPr id="79" name="TextBox 78"/>
          <p:cNvSpPr txBox="1"/>
          <p:nvPr/>
        </p:nvSpPr>
        <p:spPr>
          <a:xfrm>
            <a:off x="548640" y="1234440"/>
            <a:ext cx="4023360" cy="274320"/>
          </a:xfrm>
          <a:prstGeom prst="rect">
            <a:avLst/>
          </a:prstGeom>
          <a:noFill/>
        </p:spPr>
        <p:txBody>
          <a:bodyPr wrap="square" anchor="t" lIns="50800" rIns="50800" tIns="25400" bIns="25400">
            <a:spAutoFit/>
          </a:bodyPr>
          <a:lstStyle/>
          <a:p>
            <a:pPr algn="l"/>
            <a:r>
              <a:rPr sz="1300" b="1" i="0">
                <a:solidFill>
                  <a:srgbClr val="1E2761"/>
                </a:solidFill>
              </a:rPr>
              <a:t>Claude Code Stop Hook</a:t>
            </a:r>
          </a:p>
        </p:txBody>
      </p:sp>
      <p:sp>
        <p:nvSpPr>
          <p:cNvPr id="80" name="TextBox 79"/>
          <p:cNvSpPr txBox="1"/>
          <p:nvPr/>
        </p:nvSpPr>
        <p:spPr>
          <a:xfrm>
            <a:off x="548640" y="1508760"/>
            <a:ext cx="4023360" cy="274320"/>
          </a:xfrm>
          <a:prstGeom prst="rect">
            <a:avLst/>
          </a:prstGeom>
          <a:noFill/>
        </p:spPr>
        <p:txBody>
          <a:bodyPr wrap="square" anchor="t" lIns="50800" rIns="50800" tIns="25400" bIns="25400">
            <a:spAutoFit/>
          </a:bodyPr>
          <a:lstStyle/>
          <a:p>
            <a:pPr algn="l"/>
            <a:r>
              <a:rPr sz="900" b="0" i="0">
                <a:solidFill>
                  <a:srgbClr val="FF6B35"/>
                </a:solidFill>
                <a:latin typeface="Courier New"/>
              </a:rPr>
              <a:t>.claude/hooks/cc-stop-deterministic.sh</a:t>
            </a:r>
          </a:p>
        </p:txBody>
      </p:sp>
      <p:sp>
        <p:nvSpPr>
          <p:cNvPr id="81" name="Rectangle 80"/>
          <p:cNvSpPr/>
          <p:nvPr/>
        </p:nvSpPr>
        <p:spPr>
          <a:xfrm>
            <a:off x="548640" y="1828800"/>
            <a:ext cx="4023360" cy="1463040"/>
          </a:xfrm>
          <a:prstGeom prst="rect">
            <a:avLst/>
          </a:prstGeom>
          <a:solidFill>
            <a:srgbClr val="101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5800" y="1874519"/>
            <a:ext cx="3840480" cy="1417320"/>
          </a:xfrm>
          <a:prstGeom prst="rect">
            <a:avLst/>
          </a:prstGeom>
          <a:noFill/>
        </p:spPr>
        <p:txBody>
          <a:bodyPr wrap="square" anchor="t" lIns="50800" rIns="50800" tIns="25400" bIns="25400">
            <a:spAutoFit/>
          </a:bodyPr>
          <a:lstStyle/>
          <a:p>
            <a:pPr algn="l"/>
            <a:r>
              <a:rPr sz="800" b="0" i="0">
                <a:solidFill>
                  <a:srgbClr val="FFFFFF"/>
                </a:solidFill>
                <a:latin typeface="Courier New"/>
              </a:rPr>
              <a:t>if [ ! -f .build-active ]; then</a:t>
            </a:r>
          </a:p>
          <a:p>
            <a:pPr algn="l"/>
            <a:r>
              <a:rPr sz="800" b="0" i="0">
                <a:solidFill>
                  <a:srgbClr val="888888"/>
                </a:solidFill>
                <a:latin typeface="Courier New"/>
              </a:rPr>
              <a:t xml:space="preserve">  approve  # hook inactive</a:t>
            </a:r>
          </a:p>
          <a:p>
            <a:pPr algn="l"/>
            <a:r>
              <a:rPr sz="800" b="0" i="0">
                <a:solidFill>
                  <a:srgbClr val="FFFFFF"/>
                </a:solidFill>
                <a:latin typeface="Courier New"/>
              </a:rPr>
              <a:t>fi</a:t>
            </a:r>
          </a:p>
          <a:p>
            <a:pPr algn="l"/>
            <a:r>
              <a:rPr sz="800" b="0" i="0">
                <a:solidFill>
                  <a:srgbClr val="FFFFFF"/>
                </a:solidFill>
              </a:rPr>
              <a:t/>
            </a:r>
          </a:p>
          <a:p>
            <a:pPr algn="l"/>
            <a:r>
              <a:rPr sz="800" b="0" i="0">
                <a:solidFill>
                  <a:srgbClr val="FFFFFF"/>
                </a:solidFill>
                <a:latin typeface="Courier New"/>
              </a:rPr>
              <a:t>if grep PHASE_[1-7]_DONE; then</a:t>
            </a:r>
          </a:p>
          <a:p>
            <a:pPr algn="l"/>
            <a:r>
              <a:rPr sz="800" b="0" i="0">
                <a:solidFill>
                  <a:srgbClr val="888888"/>
                </a:solidFill>
                <a:latin typeface="Courier New"/>
              </a:rPr>
              <a:t xml:space="preserve">  approve  # phase complete</a:t>
            </a:r>
          </a:p>
          <a:p>
            <a:pPr algn="l"/>
            <a:r>
              <a:rPr sz="800" b="0" i="0">
                <a:solidFill>
                  <a:srgbClr val="FFFFFF"/>
                </a:solidFill>
                <a:latin typeface="Courier New"/>
              </a:rPr>
              <a:t>fi</a:t>
            </a:r>
          </a:p>
          <a:p>
            <a:pPr algn="l"/>
            <a:r>
              <a:rPr sz="800" b="0" i="0">
                <a:solidFill>
                  <a:srgbClr val="FFFFFF"/>
                </a:solidFill>
              </a:rPr>
              <a:t/>
            </a:r>
          </a:p>
          <a:p>
            <a:pPr algn="l"/>
            <a:r>
              <a:rPr sz="800" b="1" i="0">
                <a:solidFill>
                  <a:srgbClr val="FF6B35"/>
                </a:solidFill>
                <a:latin typeface="Courier New"/>
              </a:rPr>
              <a:t>block  # promise not emitted</a:t>
            </a:r>
          </a:p>
        </p:txBody>
      </p:sp>
      <p:sp>
        <p:nvSpPr>
          <p:cNvPr id="83" name="TextBox 82"/>
          <p:cNvSpPr txBox="1"/>
          <p:nvPr/>
        </p:nvSpPr>
        <p:spPr>
          <a:xfrm>
            <a:off x="548640" y="3383280"/>
            <a:ext cx="4023360" cy="914400"/>
          </a:xfrm>
          <a:prstGeom prst="rect">
            <a:avLst/>
          </a:prstGeom>
          <a:noFill/>
        </p:spPr>
        <p:txBody>
          <a:bodyPr wrap="square" anchor="t" lIns="50800" rIns="50800" tIns="25400" bIns="25400">
            <a:spAutoFit/>
          </a:bodyPr>
          <a:lstStyle/>
          <a:p>
            <a:pPr algn="l"/>
            <a:r>
              <a:rPr sz="900" b="0" i="1">
                <a:solidFill>
                  <a:srgbClr val="4A4A4A"/>
                </a:solidFill>
              </a:rPr>
              <a:t>Stops Claude from "approximately done." Phase completion requires the literal &lt;promise&gt;PHASE_N_DONE&lt;/promise&gt; tag. No promise → hook blocks the Stop event → Claude must keep iterating until pytest passes.</a:t>
            </a:r>
          </a:p>
        </p:txBody>
      </p:sp>
      <p:sp>
        <p:nvSpPr>
          <p:cNvPr id="84" name="TextBox 83"/>
          <p:cNvSpPr txBox="1"/>
          <p:nvPr/>
        </p:nvSpPr>
        <p:spPr>
          <a:xfrm>
            <a:off x="4754880" y="1234440"/>
            <a:ext cx="3840480" cy="274320"/>
          </a:xfrm>
          <a:prstGeom prst="rect">
            <a:avLst/>
          </a:prstGeom>
          <a:noFill/>
        </p:spPr>
        <p:txBody>
          <a:bodyPr wrap="square" anchor="t" lIns="50800" rIns="50800" tIns="25400" bIns="25400">
            <a:spAutoFit/>
          </a:bodyPr>
          <a:lstStyle/>
          <a:p>
            <a:pPr algn="l"/>
            <a:r>
              <a:rPr sz="1300" b="1" i="0">
                <a:solidFill>
                  <a:srgbClr val="1E2761"/>
                </a:solidFill>
              </a:rPr>
              <a:t>Pre-Commit Gates (local enforcement)</a:t>
            </a:r>
          </a:p>
        </p:txBody>
      </p:sp>
      <p:sp>
        <p:nvSpPr>
          <p:cNvPr id="85" name="TextBox 84"/>
          <p:cNvSpPr txBox="1"/>
          <p:nvPr/>
        </p:nvSpPr>
        <p:spPr>
          <a:xfrm>
            <a:off x="4754880" y="1508760"/>
            <a:ext cx="3840480" cy="274320"/>
          </a:xfrm>
          <a:prstGeom prst="rect">
            <a:avLst/>
          </a:prstGeom>
          <a:noFill/>
        </p:spPr>
        <p:txBody>
          <a:bodyPr wrap="square" anchor="t" lIns="50800" rIns="50800" tIns="25400" bIns="25400">
            <a:spAutoFit/>
          </a:bodyPr>
          <a:lstStyle/>
          <a:p>
            <a:pPr algn="l"/>
            <a:r>
              <a:rPr sz="900" b="0" i="0">
                <a:solidFill>
                  <a:srgbClr val="FF6B35"/>
                </a:solidFill>
              </a:rPr>
              <a:t>.pre-commit-config.yaml — cannot be bypassed by Claude</a:t>
            </a:r>
          </a:p>
        </p:txBody>
      </p:sp>
      <p:sp>
        <p:nvSpPr>
          <p:cNvPr id="86" name="Rectangle 85"/>
          <p:cNvSpPr/>
          <p:nvPr/>
        </p:nvSpPr>
        <p:spPr>
          <a:xfrm>
            <a:off x="4754880" y="1828800"/>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983480" y="1810512"/>
            <a:ext cx="1828800" cy="201168"/>
          </a:xfrm>
          <a:prstGeom prst="rect">
            <a:avLst/>
          </a:prstGeom>
          <a:noFill/>
        </p:spPr>
        <p:txBody>
          <a:bodyPr wrap="square" anchor="t" lIns="50800" rIns="50800" tIns="25400" bIns="25400">
            <a:spAutoFit/>
          </a:bodyPr>
          <a:lstStyle/>
          <a:p>
            <a:pPr algn="l"/>
            <a:r>
              <a:rPr sz="1000" b="1" i="0">
                <a:solidFill>
                  <a:srgbClr val="1E2761"/>
                </a:solidFill>
              </a:rPr>
              <a:t>gitleaks</a:t>
            </a:r>
          </a:p>
        </p:txBody>
      </p:sp>
      <p:sp>
        <p:nvSpPr>
          <p:cNvPr id="88" name="TextBox 87"/>
          <p:cNvSpPr txBox="1"/>
          <p:nvPr/>
        </p:nvSpPr>
        <p:spPr>
          <a:xfrm>
            <a:off x="4983480" y="1993392"/>
            <a:ext cx="3566160" cy="201168"/>
          </a:xfrm>
          <a:prstGeom prst="rect">
            <a:avLst/>
          </a:prstGeom>
          <a:noFill/>
        </p:spPr>
        <p:txBody>
          <a:bodyPr wrap="square" anchor="t" lIns="50800" rIns="50800" tIns="25400" bIns="25400">
            <a:spAutoFit/>
          </a:bodyPr>
          <a:lstStyle/>
          <a:p>
            <a:pPr algn="l"/>
            <a:r>
              <a:rPr sz="800" b="0" i="0">
                <a:solidFill>
                  <a:srgbClr val="4A4A4A"/>
                </a:solidFill>
              </a:rPr>
              <a:t>secret scan — runs first, blocks if hit</a:t>
            </a:r>
          </a:p>
        </p:txBody>
      </p:sp>
      <p:sp>
        <p:nvSpPr>
          <p:cNvPr id="89" name="Rectangle 88"/>
          <p:cNvSpPr/>
          <p:nvPr/>
        </p:nvSpPr>
        <p:spPr>
          <a:xfrm>
            <a:off x="4754880" y="2157984"/>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983480" y="2139696"/>
            <a:ext cx="1828800" cy="201168"/>
          </a:xfrm>
          <a:prstGeom prst="rect">
            <a:avLst/>
          </a:prstGeom>
          <a:noFill/>
        </p:spPr>
        <p:txBody>
          <a:bodyPr wrap="square" anchor="t" lIns="50800" rIns="50800" tIns="25400" bIns="25400">
            <a:spAutoFit/>
          </a:bodyPr>
          <a:lstStyle/>
          <a:p>
            <a:pPr algn="l"/>
            <a:r>
              <a:rPr sz="1000" b="1" i="0">
                <a:solidFill>
                  <a:srgbClr val="1E2761"/>
                </a:solidFill>
              </a:rPr>
              <a:t>yamllint</a:t>
            </a:r>
          </a:p>
        </p:txBody>
      </p:sp>
      <p:sp>
        <p:nvSpPr>
          <p:cNvPr id="91" name="TextBox 90"/>
          <p:cNvSpPr txBox="1"/>
          <p:nvPr/>
        </p:nvSpPr>
        <p:spPr>
          <a:xfrm>
            <a:off x="4983480" y="2322576"/>
            <a:ext cx="3566160" cy="201168"/>
          </a:xfrm>
          <a:prstGeom prst="rect">
            <a:avLst/>
          </a:prstGeom>
          <a:noFill/>
        </p:spPr>
        <p:txBody>
          <a:bodyPr wrap="square" anchor="t" lIns="50800" rIns="50800" tIns="25400" bIns="25400">
            <a:spAutoFit/>
          </a:bodyPr>
          <a:lstStyle/>
          <a:p>
            <a:pPr algn="l"/>
            <a:r>
              <a:rPr sz="800" b="0" i="0">
                <a:solidFill>
                  <a:srgbClr val="4A4A4A"/>
                </a:solidFill>
              </a:rPr>
              <a:t>YAML syntax + style</a:t>
            </a:r>
          </a:p>
        </p:txBody>
      </p:sp>
      <p:sp>
        <p:nvSpPr>
          <p:cNvPr id="92" name="Rectangle 91"/>
          <p:cNvSpPr/>
          <p:nvPr/>
        </p:nvSpPr>
        <p:spPr>
          <a:xfrm>
            <a:off x="4754880" y="2487168"/>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983480" y="2468880"/>
            <a:ext cx="1828800" cy="201168"/>
          </a:xfrm>
          <a:prstGeom prst="rect">
            <a:avLst/>
          </a:prstGeom>
          <a:noFill/>
        </p:spPr>
        <p:txBody>
          <a:bodyPr wrap="square" anchor="t" lIns="50800" rIns="50800" tIns="25400" bIns="25400">
            <a:spAutoFit/>
          </a:bodyPr>
          <a:lstStyle/>
          <a:p>
            <a:pPr algn="l"/>
            <a:r>
              <a:rPr sz="1000" b="1" i="0">
                <a:solidFill>
                  <a:srgbClr val="1E2761"/>
                </a:solidFill>
              </a:rPr>
              <a:t>kubeconform</a:t>
            </a:r>
          </a:p>
        </p:txBody>
      </p:sp>
      <p:sp>
        <p:nvSpPr>
          <p:cNvPr id="94" name="TextBox 93"/>
          <p:cNvSpPr txBox="1"/>
          <p:nvPr/>
        </p:nvSpPr>
        <p:spPr>
          <a:xfrm>
            <a:off x="4983480" y="2651760"/>
            <a:ext cx="3566160" cy="201168"/>
          </a:xfrm>
          <a:prstGeom prst="rect">
            <a:avLst/>
          </a:prstGeom>
          <a:noFill/>
        </p:spPr>
        <p:txBody>
          <a:bodyPr wrap="square" anchor="t" lIns="50800" rIns="50800" tIns="25400" bIns="25400">
            <a:spAutoFit/>
          </a:bodyPr>
          <a:lstStyle/>
          <a:p>
            <a:pPr algn="l"/>
            <a:r>
              <a:rPr sz="800" b="0" i="0">
                <a:solidFill>
                  <a:srgbClr val="4A4A4A"/>
                </a:solidFill>
              </a:rPr>
              <a:t>K8s schema validation against real CRDs</a:t>
            </a:r>
          </a:p>
        </p:txBody>
      </p:sp>
      <p:sp>
        <p:nvSpPr>
          <p:cNvPr id="95" name="Rectangle 94"/>
          <p:cNvSpPr/>
          <p:nvPr/>
        </p:nvSpPr>
        <p:spPr>
          <a:xfrm>
            <a:off x="4754880" y="2816352"/>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983480" y="2798064"/>
            <a:ext cx="1828800" cy="201168"/>
          </a:xfrm>
          <a:prstGeom prst="rect">
            <a:avLst/>
          </a:prstGeom>
          <a:noFill/>
        </p:spPr>
        <p:txBody>
          <a:bodyPr wrap="square" anchor="t" lIns="50800" rIns="50800" tIns="25400" bIns="25400">
            <a:spAutoFit/>
          </a:bodyPr>
          <a:lstStyle/>
          <a:p>
            <a:pPr algn="l"/>
            <a:r>
              <a:rPr sz="1000" b="1" i="0">
                <a:solidFill>
                  <a:srgbClr val="1E2761"/>
                </a:solidFill>
              </a:rPr>
              <a:t>helm-lint</a:t>
            </a:r>
          </a:p>
        </p:txBody>
      </p:sp>
      <p:sp>
        <p:nvSpPr>
          <p:cNvPr id="97" name="TextBox 96"/>
          <p:cNvSpPr txBox="1"/>
          <p:nvPr/>
        </p:nvSpPr>
        <p:spPr>
          <a:xfrm>
            <a:off x="4983480" y="2980944"/>
            <a:ext cx="3566160" cy="201168"/>
          </a:xfrm>
          <a:prstGeom prst="rect">
            <a:avLst/>
          </a:prstGeom>
          <a:noFill/>
        </p:spPr>
        <p:txBody>
          <a:bodyPr wrap="square" anchor="t" lIns="50800" rIns="50800" tIns="25400" bIns="25400">
            <a:spAutoFit/>
          </a:bodyPr>
          <a:lstStyle/>
          <a:p>
            <a:pPr algn="l"/>
            <a:r>
              <a:rPr sz="800" b="0" i="0">
                <a:solidFill>
                  <a:srgbClr val="4A4A4A"/>
                </a:solidFill>
              </a:rPr>
              <a:t>chart correctness</a:t>
            </a:r>
          </a:p>
        </p:txBody>
      </p:sp>
      <p:sp>
        <p:nvSpPr>
          <p:cNvPr id="98" name="Rectangle 97"/>
          <p:cNvSpPr/>
          <p:nvPr/>
        </p:nvSpPr>
        <p:spPr>
          <a:xfrm>
            <a:off x="4754880" y="3145536"/>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983480" y="3127248"/>
            <a:ext cx="1828800" cy="201168"/>
          </a:xfrm>
          <a:prstGeom prst="rect">
            <a:avLst/>
          </a:prstGeom>
          <a:noFill/>
        </p:spPr>
        <p:txBody>
          <a:bodyPr wrap="square" anchor="t" lIns="50800" rIns="50800" tIns="25400" bIns="25400">
            <a:spAutoFit/>
          </a:bodyPr>
          <a:lstStyle/>
          <a:p>
            <a:pPr algn="l"/>
            <a:r>
              <a:rPr sz="1000" b="1" i="0">
                <a:solidFill>
                  <a:srgbClr val="1E2761"/>
                </a:solidFill>
              </a:rPr>
              <a:t>shellcheck</a:t>
            </a:r>
          </a:p>
        </p:txBody>
      </p:sp>
      <p:sp>
        <p:nvSpPr>
          <p:cNvPr id="100" name="TextBox 99"/>
          <p:cNvSpPr txBox="1"/>
          <p:nvPr/>
        </p:nvSpPr>
        <p:spPr>
          <a:xfrm>
            <a:off x="4983480" y="3310128"/>
            <a:ext cx="3566160" cy="201168"/>
          </a:xfrm>
          <a:prstGeom prst="rect">
            <a:avLst/>
          </a:prstGeom>
          <a:noFill/>
        </p:spPr>
        <p:txBody>
          <a:bodyPr wrap="square" anchor="t" lIns="50800" rIns="50800" tIns="25400" bIns="25400">
            <a:spAutoFit/>
          </a:bodyPr>
          <a:lstStyle/>
          <a:p>
            <a:pPr algn="l"/>
            <a:r>
              <a:rPr sz="800" b="0" i="0">
                <a:solidFill>
                  <a:srgbClr val="4A4A4A"/>
                </a:solidFill>
              </a:rPr>
              <a:t>shell script validity</a:t>
            </a:r>
          </a:p>
        </p:txBody>
      </p:sp>
      <p:sp>
        <p:nvSpPr>
          <p:cNvPr id="101" name="Rectangle 100"/>
          <p:cNvSpPr/>
          <p:nvPr/>
        </p:nvSpPr>
        <p:spPr>
          <a:xfrm>
            <a:off x="4754880" y="3474720"/>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983480" y="3456432"/>
            <a:ext cx="1828800" cy="201168"/>
          </a:xfrm>
          <a:prstGeom prst="rect">
            <a:avLst/>
          </a:prstGeom>
          <a:noFill/>
        </p:spPr>
        <p:txBody>
          <a:bodyPr wrap="square" anchor="t" lIns="50800" rIns="50800" tIns="25400" bIns="25400">
            <a:spAutoFit/>
          </a:bodyPr>
          <a:lstStyle/>
          <a:p>
            <a:pPr algn="l"/>
            <a:r>
              <a:rPr sz="1000" b="1" i="0">
                <a:solidFill>
                  <a:srgbClr val="1E2761"/>
                </a:solidFill>
              </a:rPr>
              <a:t>dry-run-validate</a:t>
            </a:r>
          </a:p>
        </p:txBody>
      </p:sp>
      <p:sp>
        <p:nvSpPr>
          <p:cNvPr id="103" name="TextBox 102"/>
          <p:cNvSpPr txBox="1"/>
          <p:nvPr/>
        </p:nvSpPr>
        <p:spPr>
          <a:xfrm>
            <a:off x="4983480" y="3639312"/>
            <a:ext cx="3566160" cy="201168"/>
          </a:xfrm>
          <a:prstGeom prst="rect">
            <a:avLst/>
          </a:prstGeom>
          <a:noFill/>
        </p:spPr>
        <p:txBody>
          <a:bodyPr wrap="square" anchor="t" lIns="50800" rIns="50800" tIns="25400" bIns="25400">
            <a:spAutoFit/>
          </a:bodyPr>
          <a:lstStyle/>
          <a:p>
            <a:pPr algn="l"/>
            <a:r>
              <a:rPr sz="800" b="0" i="0">
                <a:solidFill>
                  <a:srgbClr val="4A4A4A"/>
                </a:solidFill>
              </a:rPr>
              <a:t>pre-push gate — structure + chart versions + rendering</a:t>
            </a:r>
          </a:p>
        </p:txBody>
      </p:sp>
      <p:sp>
        <p:nvSpPr>
          <p:cNvPr id="104" name="Rectangle 103"/>
          <p:cNvSpPr/>
          <p:nvPr/>
        </p:nvSpPr>
        <p:spPr>
          <a:xfrm>
            <a:off x="4754880" y="3803904"/>
            <a:ext cx="164592" cy="164592"/>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983480" y="3785616"/>
            <a:ext cx="1828800" cy="201168"/>
          </a:xfrm>
          <a:prstGeom prst="rect">
            <a:avLst/>
          </a:prstGeom>
          <a:noFill/>
        </p:spPr>
        <p:txBody>
          <a:bodyPr wrap="square" anchor="t" lIns="50800" rIns="50800" tIns="25400" bIns="25400">
            <a:spAutoFit/>
          </a:bodyPr>
          <a:lstStyle/>
          <a:p>
            <a:pPr algn="l"/>
            <a:r>
              <a:rPr sz="1000" b="1" i="0">
                <a:solidFill>
                  <a:srgbClr val="1E2761"/>
                </a:solidFill>
              </a:rPr>
              <a:t>conventional-commit</a:t>
            </a:r>
          </a:p>
        </p:txBody>
      </p:sp>
      <p:sp>
        <p:nvSpPr>
          <p:cNvPr id="106" name="TextBox 105"/>
          <p:cNvSpPr txBox="1"/>
          <p:nvPr/>
        </p:nvSpPr>
        <p:spPr>
          <a:xfrm>
            <a:off x="4983480" y="3968496"/>
            <a:ext cx="3566160" cy="201168"/>
          </a:xfrm>
          <a:prstGeom prst="rect">
            <a:avLst/>
          </a:prstGeom>
          <a:noFill/>
        </p:spPr>
        <p:txBody>
          <a:bodyPr wrap="square" anchor="t" lIns="50800" rIns="50800" tIns="25400" bIns="25400">
            <a:spAutoFit/>
          </a:bodyPr>
          <a:lstStyle/>
          <a:p>
            <a:pPr algn="l"/>
            <a:r>
              <a:rPr sz="800" b="0" i="0">
                <a:solidFill>
                  <a:srgbClr val="4A4A4A"/>
                </a:solidFill>
              </a:rPr>
              <a:t>commit msg format (feat:/fix:/workshop:)</a:t>
            </a:r>
          </a:p>
        </p:txBody>
      </p:sp>
      <p:sp>
        <p:nvSpPr>
          <p:cNvPr id="107" name="TextBox 106"/>
          <p:cNvSpPr txBox="1"/>
          <p:nvPr/>
        </p:nvSpPr>
        <p:spPr>
          <a:xfrm>
            <a:off x="548640" y="4480560"/>
            <a:ext cx="8046720" cy="292608"/>
          </a:xfrm>
          <a:prstGeom prst="rect">
            <a:avLst/>
          </a:prstGeom>
          <a:noFill/>
        </p:spPr>
        <p:txBody>
          <a:bodyPr wrap="square" anchor="t" lIns="50800" rIns="50800" tIns="25400" bIns="25400">
            <a:spAutoFit/>
          </a:bodyPr>
          <a:lstStyle/>
          <a:p>
            <a:pPr algn="ctr"/>
            <a:r>
              <a:rPr sz="1100" b="1" i="1">
                <a:solidFill>
                  <a:srgbClr val="1E2761"/>
                </a:solidFill>
              </a:rPr>
              <a:t>The agent is the YAML generator. The hooks are the gatekeepers. Two different control planes by design.</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B</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The Wave — Sync Wave Architecture</a:t>
            </a:r>
          </a:p>
        </p:txBody>
      </p:sp>
      <p:sp>
        <p:nvSpPr>
          <p:cNvPr id="79" name="TextBox 78"/>
          <p:cNvSpPr txBox="1"/>
          <p:nvPr/>
        </p:nvSpPr>
        <p:spPr>
          <a:xfrm>
            <a:off x="548640" y="1188720"/>
            <a:ext cx="8046720" cy="292608"/>
          </a:xfrm>
          <a:prstGeom prst="rect">
            <a:avLst/>
          </a:prstGeom>
          <a:noFill/>
        </p:spPr>
        <p:txBody>
          <a:bodyPr wrap="square" anchor="t" lIns="50800" rIns="50800" tIns="25400" bIns="25400">
            <a:spAutoFit/>
          </a:bodyPr>
          <a:lstStyle/>
          <a:p>
            <a:pPr algn="l"/>
            <a:r>
              <a:rPr sz="1100" b="0" i="1">
                <a:solidFill>
                  <a:srgbClr val="4A4A4A"/>
                </a:solidFill>
              </a:rPr>
              <a:t>32 Applications. 11 waves. One DAG that ArgoCD walks bottom-up.</a:t>
            </a:r>
          </a:p>
        </p:txBody>
      </p:sp>
      <p:sp>
        <p:nvSpPr>
          <p:cNvPr id="80" name="Rectangle 79"/>
          <p:cNvSpPr/>
          <p:nvPr/>
        </p:nvSpPr>
        <p:spPr>
          <a:xfrm>
            <a:off x="548640" y="15544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1554480"/>
            <a:ext cx="868680" cy="420624"/>
          </a:xfrm>
          <a:prstGeom prst="rect">
            <a:avLst/>
          </a:prstGeom>
          <a:noFill/>
        </p:spPr>
        <p:txBody>
          <a:bodyPr wrap="square" anchor="ctr" lIns="50800" rIns="50800" tIns="25400" bIns="25400">
            <a:spAutoFit/>
          </a:bodyPr>
          <a:lstStyle/>
          <a:p>
            <a:pPr algn="ctr"/>
            <a:r>
              <a:rPr sz="1000" b="1" i="0">
                <a:solidFill>
                  <a:srgbClr val="FFFFFF"/>
                </a:solidFill>
              </a:rPr>
              <a:t>-10</a:t>
            </a:r>
          </a:p>
        </p:txBody>
      </p:sp>
      <p:sp>
        <p:nvSpPr>
          <p:cNvPr id="82" name="TextBox 81"/>
          <p:cNvSpPr txBox="1"/>
          <p:nvPr/>
        </p:nvSpPr>
        <p:spPr>
          <a:xfrm>
            <a:off x="1554480" y="1536192"/>
            <a:ext cx="1828800" cy="228600"/>
          </a:xfrm>
          <a:prstGeom prst="rect">
            <a:avLst/>
          </a:prstGeom>
          <a:noFill/>
        </p:spPr>
        <p:txBody>
          <a:bodyPr wrap="square" anchor="t" lIns="50800" rIns="50800" tIns="25400" bIns="25400">
            <a:spAutoFit/>
          </a:bodyPr>
          <a:lstStyle/>
          <a:p>
            <a:pPr algn="l"/>
            <a:r>
              <a:rPr sz="1100" b="1" i="0">
                <a:solidFill>
                  <a:srgbClr val="1E2761"/>
                </a:solidFill>
              </a:rPr>
              <a:t>Foundation</a:t>
            </a:r>
          </a:p>
        </p:txBody>
      </p:sp>
      <p:sp>
        <p:nvSpPr>
          <p:cNvPr id="83" name="TextBox 82"/>
          <p:cNvSpPr txBox="1"/>
          <p:nvPr/>
        </p:nvSpPr>
        <p:spPr>
          <a:xfrm>
            <a:off x="3429000" y="1536192"/>
            <a:ext cx="5212080" cy="228600"/>
          </a:xfrm>
          <a:prstGeom prst="rect">
            <a:avLst/>
          </a:prstGeom>
          <a:noFill/>
        </p:spPr>
        <p:txBody>
          <a:bodyPr wrap="square" anchor="t" lIns="50800" rIns="50800" tIns="25400" bIns="25400">
            <a:spAutoFit/>
          </a:bodyPr>
          <a:lstStyle/>
          <a:p>
            <a:pPr algn="l"/>
            <a:r>
              <a:rPr sz="800" b="0" i="0">
                <a:solidFill>
                  <a:srgbClr val="4A4A4A"/>
                </a:solidFill>
              </a:rPr>
              <a:t>namespaces</a:t>
            </a:r>
          </a:p>
        </p:txBody>
      </p:sp>
      <p:sp>
        <p:nvSpPr>
          <p:cNvPr id="84" name="TextBox 83"/>
          <p:cNvSpPr txBox="1"/>
          <p:nvPr/>
        </p:nvSpPr>
        <p:spPr>
          <a:xfrm>
            <a:off x="1554480" y="1755648"/>
            <a:ext cx="7086600" cy="228600"/>
          </a:xfrm>
          <a:prstGeom prst="rect">
            <a:avLst/>
          </a:prstGeom>
          <a:noFill/>
        </p:spPr>
        <p:txBody>
          <a:bodyPr wrap="square" anchor="t" lIns="50800" rIns="50800" tIns="25400" bIns="25400">
            <a:spAutoFit/>
          </a:bodyPr>
          <a:lstStyle/>
          <a:p>
            <a:pPr algn="l"/>
            <a:r>
              <a:rPr sz="800" b="0" i="1">
                <a:solidFill>
                  <a:srgbClr val="FF6B35"/>
                </a:solidFill>
              </a:rPr>
              <a:t>All workshop namespaces exist before anything tries to deploy into one.</a:t>
            </a:r>
          </a:p>
        </p:txBody>
      </p:sp>
      <p:sp>
        <p:nvSpPr>
          <p:cNvPr id="85" name="Rectangle 84"/>
          <p:cNvSpPr/>
          <p:nvPr/>
        </p:nvSpPr>
        <p:spPr>
          <a:xfrm>
            <a:off x="548640" y="20116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48640" y="2011680"/>
            <a:ext cx="868680" cy="420624"/>
          </a:xfrm>
          <a:prstGeom prst="rect">
            <a:avLst/>
          </a:prstGeom>
          <a:noFill/>
        </p:spPr>
        <p:txBody>
          <a:bodyPr wrap="square" anchor="ctr" lIns="50800" rIns="50800" tIns="25400" bIns="25400">
            <a:spAutoFit/>
          </a:bodyPr>
          <a:lstStyle/>
          <a:p>
            <a:pPr algn="ctr"/>
            <a:r>
              <a:rPr sz="1000" b="1" i="0">
                <a:solidFill>
                  <a:srgbClr val="FFFFFF"/>
                </a:solidFill>
              </a:rPr>
              <a:t>-5 to -2</a:t>
            </a:r>
          </a:p>
        </p:txBody>
      </p:sp>
      <p:sp>
        <p:nvSpPr>
          <p:cNvPr id="87" name="TextBox 86"/>
          <p:cNvSpPr txBox="1"/>
          <p:nvPr/>
        </p:nvSpPr>
        <p:spPr>
          <a:xfrm>
            <a:off x="1554480" y="1993392"/>
            <a:ext cx="1828800" cy="228600"/>
          </a:xfrm>
          <a:prstGeom prst="rect">
            <a:avLst/>
          </a:prstGeom>
          <a:noFill/>
        </p:spPr>
        <p:txBody>
          <a:bodyPr wrap="square" anchor="t" lIns="50800" rIns="50800" tIns="25400" bIns="25400">
            <a:spAutoFit/>
          </a:bodyPr>
          <a:lstStyle/>
          <a:p>
            <a:pPr algn="l"/>
            <a:r>
              <a:rPr sz="1100" b="1" i="0">
                <a:solidFill>
                  <a:srgbClr val="1E2761"/>
                </a:solidFill>
              </a:rPr>
              <a:t>Security pre-empt</a:t>
            </a:r>
          </a:p>
        </p:txBody>
      </p:sp>
      <p:sp>
        <p:nvSpPr>
          <p:cNvPr id="88" name="TextBox 87"/>
          <p:cNvSpPr txBox="1"/>
          <p:nvPr/>
        </p:nvSpPr>
        <p:spPr>
          <a:xfrm>
            <a:off x="3429000" y="1993392"/>
            <a:ext cx="5212080" cy="228600"/>
          </a:xfrm>
          <a:prstGeom prst="rect">
            <a:avLst/>
          </a:prstGeom>
          <a:noFill/>
        </p:spPr>
        <p:txBody>
          <a:bodyPr wrap="square" anchor="t" lIns="50800" rIns="50800" tIns="25400" bIns="25400">
            <a:spAutoFit/>
          </a:bodyPr>
          <a:lstStyle/>
          <a:p>
            <a:pPr algn="l"/>
            <a:r>
              <a:rPr sz="800" b="0" i="0">
                <a:solidFill>
                  <a:srgbClr val="4A4A4A"/>
                </a:solidFill>
              </a:rPr>
              <a:t>kyverno → kyverno-policies + RBAC + NetPol + ESO + Falco family</a:t>
            </a:r>
          </a:p>
        </p:txBody>
      </p:sp>
      <p:sp>
        <p:nvSpPr>
          <p:cNvPr id="89" name="TextBox 88"/>
          <p:cNvSpPr txBox="1"/>
          <p:nvPr/>
        </p:nvSpPr>
        <p:spPr>
          <a:xfrm>
            <a:off x="1554480" y="2212848"/>
            <a:ext cx="7086600" cy="228600"/>
          </a:xfrm>
          <a:prstGeom prst="rect">
            <a:avLst/>
          </a:prstGeom>
          <a:noFill/>
        </p:spPr>
        <p:txBody>
          <a:bodyPr wrap="square" anchor="t" lIns="50800" rIns="50800" tIns="25400" bIns="25400">
            <a:spAutoFit/>
          </a:bodyPr>
          <a:lstStyle/>
          <a:p>
            <a:pPr algn="l"/>
            <a:r>
              <a:rPr sz="800" b="0" i="1">
                <a:solidFill>
                  <a:srgbClr val="FF6B35"/>
                </a:solidFill>
              </a:rPr>
              <a:t>Admission controller + policy enforcement is in place BEFORE workloads arrive.</a:t>
            </a:r>
          </a:p>
        </p:txBody>
      </p:sp>
      <p:sp>
        <p:nvSpPr>
          <p:cNvPr id="90" name="Rectangle 89"/>
          <p:cNvSpPr/>
          <p:nvPr/>
        </p:nvSpPr>
        <p:spPr>
          <a:xfrm>
            <a:off x="548640" y="24688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48640" y="2468880"/>
            <a:ext cx="868680" cy="420624"/>
          </a:xfrm>
          <a:prstGeom prst="rect">
            <a:avLst/>
          </a:prstGeom>
          <a:noFill/>
        </p:spPr>
        <p:txBody>
          <a:bodyPr wrap="square" anchor="ctr" lIns="50800" rIns="50800" tIns="25400" bIns="25400">
            <a:spAutoFit/>
          </a:bodyPr>
          <a:lstStyle/>
          <a:p>
            <a:pPr algn="ctr"/>
            <a:r>
              <a:rPr sz="1000" b="1" i="0">
                <a:solidFill>
                  <a:srgbClr val="FFFFFF"/>
                </a:solidFill>
              </a:rPr>
              <a:t>1 to 2</a:t>
            </a:r>
          </a:p>
        </p:txBody>
      </p:sp>
      <p:sp>
        <p:nvSpPr>
          <p:cNvPr id="92" name="TextBox 91"/>
          <p:cNvSpPr txBox="1"/>
          <p:nvPr/>
        </p:nvSpPr>
        <p:spPr>
          <a:xfrm>
            <a:off x="1554480" y="2450592"/>
            <a:ext cx="1828800" cy="228600"/>
          </a:xfrm>
          <a:prstGeom prst="rect">
            <a:avLst/>
          </a:prstGeom>
          <a:noFill/>
        </p:spPr>
        <p:txBody>
          <a:bodyPr wrap="square" anchor="t" lIns="50800" rIns="50800" tIns="25400" bIns="25400">
            <a:spAutoFit/>
          </a:bodyPr>
          <a:lstStyle/>
          <a:p>
            <a:pPr algn="l"/>
            <a:r>
              <a:rPr sz="1100" b="1" i="0">
                <a:solidFill>
                  <a:srgbClr val="1E2761"/>
                </a:solidFill>
              </a:rPr>
              <a:t>Platform services</a:t>
            </a:r>
          </a:p>
        </p:txBody>
      </p:sp>
      <p:sp>
        <p:nvSpPr>
          <p:cNvPr id="93" name="TextBox 92"/>
          <p:cNvSpPr txBox="1"/>
          <p:nvPr/>
        </p:nvSpPr>
        <p:spPr>
          <a:xfrm>
            <a:off x="3429000" y="2450592"/>
            <a:ext cx="5212080" cy="228600"/>
          </a:xfrm>
          <a:prstGeom prst="rect">
            <a:avLst/>
          </a:prstGeom>
          <a:noFill/>
        </p:spPr>
        <p:txBody>
          <a:bodyPr wrap="square" anchor="t" lIns="50800" rIns="50800" tIns="25400" bIns="25400">
            <a:spAutoFit/>
          </a:bodyPr>
          <a:lstStyle/>
          <a:p>
            <a:pPr algn="l"/>
            <a:r>
              <a:rPr sz="800" b="0" i="0">
                <a:solidFill>
                  <a:srgbClr val="4A4A4A"/>
                </a:solidFill>
              </a:rPr>
              <a:t>cert-manager, kube-prometheus-stack, OTel, ServiceMonitors, cert-manager-issuers</a:t>
            </a:r>
          </a:p>
        </p:txBody>
      </p:sp>
      <p:sp>
        <p:nvSpPr>
          <p:cNvPr id="94" name="TextBox 93"/>
          <p:cNvSpPr txBox="1"/>
          <p:nvPr/>
        </p:nvSpPr>
        <p:spPr>
          <a:xfrm>
            <a:off x="1554480" y="2670048"/>
            <a:ext cx="7086600" cy="228600"/>
          </a:xfrm>
          <a:prstGeom prst="rect">
            <a:avLst/>
          </a:prstGeom>
          <a:noFill/>
        </p:spPr>
        <p:txBody>
          <a:bodyPr wrap="square" anchor="t" lIns="50800" rIns="50800" tIns="25400" bIns="25400">
            <a:spAutoFit/>
          </a:bodyPr>
          <a:lstStyle/>
          <a:p>
            <a:pPr algn="l"/>
            <a:r>
              <a:rPr sz="800" b="0" i="1">
                <a:solidFill>
                  <a:srgbClr val="FF6B35"/>
                </a:solidFill>
              </a:rPr>
              <a:t>TLS infra + metrics scraping running before anything they monitor exists.</a:t>
            </a:r>
          </a:p>
        </p:txBody>
      </p:sp>
      <p:sp>
        <p:nvSpPr>
          <p:cNvPr id="95" name="Rectangle 94"/>
          <p:cNvSpPr/>
          <p:nvPr/>
        </p:nvSpPr>
        <p:spPr>
          <a:xfrm>
            <a:off x="548640" y="29260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48640" y="2926080"/>
            <a:ext cx="868680" cy="420624"/>
          </a:xfrm>
          <a:prstGeom prst="rect">
            <a:avLst/>
          </a:prstGeom>
          <a:noFill/>
        </p:spPr>
        <p:txBody>
          <a:bodyPr wrap="square" anchor="ctr" lIns="50800" rIns="50800" tIns="25400" bIns="25400">
            <a:spAutoFit/>
          </a:bodyPr>
          <a:lstStyle/>
          <a:p>
            <a:pPr algn="ctr"/>
            <a:r>
              <a:rPr sz="1000" b="1" i="0">
                <a:solidFill>
                  <a:srgbClr val="FFFFFF"/>
                </a:solidFill>
              </a:rPr>
              <a:t>3 to 4</a:t>
            </a:r>
          </a:p>
        </p:txBody>
      </p:sp>
      <p:sp>
        <p:nvSpPr>
          <p:cNvPr id="97" name="TextBox 96"/>
          <p:cNvSpPr txBox="1"/>
          <p:nvPr/>
        </p:nvSpPr>
        <p:spPr>
          <a:xfrm>
            <a:off x="1554480" y="2907792"/>
            <a:ext cx="1828800" cy="228600"/>
          </a:xfrm>
          <a:prstGeom prst="rect">
            <a:avLst/>
          </a:prstGeom>
          <a:noFill/>
        </p:spPr>
        <p:txBody>
          <a:bodyPr wrap="square" anchor="t" lIns="50800" rIns="50800" tIns="25400" bIns="25400">
            <a:spAutoFit/>
          </a:bodyPr>
          <a:lstStyle/>
          <a:p>
            <a:pPr algn="l"/>
            <a:r>
              <a:rPr sz="1100" b="1" i="0">
                <a:solidFill>
                  <a:srgbClr val="1E2761"/>
                </a:solidFill>
              </a:rPr>
              <a:t>Observability + remedy</a:t>
            </a:r>
          </a:p>
        </p:txBody>
      </p:sp>
      <p:sp>
        <p:nvSpPr>
          <p:cNvPr id="98" name="TextBox 97"/>
          <p:cNvSpPr txBox="1"/>
          <p:nvPr/>
        </p:nvSpPr>
        <p:spPr>
          <a:xfrm>
            <a:off x="3429000" y="2907792"/>
            <a:ext cx="5212080" cy="228600"/>
          </a:xfrm>
          <a:prstGeom prst="rect">
            <a:avLst/>
          </a:prstGeom>
          <a:noFill/>
        </p:spPr>
        <p:txBody>
          <a:bodyPr wrap="square" anchor="t" lIns="50800" rIns="50800" tIns="25400" bIns="25400">
            <a:spAutoFit/>
          </a:bodyPr>
          <a:lstStyle/>
          <a:p>
            <a:pPr algn="l"/>
            <a:r>
              <a:rPr sz="800" b="0" i="0">
                <a:solidFill>
                  <a:srgbClr val="4A4A4A"/>
                </a:solidFill>
              </a:rPr>
              <a:t>grafana-dashboards, loki, tempo, promtail, falco-talon, resource-quotas</a:t>
            </a:r>
          </a:p>
        </p:txBody>
      </p:sp>
      <p:sp>
        <p:nvSpPr>
          <p:cNvPr id="99" name="TextBox 98"/>
          <p:cNvSpPr txBox="1"/>
          <p:nvPr/>
        </p:nvSpPr>
        <p:spPr>
          <a:xfrm>
            <a:off x="1554480" y="3127248"/>
            <a:ext cx="7086600" cy="228600"/>
          </a:xfrm>
          <a:prstGeom prst="rect">
            <a:avLst/>
          </a:prstGeom>
          <a:noFill/>
        </p:spPr>
        <p:txBody>
          <a:bodyPr wrap="square" anchor="t" lIns="50800" rIns="50800" tIns="25400" bIns="25400">
            <a:spAutoFit/>
          </a:bodyPr>
          <a:lstStyle/>
          <a:p>
            <a:pPr algn="l"/>
            <a:r>
              <a:rPr sz="800" b="0" i="1">
                <a:solidFill>
                  <a:srgbClr val="FF6B35"/>
                </a:solidFill>
              </a:rPr>
              <a:t>Logs/traces/dashboards/auto-remediation — visibility before workloads need it.</a:t>
            </a:r>
          </a:p>
        </p:txBody>
      </p:sp>
      <p:sp>
        <p:nvSpPr>
          <p:cNvPr id="100" name="Rectangle 99"/>
          <p:cNvSpPr/>
          <p:nvPr/>
        </p:nvSpPr>
        <p:spPr>
          <a:xfrm>
            <a:off x="548640" y="33832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48640" y="3383280"/>
            <a:ext cx="868680" cy="420624"/>
          </a:xfrm>
          <a:prstGeom prst="rect">
            <a:avLst/>
          </a:prstGeom>
          <a:noFill/>
        </p:spPr>
        <p:txBody>
          <a:bodyPr wrap="square" anchor="ctr" lIns="50800" rIns="50800" tIns="25400" bIns="25400">
            <a:spAutoFit/>
          </a:bodyPr>
          <a:lstStyle/>
          <a:p>
            <a:pPr algn="ctr"/>
            <a:r>
              <a:rPr sz="1000" b="1" i="0">
                <a:solidFill>
                  <a:srgbClr val="FFFFFF"/>
                </a:solidFill>
              </a:rPr>
              <a:t>5</a:t>
            </a:r>
          </a:p>
        </p:txBody>
      </p:sp>
      <p:sp>
        <p:nvSpPr>
          <p:cNvPr id="102" name="TextBox 101"/>
          <p:cNvSpPr txBox="1"/>
          <p:nvPr/>
        </p:nvSpPr>
        <p:spPr>
          <a:xfrm>
            <a:off x="1554480" y="3364992"/>
            <a:ext cx="1828800" cy="228600"/>
          </a:xfrm>
          <a:prstGeom prst="rect">
            <a:avLst/>
          </a:prstGeom>
          <a:noFill/>
        </p:spPr>
        <p:txBody>
          <a:bodyPr wrap="square" anchor="t" lIns="50800" rIns="50800" tIns="25400" bIns="25400">
            <a:spAutoFit/>
          </a:bodyPr>
          <a:lstStyle/>
          <a:p>
            <a:pPr algn="l"/>
            <a:r>
              <a:rPr sz="1100" b="1" i="0">
                <a:solidFill>
                  <a:srgbClr val="1E2761"/>
                </a:solidFill>
              </a:rPr>
              <a:t>Portal + sample</a:t>
            </a:r>
          </a:p>
        </p:txBody>
      </p:sp>
      <p:sp>
        <p:nvSpPr>
          <p:cNvPr id="103" name="TextBox 102"/>
          <p:cNvSpPr txBox="1"/>
          <p:nvPr/>
        </p:nvSpPr>
        <p:spPr>
          <a:xfrm>
            <a:off x="3429000" y="3364992"/>
            <a:ext cx="5212080" cy="228600"/>
          </a:xfrm>
          <a:prstGeom prst="rect">
            <a:avLst/>
          </a:prstGeom>
          <a:noFill/>
        </p:spPr>
        <p:txBody>
          <a:bodyPr wrap="square" anchor="t" lIns="50800" rIns="50800" tIns="25400" bIns="25400">
            <a:spAutoFit/>
          </a:bodyPr>
          <a:lstStyle/>
          <a:p>
            <a:pPr algn="l"/>
            <a:r>
              <a:rPr sz="800" b="0" i="0">
                <a:solidFill>
                  <a:srgbClr val="4A4A4A"/>
                </a:solidFill>
              </a:rPr>
              <a:t>backstage, backstage-resources, sample-app</a:t>
            </a:r>
          </a:p>
        </p:txBody>
      </p:sp>
      <p:sp>
        <p:nvSpPr>
          <p:cNvPr id="104" name="TextBox 103"/>
          <p:cNvSpPr txBox="1"/>
          <p:nvPr/>
        </p:nvSpPr>
        <p:spPr>
          <a:xfrm>
            <a:off x="1554480" y="3584448"/>
            <a:ext cx="7086600" cy="228600"/>
          </a:xfrm>
          <a:prstGeom prst="rect">
            <a:avLst/>
          </a:prstGeom>
          <a:noFill/>
        </p:spPr>
        <p:txBody>
          <a:bodyPr wrap="square" anchor="t" lIns="50800" rIns="50800" tIns="25400" bIns="25400">
            <a:spAutoFit/>
          </a:bodyPr>
          <a:lstStyle/>
          <a:p>
            <a:pPr algn="l"/>
            <a:r>
              <a:rPr sz="800" b="0" i="1">
                <a:solidFill>
                  <a:srgbClr val="FF6B35"/>
                </a:solidFill>
              </a:rPr>
              <a:t>Developer surface. Backstage and sample workload run in parallel.</a:t>
            </a:r>
          </a:p>
        </p:txBody>
      </p:sp>
      <p:sp>
        <p:nvSpPr>
          <p:cNvPr id="105" name="Rectangle 104"/>
          <p:cNvSpPr/>
          <p:nvPr/>
        </p:nvSpPr>
        <p:spPr>
          <a:xfrm>
            <a:off x="548640" y="3840480"/>
            <a:ext cx="8686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48640" y="3840480"/>
            <a:ext cx="868680" cy="420624"/>
          </a:xfrm>
          <a:prstGeom prst="rect">
            <a:avLst/>
          </a:prstGeom>
          <a:noFill/>
        </p:spPr>
        <p:txBody>
          <a:bodyPr wrap="square" anchor="ctr" lIns="50800" rIns="50800" tIns="25400" bIns="25400">
            <a:spAutoFit/>
          </a:bodyPr>
          <a:lstStyle/>
          <a:p>
            <a:pPr algn="ctr"/>
            <a:r>
              <a:rPr sz="1000" b="1" i="0">
                <a:solidFill>
                  <a:srgbClr val="FFFFFF"/>
                </a:solidFill>
              </a:rPr>
              <a:t>7 to 8</a:t>
            </a:r>
          </a:p>
        </p:txBody>
      </p:sp>
      <p:sp>
        <p:nvSpPr>
          <p:cNvPr id="107" name="TextBox 106"/>
          <p:cNvSpPr txBox="1"/>
          <p:nvPr/>
        </p:nvSpPr>
        <p:spPr>
          <a:xfrm>
            <a:off x="1554480" y="3822192"/>
            <a:ext cx="1828800" cy="228600"/>
          </a:xfrm>
          <a:prstGeom prst="rect">
            <a:avLst/>
          </a:prstGeom>
          <a:noFill/>
        </p:spPr>
        <p:txBody>
          <a:bodyPr wrap="square" anchor="t" lIns="50800" rIns="50800" tIns="25400" bIns="25400">
            <a:spAutoFit/>
          </a:bodyPr>
          <a:lstStyle/>
          <a:p>
            <a:pPr algn="l"/>
            <a:r>
              <a:rPr sz="1100" b="1" i="0">
                <a:solidFill>
                  <a:srgbClr val="1E2761"/>
                </a:solidFill>
              </a:rPr>
              <a:t>Demo workloads</a:t>
            </a:r>
          </a:p>
        </p:txBody>
      </p:sp>
      <p:sp>
        <p:nvSpPr>
          <p:cNvPr id="108" name="TextBox 107"/>
          <p:cNvSpPr txBox="1"/>
          <p:nvPr/>
        </p:nvSpPr>
        <p:spPr>
          <a:xfrm>
            <a:off x="3429000" y="3822192"/>
            <a:ext cx="5212080" cy="228600"/>
          </a:xfrm>
          <a:prstGeom prst="rect">
            <a:avLst/>
          </a:prstGeom>
          <a:noFill/>
        </p:spPr>
        <p:txBody>
          <a:bodyPr wrap="square" anchor="t" lIns="50800" rIns="50800" tIns="25400" bIns="25400">
            <a:spAutoFit/>
          </a:bodyPr>
          <a:lstStyle/>
          <a:p>
            <a:pPr algn="l"/>
            <a:r>
              <a:rPr sz="800" b="0" i="0">
                <a:solidFill>
                  <a:srgbClr val="4A4A4A"/>
                </a:solidFill>
              </a:rPr>
              <a:t>ecom (api/frontend/worker), 5 party-apps, load-generator</a:t>
            </a:r>
          </a:p>
        </p:txBody>
      </p:sp>
      <p:sp>
        <p:nvSpPr>
          <p:cNvPr id="109" name="TextBox 108"/>
          <p:cNvSpPr txBox="1"/>
          <p:nvPr/>
        </p:nvSpPr>
        <p:spPr>
          <a:xfrm>
            <a:off x="1554480" y="4041648"/>
            <a:ext cx="7086600" cy="228600"/>
          </a:xfrm>
          <a:prstGeom prst="rect">
            <a:avLst/>
          </a:prstGeom>
          <a:noFill/>
        </p:spPr>
        <p:txBody>
          <a:bodyPr wrap="square" anchor="t" lIns="50800" rIns="50800" tIns="25400" bIns="25400">
            <a:spAutoFit/>
          </a:bodyPr>
          <a:lstStyle/>
          <a:p>
            <a:pPr algn="l"/>
            <a:r>
              <a:rPr sz="800" b="0" i="1">
                <a:solidFill>
                  <a:srgbClr val="FF6B35"/>
                </a:solidFill>
              </a:rPr>
              <a:t>Real workloads to drive the policy/scrape/log/trace pipelines.</a:t>
            </a:r>
          </a:p>
        </p:txBody>
      </p:sp>
      <p:sp>
        <p:nvSpPr>
          <p:cNvPr id="110" name="TextBox 109"/>
          <p:cNvSpPr txBox="1"/>
          <p:nvPr/>
        </p:nvSpPr>
        <p:spPr>
          <a:xfrm>
            <a:off x="548640" y="4434840"/>
            <a:ext cx="8046720" cy="292608"/>
          </a:xfrm>
          <a:prstGeom prst="rect">
            <a:avLst/>
          </a:prstGeom>
          <a:noFill/>
        </p:spPr>
        <p:txBody>
          <a:bodyPr wrap="square" anchor="t" lIns="50800" rIns="50800" tIns="25400" bIns="25400">
            <a:spAutoFit/>
          </a:bodyPr>
          <a:lstStyle/>
          <a:p>
            <a:pPr algn="ctr"/>
            <a:r>
              <a:rPr sz="1000" b="1" i="1">
                <a:solidFill>
                  <a:srgbClr val="1E2761"/>
                </a:solidFill>
              </a:rPr>
              <a:t>Wave order encodes architectural truth: what depends on what. ArgoCD respects it; the agent cannot reorder it.</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C</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The Sink — Falco → Falcosidekick → Falco-Talon</a:t>
            </a:r>
          </a:p>
        </p:txBody>
      </p:sp>
      <p:sp>
        <p:nvSpPr>
          <p:cNvPr id="79" name="TextBox 78"/>
          <p:cNvSpPr txBox="1"/>
          <p:nvPr/>
        </p:nvSpPr>
        <p:spPr>
          <a:xfrm>
            <a:off x="548640" y="1188720"/>
            <a:ext cx="8046720" cy="292608"/>
          </a:xfrm>
          <a:prstGeom prst="rect">
            <a:avLst/>
          </a:prstGeom>
          <a:noFill/>
        </p:spPr>
        <p:txBody>
          <a:bodyPr wrap="square" anchor="t" lIns="50800" rIns="50800" tIns="25400" bIns="25400">
            <a:spAutoFit/>
          </a:bodyPr>
          <a:lstStyle/>
          <a:p>
            <a:pPr algn="l"/>
            <a:r>
              <a:rPr sz="1100" b="0" i="1">
                <a:solidFill>
                  <a:srgbClr val="4A4A4A"/>
                </a:solidFill>
              </a:rPr>
              <a:t>Runtime detection → multi-sink fanout → automated response. Three components, one pipeline.</a:t>
            </a:r>
          </a:p>
        </p:txBody>
      </p:sp>
      <p:sp>
        <p:nvSpPr>
          <p:cNvPr id="80" name="Rectangle 79"/>
          <p:cNvSpPr/>
          <p:nvPr/>
        </p:nvSpPr>
        <p:spPr>
          <a:xfrm>
            <a:off x="548640" y="1600200"/>
            <a:ext cx="24231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1600200"/>
            <a:ext cx="2423160" cy="365760"/>
          </a:xfrm>
          <a:prstGeom prst="rect">
            <a:avLst/>
          </a:prstGeom>
          <a:noFill/>
        </p:spPr>
        <p:txBody>
          <a:bodyPr wrap="square" anchor="ctr" lIns="50800" rIns="50800" tIns="25400" bIns="25400">
            <a:spAutoFit/>
          </a:bodyPr>
          <a:lstStyle/>
          <a:p>
            <a:pPr algn="ctr"/>
            <a:r>
              <a:rPr sz="1200" b="1" i="0">
                <a:solidFill>
                  <a:srgbClr val="FFFFFF"/>
                </a:solidFill>
              </a:rPr>
              <a:t>Falco</a:t>
            </a:r>
          </a:p>
        </p:txBody>
      </p:sp>
      <p:sp>
        <p:nvSpPr>
          <p:cNvPr id="82" name="TextBox 81"/>
          <p:cNvSpPr txBox="1"/>
          <p:nvPr/>
        </p:nvSpPr>
        <p:spPr>
          <a:xfrm>
            <a:off x="548640" y="1993392"/>
            <a:ext cx="2423160" cy="274320"/>
          </a:xfrm>
          <a:prstGeom prst="rect">
            <a:avLst/>
          </a:prstGeom>
          <a:noFill/>
        </p:spPr>
        <p:txBody>
          <a:bodyPr wrap="square" anchor="t" lIns="50800" rIns="50800" tIns="25400" bIns="25400">
            <a:spAutoFit/>
          </a:bodyPr>
          <a:lstStyle/>
          <a:p>
            <a:pPr algn="ctr"/>
            <a:r>
              <a:rPr sz="900" b="0" i="1">
                <a:solidFill>
                  <a:srgbClr val="FF6B35"/>
                </a:solidFill>
              </a:rPr>
              <a:t>eBPF runtime
syscall detection</a:t>
            </a:r>
          </a:p>
        </p:txBody>
      </p:sp>
      <p:sp>
        <p:nvSpPr>
          <p:cNvPr id="83" name="Rectangle 82"/>
          <p:cNvSpPr/>
          <p:nvPr/>
        </p:nvSpPr>
        <p:spPr>
          <a:xfrm>
            <a:off x="548640" y="2286000"/>
            <a:ext cx="2423160" cy="1783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58368" y="2331720"/>
            <a:ext cx="2240280" cy="1691640"/>
          </a:xfrm>
          <a:prstGeom prst="rect">
            <a:avLst/>
          </a:prstGeom>
          <a:noFill/>
        </p:spPr>
        <p:txBody>
          <a:bodyPr wrap="square" anchor="t" lIns="50800" rIns="50800" tIns="25400" bIns="25400">
            <a:spAutoFit/>
          </a:bodyPr>
          <a:lstStyle/>
          <a:p>
            <a:pPr algn="l"/>
            <a:r>
              <a:rPr sz="900" b="0" i="0">
                <a:solidFill>
                  <a:srgbClr val="1E2761"/>
                </a:solidFill>
              </a:rPr>
              <a:t>Watches every container.
Fires events on rule match.
Custom rules in .claude/skills/
falco-rules.md — CRITICAL
tagged.</a:t>
            </a:r>
          </a:p>
        </p:txBody>
      </p:sp>
      <p:sp>
        <p:nvSpPr>
          <p:cNvPr id="85" name="TextBox 84"/>
          <p:cNvSpPr txBox="1"/>
          <p:nvPr/>
        </p:nvSpPr>
        <p:spPr>
          <a:xfrm>
            <a:off x="548640" y="4114800"/>
            <a:ext cx="2423160" cy="274320"/>
          </a:xfrm>
          <a:prstGeom prst="rect">
            <a:avLst/>
          </a:prstGeom>
          <a:noFill/>
        </p:spPr>
        <p:txBody>
          <a:bodyPr wrap="square" anchor="t" lIns="50800" rIns="50800" tIns="25400" bIns="25400">
            <a:spAutoFit/>
          </a:bodyPr>
          <a:lstStyle/>
          <a:p>
            <a:pPr algn="ctr"/>
            <a:r>
              <a:rPr sz="800" b="0" i="1">
                <a:solidFill>
                  <a:srgbClr val="888888"/>
                </a:solidFill>
              </a:rPr>
              <a:t>sync wave −3</a:t>
            </a:r>
          </a:p>
        </p:txBody>
      </p:sp>
      <p:sp>
        <p:nvSpPr>
          <p:cNvPr id="86" name="Rectangle 85"/>
          <p:cNvSpPr/>
          <p:nvPr/>
        </p:nvSpPr>
        <p:spPr>
          <a:xfrm>
            <a:off x="3383280" y="1600200"/>
            <a:ext cx="24231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383280" y="1600200"/>
            <a:ext cx="2423160" cy="365760"/>
          </a:xfrm>
          <a:prstGeom prst="rect">
            <a:avLst/>
          </a:prstGeom>
          <a:noFill/>
        </p:spPr>
        <p:txBody>
          <a:bodyPr wrap="square" anchor="ctr" lIns="50800" rIns="50800" tIns="25400" bIns="25400">
            <a:spAutoFit/>
          </a:bodyPr>
          <a:lstStyle/>
          <a:p>
            <a:pPr algn="ctr"/>
            <a:r>
              <a:rPr sz="1200" b="1" i="0">
                <a:solidFill>
                  <a:srgbClr val="FFFFFF"/>
                </a:solidFill>
              </a:rPr>
              <a:t>Falcosidekick</a:t>
            </a:r>
          </a:p>
        </p:txBody>
      </p:sp>
      <p:sp>
        <p:nvSpPr>
          <p:cNvPr id="88" name="TextBox 87"/>
          <p:cNvSpPr txBox="1"/>
          <p:nvPr/>
        </p:nvSpPr>
        <p:spPr>
          <a:xfrm>
            <a:off x="3383280" y="1993392"/>
            <a:ext cx="2423160" cy="274320"/>
          </a:xfrm>
          <a:prstGeom prst="rect">
            <a:avLst/>
          </a:prstGeom>
          <a:noFill/>
        </p:spPr>
        <p:txBody>
          <a:bodyPr wrap="square" anchor="t" lIns="50800" rIns="50800" tIns="25400" bIns="25400">
            <a:spAutoFit/>
          </a:bodyPr>
          <a:lstStyle/>
          <a:p>
            <a:pPr algn="ctr"/>
            <a:r>
              <a:rPr sz="900" b="0" i="1">
                <a:solidFill>
                  <a:srgbClr val="FF6B35"/>
                </a:solidFill>
              </a:rPr>
              <a:t>Multi-sink fanout</a:t>
            </a:r>
          </a:p>
        </p:txBody>
      </p:sp>
      <p:sp>
        <p:nvSpPr>
          <p:cNvPr id="89" name="Rectangle 88"/>
          <p:cNvSpPr/>
          <p:nvPr/>
        </p:nvSpPr>
        <p:spPr>
          <a:xfrm>
            <a:off x="3383280" y="2286000"/>
            <a:ext cx="2423160" cy="1783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93008" y="2331720"/>
            <a:ext cx="2240280" cy="1691640"/>
          </a:xfrm>
          <a:prstGeom prst="rect">
            <a:avLst/>
          </a:prstGeom>
          <a:noFill/>
        </p:spPr>
        <p:txBody>
          <a:bodyPr wrap="square" anchor="t" lIns="50800" rIns="50800" tIns="25400" bIns="25400">
            <a:spAutoFit/>
          </a:bodyPr>
          <a:lstStyle/>
          <a:p>
            <a:pPr algn="l"/>
            <a:r>
              <a:rPr sz="900" b="0" i="0">
                <a:solidFill>
                  <a:srgbClr val="1E2761"/>
                </a:solidFill>
              </a:rPr>
              <a:t>:2801 → Prometheus scrape
(“sidekick metrics”).
:2803 → webhook out to
falco-talon.
Also: Slack, S3, web-
hooks, MS Teams, etc.</a:t>
            </a:r>
          </a:p>
        </p:txBody>
      </p:sp>
      <p:sp>
        <p:nvSpPr>
          <p:cNvPr id="91" name="TextBox 90"/>
          <p:cNvSpPr txBox="1"/>
          <p:nvPr/>
        </p:nvSpPr>
        <p:spPr>
          <a:xfrm>
            <a:off x="3383280" y="4114800"/>
            <a:ext cx="2423160" cy="274320"/>
          </a:xfrm>
          <a:prstGeom prst="rect">
            <a:avLst/>
          </a:prstGeom>
          <a:noFill/>
        </p:spPr>
        <p:txBody>
          <a:bodyPr wrap="square" anchor="t" lIns="50800" rIns="50800" tIns="25400" bIns="25400">
            <a:spAutoFit/>
          </a:bodyPr>
          <a:lstStyle/>
          <a:p>
            <a:pPr algn="ctr"/>
            <a:r>
              <a:rPr sz="800" b="0" i="1">
                <a:solidFill>
                  <a:srgbClr val="888888"/>
                </a:solidFill>
              </a:rPr>
              <a:t>sync wave −2</a:t>
            </a:r>
          </a:p>
        </p:txBody>
      </p:sp>
      <p:sp>
        <p:nvSpPr>
          <p:cNvPr id="92" name="Rectangle 91"/>
          <p:cNvSpPr/>
          <p:nvPr/>
        </p:nvSpPr>
        <p:spPr>
          <a:xfrm>
            <a:off x="6217920" y="1600200"/>
            <a:ext cx="242316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17920" y="1600200"/>
            <a:ext cx="2423160" cy="365760"/>
          </a:xfrm>
          <a:prstGeom prst="rect">
            <a:avLst/>
          </a:prstGeom>
          <a:noFill/>
        </p:spPr>
        <p:txBody>
          <a:bodyPr wrap="square" anchor="ctr" lIns="50800" rIns="50800" tIns="25400" bIns="25400">
            <a:spAutoFit/>
          </a:bodyPr>
          <a:lstStyle/>
          <a:p>
            <a:pPr algn="ctr"/>
            <a:r>
              <a:rPr sz="1200" b="1" i="0">
                <a:solidFill>
                  <a:srgbClr val="FFFFFF"/>
                </a:solidFill>
              </a:rPr>
              <a:t>Falco-Talon</a:t>
            </a:r>
          </a:p>
        </p:txBody>
      </p:sp>
      <p:sp>
        <p:nvSpPr>
          <p:cNvPr id="94" name="TextBox 93"/>
          <p:cNvSpPr txBox="1"/>
          <p:nvPr/>
        </p:nvSpPr>
        <p:spPr>
          <a:xfrm>
            <a:off x="6217920" y="1993392"/>
            <a:ext cx="2423160" cy="274320"/>
          </a:xfrm>
          <a:prstGeom prst="rect">
            <a:avLst/>
          </a:prstGeom>
          <a:noFill/>
        </p:spPr>
        <p:txBody>
          <a:bodyPr wrap="square" anchor="t" lIns="50800" rIns="50800" tIns="25400" bIns="25400">
            <a:spAutoFit/>
          </a:bodyPr>
          <a:lstStyle/>
          <a:p>
            <a:pPr algn="ctr"/>
            <a:r>
              <a:rPr sz="900" b="0" i="1">
                <a:solidFill>
                  <a:srgbClr val="FF6B35"/>
                </a:solidFill>
              </a:rPr>
              <a:t>Response actuator</a:t>
            </a:r>
          </a:p>
        </p:txBody>
      </p:sp>
      <p:sp>
        <p:nvSpPr>
          <p:cNvPr id="95" name="Rectangle 94"/>
          <p:cNvSpPr/>
          <p:nvPr/>
        </p:nvSpPr>
        <p:spPr>
          <a:xfrm>
            <a:off x="6217920" y="2286000"/>
            <a:ext cx="2423160" cy="1783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327648" y="2331720"/>
            <a:ext cx="2240280" cy="1691640"/>
          </a:xfrm>
          <a:prstGeom prst="rect">
            <a:avLst/>
          </a:prstGeom>
          <a:noFill/>
        </p:spPr>
        <p:txBody>
          <a:bodyPr wrap="square" anchor="t" lIns="50800" rIns="50800" tIns="25400" bIns="25400">
            <a:spAutoFit/>
          </a:bodyPr>
          <a:lstStyle/>
          <a:p>
            <a:pPr algn="l"/>
            <a:r>
              <a:rPr sz="900" b="0" i="0">
                <a:solidFill>
                  <a:srgbClr val="1E2761"/>
                </a:solidFill>
              </a:rPr>
              <a:t>Listens on :2803 for sidekick
webhooks. Matches event to
rule → takes action: kill pod,
label, isolate via NetPol,
log to audit.</a:t>
            </a:r>
          </a:p>
        </p:txBody>
      </p:sp>
      <p:sp>
        <p:nvSpPr>
          <p:cNvPr id="97" name="TextBox 96"/>
          <p:cNvSpPr txBox="1"/>
          <p:nvPr/>
        </p:nvSpPr>
        <p:spPr>
          <a:xfrm>
            <a:off x="6217920" y="4114800"/>
            <a:ext cx="2423160" cy="274320"/>
          </a:xfrm>
          <a:prstGeom prst="rect">
            <a:avLst/>
          </a:prstGeom>
          <a:noFill/>
        </p:spPr>
        <p:txBody>
          <a:bodyPr wrap="square" anchor="t" lIns="50800" rIns="50800" tIns="25400" bIns="25400">
            <a:spAutoFit/>
          </a:bodyPr>
          <a:lstStyle/>
          <a:p>
            <a:pPr algn="ctr"/>
            <a:r>
              <a:rPr sz="800" b="0" i="1">
                <a:solidFill>
                  <a:srgbClr val="888888"/>
                </a:solidFill>
              </a:rPr>
              <a:t>sync wave 4</a:t>
            </a:r>
          </a:p>
        </p:txBody>
      </p:sp>
      <p:sp>
        <p:nvSpPr>
          <p:cNvPr id="98" name="TextBox 97"/>
          <p:cNvSpPr txBox="1"/>
          <p:nvPr/>
        </p:nvSpPr>
        <p:spPr>
          <a:xfrm>
            <a:off x="2990088" y="2697480"/>
            <a:ext cx="393192" cy="365760"/>
          </a:xfrm>
          <a:prstGeom prst="rect">
            <a:avLst/>
          </a:prstGeom>
          <a:noFill/>
        </p:spPr>
        <p:txBody>
          <a:bodyPr wrap="square" anchor="ctr" lIns="50800" rIns="50800" tIns="25400" bIns="25400">
            <a:spAutoFit/>
          </a:bodyPr>
          <a:lstStyle/>
          <a:p>
            <a:pPr algn="ctr"/>
            <a:r>
              <a:rPr sz="2800" b="1" i="0">
                <a:solidFill>
                  <a:srgbClr val="FF6B35"/>
                </a:solidFill>
              </a:rPr>
              <a:t>→</a:t>
            </a:r>
          </a:p>
        </p:txBody>
      </p:sp>
      <p:sp>
        <p:nvSpPr>
          <p:cNvPr id="99" name="TextBox 98"/>
          <p:cNvSpPr txBox="1"/>
          <p:nvPr/>
        </p:nvSpPr>
        <p:spPr>
          <a:xfrm>
            <a:off x="5824728" y="2697480"/>
            <a:ext cx="393192" cy="365760"/>
          </a:xfrm>
          <a:prstGeom prst="rect">
            <a:avLst/>
          </a:prstGeom>
          <a:noFill/>
        </p:spPr>
        <p:txBody>
          <a:bodyPr wrap="square" anchor="ctr" lIns="50800" rIns="50800" tIns="25400" bIns="25400">
            <a:spAutoFit/>
          </a:bodyPr>
          <a:lstStyle/>
          <a:p>
            <a:pPr algn="ctr"/>
            <a:r>
              <a:rPr sz="2800" b="1" i="0">
                <a:solidFill>
                  <a:srgbClr val="FF6B35"/>
                </a:solidFill>
              </a:rPr>
              <a:t>→</a:t>
            </a:r>
          </a:p>
        </p:txBody>
      </p:sp>
      <p:sp>
        <p:nvSpPr>
          <p:cNvPr id="100" name="TextBox 99"/>
          <p:cNvSpPr txBox="1"/>
          <p:nvPr/>
        </p:nvSpPr>
        <p:spPr>
          <a:xfrm>
            <a:off x="548640" y="4434840"/>
            <a:ext cx="8046720" cy="292608"/>
          </a:xfrm>
          <a:prstGeom prst="rect">
            <a:avLst/>
          </a:prstGeom>
          <a:noFill/>
        </p:spPr>
        <p:txBody>
          <a:bodyPr wrap="square" anchor="t" lIns="50800" rIns="50800" tIns="25400" bIns="25400">
            <a:spAutoFit/>
          </a:bodyPr>
          <a:lstStyle/>
          <a:p>
            <a:pPr algn="ctr"/>
            <a:r>
              <a:rPr sz="1000" b="1" i="1">
                <a:solidFill>
                  <a:srgbClr val="1E2761"/>
                </a:solidFill>
              </a:rPr>
              <a:t>Detection separated from fanout separated from response. Each piece swappable without redesign.</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D</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The Skills — What Claude Reads Before Generating</a:t>
            </a:r>
          </a:p>
        </p:txBody>
      </p:sp>
      <p:sp>
        <p:nvSpPr>
          <p:cNvPr id="79" name="TextBox 78"/>
          <p:cNvSpPr txBox="1"/>
          <p:nvPr/>
        </p:nvSpPr>
        <p:spPr>
          <a:xfrm>
            <a:off x="548640" y="1188720"/>
            <a:ext cx="8046720" cy="292608"/>
          </a:xfrm>
          <a:prstGeom prst="rect">
            <a:avLst/>
          </a:prstGeom>
          <a:noFill/>
        </p:spPr>
        <p:txBody>
          <a:bodyPr wrap="square" anchor="t" lIns="50800" rIns="50800" tIns="25400" bIns="25400">
            <a:spAutoFit/>
          </a:bodyPr>
          <a:lstStyle/>
          <a:p>
            <a:pPr algn="l"/>
            <a:r>
              <a:rPr sz="1100" b="0" i="1">
                <a:solidFill>
                  <a:srgbClr val="4A4A4A"/>
                </a:solidFill>
              </a:rPr>
              <a:t>.claude/skills/ — auto-loaded when claude starts in this repo. Encodes traps training data doesn’t.</a:t>
            </a:r>
          </a:p>
        </p:txBody>
      </p:sp>
      <p:sp>
        <p:nvSpPr>
          <p:cNvPr id="80" name="TextBox 79"/>
          <p:cNvSpPr txBox="1"/>
          <p:nvPr/>
        </p:nvSpPr>
        <p:spPr>
          <a:xfrm>
            <a:off x="548640" y="1600200"/>
            <a:ext cx="2743200" cy="228600"/>
          </a:xfrm>
          <a:prstGeom prst="rect">
            <a:avLst/>
          </a:prstGeom>
          <a:noFill/>
        </p:spPr>
        <p:txBody>
          <a:bodyPr wrap="square" anchor="t" lIns="50800" rIns="50800" tIns="25400" bIns="25400">
            <a:spAutoFit/>
          </a:bodyPr>
          <a:lstStyle/>
          <a:p>
            <a:pPr algn="l"/>
            <a:r>
              <a:rPr sz="1100" b="1" i="0">
                <a:solidFill>
                  <a:srgbClr val="FF6B35"/>
                </a:solidFill>
              </a:rPr>
              <a:t>argocd-patterns.md</a:t>
            </a:r>
          </a:p>
        </p:txBody>
      </p:sp>
      <p:sp>
        <p:nvSpPr>
          <p:cNvPr id="81" name="TextBox 80"/>
          <p:cNvSpPr txBox="1"/>
          <p:nvPr/>
        </p:nvSpPr>
        <p:spPr>
          <a:xfrm>
            <a:off x="3337560" y="1600200"/>
            <a:ext cx="5212080" cy="228600"/>
          </a:xfrm>
          <a:prstGeom prst="rect">
            <a:avLst/>
          </a:prstGeom>
          <a:noFill/>
        </p:spPr>
        <p:txBody>
          <a:bodyPr wrap="square" anchor="t" lIns="50800" rIns="50800" tIns="25400" bIns="25400">
            <a:spAutoFit/>
          </a:bodyPr>
          <a:lstStyle/>
          <a:p>
            <a:pPr algn="l"/>
            <a:r>
              <a:rPr sz="900" b="0" i="1">
                <a:solidFill>
                  <a:srgbClr val="1E2761"/>
                </a:solidFill>
              </a:rPr>
              <a:t>argo-cd 9.x → ArgoCD 3.x</a:t>
            </a:r>
          </a:p>
        </p:txBody>
      </p:sp>
      <p:sp>
        <p:nvSpPr>
          <p:cNvPr id="82" name="TextBox 81"/>
          <p:cNvSpPr txBox="1"/>
          <p:nvPr/>
        </p:nvSpPr>
        <p:spPr>
          <a:xfrm>
            <a:off x="548640" y="1810512"/>
            <a:ext cx="8046720" cy="256032"/>
          </a:xfrm>
          <a:prstGeom prst="rect">
            <a:avLst/>
          </a:prstGeom>
          <a:noFill/>
        </p:spPr>
        <p:txBody>
          <a:bodyPr wrap="square" anchor="t" lIns="50800" rIns="50800" tIns="25400" bIns="25400">
            <a:spAutoFit/>
          </a:bodyPr>
          <a:lstStyle/>
          <a:p>
            <a:pPr algn="l"/>
            <a:r>
              <a:rPr sz="800" b="0" i="0">
                <a:solidFill>
                  <a:srgbClr val="4A4A4A"/>
                </a:solidFill>
              </a:rPr>
              <a:t>configs.cm path for timeout (not configs.params). Annotation-tracking default in 3.x. Sync wave conventions — always pre-set, never let agent invent.</a:t>
            </a:r>
          </a:p>
        </p:txBody>
      </p:sp>
      <p:sp>
        <p:nvSpPr>
          <p:cNvPr id="83" name="TextBox 82"/>
          <p:cNvSpPr txBox="1"/>
          <p:nvPr/>
        </p:nvSpPr>
        <p:spPr>
          <a:xfrm>
            <a:off x="548640" y="2075688"/>
            <a:ext cx="2743200" cy="228600"/>
          </a:xfrm>
          <a:prstGeom prst="rect">
            <a:avLst/>
          </a:prstGeom>
          <a:noFill/>
        </p:spPr>
        <p:txBody>
          <a:bodyPr wrap="square" anchor="t" lIns="50800" rIns="50800" tIns="25400" bIns="25400">
            <a:spAutoFit/>
          </a:bodyPr>
          <a:lstStyle/>
          <a:p>
            <a:pPr algn="l"/>
            <a:r>
              <a:rPr sz="1100" b="1" i="0">
                <a:solidFill>
                  <a:srgbClr val="FF6B35"/>
                </a:solidFill>
              </a:rPr>
              <a:t>kyverno-policies.md</a:t>
            </a:r>
          </a:p>
        </p:txBody>
      </p:sp>
      <p:sp>
        <p:nvSpPr>
          <p:cNvPr id="84" name="TextBox 83"/>
          <p:cNvSpPr txBox="1"/>
          <p:nvPr/>
        </p:nvSpPr>
        <p:spPr>
          <a:xfrm>
            <a:off x="3337560" y="2075688"/>
            <a:ext cx="5212080" cy="228600"/>
          </a:xfrm>
          <a:prstGeom prst="rect">
            <a:avLst/>
          </a:prstGeom>
          <a:noFill/>
        </p:spPr>
        <p:txBody>
          <a:bodyPr wrap="square" anchor="t" lIns="50800" rIns="50800" tIns="25400" bIns="25400">
            <a:spAutoFit/>
          </a:bodyPr>
          <a:lstStyle/>
          <a:p>
            <a:pPr algn="l"/>
            <a:r>
              <a:rPr sz="900" b="0" i="1">
                <a:solidFill>
                  <a:srgbClr val="1E2761"/>
                </a:solidFill>
              </a:rPr>
              <a:t>kyverno chart 3.8.0</a:t>
            </a:r>
          </a:p>
        </p:txBody>
      </p:sp>
      <p:sp>
        <p:nvSpPr>
          <p:cNvPr id="85" name="TextBox 84"/>
          <p:cNvSpPr txBox="1"/>
          <p:nvPr/>
        </p:nvSpPr>
        <p:spPr>
          <a:xfrm>
            <a:off x="548640" y="2286000"/>
            <a:ext cx="8046720" cy="256032"/>
          </a:xfrm>
          <a:prstGeom prst="rect">
            <a:avLst/>
          </a:prstGeom>
          <a:noFill/>
        </p:spPr>
        <p:txBody>
          <a:bodyPr wrap="square" anchor="t" lIns="50800" rIns="50800" tIns="25400" bIns="25400">
            <a:spAutoFit/>
          </a:bodyPr>
          <a:lstStyle/>
          <a:p>
            <a:pPr algn="l"/>
            <a:r>
              <a:rPr sz="800" b="0" i="0">
                <a:solidFill>
                  <a:srgbClr val="4A4A4A"/>
                </a:solidFill>
              </a:rPr>
              <a:t>Webhook namespaceSelector as map, not list. ServerSideApply=true on the policies App. validationFailureAction case-sensitive (Enforce not enforce).</a:t>
            </a:r>
          </a:p>
        </p:txBody>
      </p:sp>
      <p:sp>
        <p:nvSpPr>
          <p:cNvPr id="86" name="TextBox 85"/>
          <p:cNvSpPr txBox="1"/>
          <p:nvPr/>
        </p:nvSpPr>
        <p:spPr>
          <a:xfrm>
            <a:off x="548640" y="2551176"/>
            <a:ext cx="2743200" cy="228600"/>
          </a:xfrm>
          <a:prstGeom prst="rect">
            <a:avLst/>
          </a:prstGeom>
          <a:noFill/>
        </p:spPr>
        <p:txBody>
          <a:bodyPr wrap="square" anchor="t" lIns="50800" rIns="50800" tIns="25400" bIns="25400">
            <a:spAutoFit/>
          </a:bodyPr>
          <a:lstStyle/>
          <a:p>
            <a:pPr algn="l"/>
            <a:r>
              <a:rPr sz="1100" b="1" i="0">
                <a:solidFill>
                  <a:srgbClr val="FF6B35"/>
                </a:solidFill>
              </a:rPr>
              <a:t>kube-prometheus-stack.md</a:t>
            </a:r>
          </a:p>
        </p:txBody>
      </p:sp>
      <p:sp>
        <p:nvSpPr>
          <p:cNvPr id="87" name="TextBox 86"/>
          <p:cNvSpPr txBox="1"/>
          <p:nvPr/>
        </p:nvSpPr>
        <p:spPr>
          <a:xfrm>
            <a:off x="3337560" y="2551176"/>
            <a:ext cx="5212080" cy="228600"/>
          </a:xfrm>
          <a:prstGeom prst="rect">
            <a:avLst/>
          </a:prstGeom>
          <a:noFill/>
        </p:spPr>
        <p:txBody>
          <a:bodyPr wrap="square" anchor="t" lIns="50800" rIns="50800" tIns="25400" bIns="25400">
            <a:spAutoFit/>
          </a:bodyPr>
          <a:lstStyle/>
          <a:p>
            <a:pPr algn="l"/>
            <a:r>
              <a:rPr sz="900" b="0" i="1">
                <a:solidFill>
                  <a:srgbClr val="1E2761"/>
                </a:solidFill>
              </a:rPr>
              <a:t>kps chart 84.5.0</a:t>
            </a:r>
          </a:p>
        </p:txBody>
      </p:sp>
      <p:sp>
        <p:nvSpPr>
          <p:cNvPr id="88" name="TextBox 87"/>
          <p:cNvSpPr txBox="1"/>
          <p:nvPr/>
        </p:nvSpPr>
        <p:spPr>
          <a:xfrm>
            <a:off x="548640" y="2761488"/>
            <a:ext cx="8046720" cy="256032"/>
          </a:xfrm>
          <a:prstGeom prst="rect">
            <a:avLst/>
          </a:prstGeom>
          <a:noFill/>
        </p:spPr>
        <p:txBody>
          <a:bodyPr wrap="square" anchor="t" lIns="50800" rIns="50800" tIns="25400" bIns="25400">
            <a:spAutoFit/>
          </a:bodyPr>
          <a:lstStyle/>
          <a:p>
            <a:pPr algn="l"/>
            <a:r>
              <a:rPr sz="800" b="0" i="0">
                <a:solidFill>
                  <a:srgbClr val="4A4A4A"/>
                </a:solidFill>
              </a:rPr>
              <a:t>SSA=true MANDATORY — CRDs blow past annotation size limit otherwise. Alertmanager disabled for pacing. 2h retention.</a:t>
            </a:r>
          </a:p>
        </p:txBody>
      </p:sp>
      <p:sp>
        <p:nvSpPr>
          <p:cNvPr id="89" name="TextBox 88"/>
          <p:cNvSpPr txBox="1"/>
          <p:nvPr/>
        </p:nvSpPr>
        <p:spPr>
          <a:xfrm>
            <a:off x="548640" y="3026664"/>
            <a:ext cx="2743200" cy="228600"/>
          </a:xfrm>
          <a:prstGeom prst="rect">
            <a:avLst/>
          </a:prstGeom>
          <a:noFill/>
        </p:spPr>
        <p:txBody>
          <a:bodyPr wrap="square" anchor="t" lIns="50800" rIns="50800" tIns="25400" bIns="25400">
            <a:spAutoFit/>
          </a:bodyPr>
          <a:lstStyle/>
          <a:p>
            <a:pPr algn="l"/>
            <a:r>
              <a:rPr sz="1100" b="1" i="0">
                <a:solidFill>
                  <a:srgbClr val="FF6B35"/>
                </a:solidFill>
              </a:rPr>
              <a:t>backstage-templates.md</a:t>
            </a:r>
          </a:p>
        </p:txBody>
      </p:sp>
      <p:sp>
        <p:nvSpPr>
          <p:cNvPr id="90" name="TextBox 89"/>
          <p:cNvSpPr txBox="1"/>
          <p:nvPr/>
        </p:nvSpPr>
        <p:spPr>
          <a:xfrm>
            <a:off x="3337560" y="3026664"/>
            <a:ext cx="5212080" cy="228600"/>
          </a:xfrm>
          <a:prstGeom prst="rect">
            <a:avLst/>
          </a:prstGeom>
          <a:noFill/>
        </p:spPr>
        <p:txBody>
          <a:bodyPr wrap="square" anchor="t" lIns="50800" rIns="50800" tIns="25400" bIns="25400">
            <a:spAutoFit/>
          </a:bodyPr>
          <a:lstStyle/>
          <a:p>
            <a:pPr algn="l"/>
            <a:r>
              <a:rPr sz="900" b="0" i="1">
                <a:solidFill>
                  <a:srgbClr val="1E2761"/>
                </a:solidFill>
              </a:rPr>
              <a:t>backstage chart 2.7.0</a:t>
            </a:r>
          </a:p>
        </p:txBody>
      </p:sp>
      <p:sp>
        <p:nvSpPr>
          <p:cNvPr id="91" name="TextBox 90"/>
          <p:cNvSpPr txBox="1"/>
          <p:nvPr/>
        </p:nvSpPr>
        <p:spPr>
          <a:xfrm>
            <a:off x="548640" y="3236976"/>
            <a:ext cx="8046720" cy="256032"/>
          </a:xfrm>
          <a:prstGeom prst="rect">
            <a:avLst/>
          </a:prstGeom>
          <a:noFill/>
        </p:spPr>
        <p:txBody>
          <a:bodyPr wrap="square" anchor="t" lIns="50800" rIns="50800" tIns="25400" bIns="25400">
            <a:spAutoFit/>
          </a:bodyPr>
          <a:lstStyle/>
          <a:p>
            <a:pPr algn="l"/>
            <a:r>
              <a:rPr sz="800" b="0" i="0">
                <a:solidFill>
                  <a:srgbClr val="4A4A4A"/>
                </a:solidFill>
              </a:rPr>
              <a:t>No default image — pin to ghcr.io/backstage/backstage:1.30.2. AppConfig kubernetes plugin override prevents init crash. Roadiehq image DOES NOT EXIST.</a:t>
            </a:r>
          </a:p>
        </p:txBody>
      </p:sp>
      <p:sp>
        <p:nvSpPr>
          <p:cNvPr id="92" name="TextBox 91"/>
          <p:cNvSpPr txBox="1"/>
          <p:nvPr/>
        </p:nvSpPr>
        <p:spPr>
          <a:xfrm>
            <a:off x="548640" y="3502152"/>
            <a:ext cx="2743200" cy="228600"/>
          </a:xfrm>
          <a:prstGeom prst="rect">
            <a:avLst/>
          </a:prstGeom>
          <a:noFill/>
        </p:spPr>
        <p:txBody>
          <a:bodyPr wrap="square" anchor="t" lIns="50800" rIns="50800" tIns="25400" bIns="25400">
            <a:spAutoFit/>
          </a:bodyPr>
          <a:lstStyle/>
          <a:p>
            <a:pPr algn="l"/>
            <a:r>
              <a:rPr sz="1100" b="1" i="0">
                <a:solidFill>
                  <a:srgbClr val="FF6B35"/>
                </a:solidFill>
              </a:rPr>
              <a:t>falco-rules.md</a:t>
            </a:r>
          </a:p>
        </p:txBody>
      </p:sp>
      <p:sp>
        <p:nvSpPr>
          <p:cNvPr id="93" name="TextBox 92"/>
          <p:cNvSpPr txBox="1"/>
          <p:nvPr/>
        </p:nvSpPr>
        <p:spPr>
          <a:xfrm>
            <a:off x="3337560" y="3502152"/>
            <a:ext cx="5212080" cy="228600"/>
          </a:xfrm>
          <a:prstGeom prst="rect">
            <a:avLst/>
          </a:prstGeom>
          <a:noFill/>
        </p:spPr>
        <p:txBody>
          <a:bodyPr wrap="square" anchor="t" lIns="50800" rIns="50800" tIns="25400" bIns="25400">
            <a:spAutoFit/>
          </a:bodyPr>
          <a:lstStyle/>
          <a:p>
            <a:pPr algn="l"/>
            <a:r>
              <a:rPr sz="900" b="0" i="1">
                <a:solidFill>
                  <a:srgbClr val="1E2761"/>
                </a:solidFill>
              </a:rPr>
              <a:t>falco + sidekick + talon</a:t>
            </a:r>
          </a:p>
        </p:txBody>
      </p:sp>
      <p:sp>
        <p:nvSpPr>
          <p:cNvPr id="94" name="TextBox 93"/>
          <p:cNvSpPr txBox="1"/>
          <p:nvPr/>
        </p:nvSpPr>
        <p:spPr>
          <a:xfrm>
            <a:off x="548640" y="3712464"/>
            <a:ext cx="8046720" cy="256032"/>
          </a:xfrm>
          <a:prstGeom prst="rect">
            <a:avLst/>
          </a:prstGeom>
          <a:noFill/>
        </p:spPr>
        <p:txBody>
          <a:bodyPr wrap="square" anchor="t" lIns="50800" rIns="50800" tIns="25400" bIns="25400">
            <a:spAutoFit/>
          </a:bodyPr>
          <a:lstStyle/>
          <a:p>
            <a:pPr algn="l"/>
            <a:r>
              <a:rPr sz="800" b="0" i="0">
                <a:solidFill>
                  <a:srgbClr val="4A4A4A"/>
                </a:solidFill>
              </a:rPr>
              <a:t>CRITICAL-tagged custom rules. Falcosidekick → Prometheus scrape AND falco-talon webhook in same config. eBPF probe match for kernel ver.</a:t>
            </a:r>
          </a:p>
        </p:txBody>
      </p:sp>
      <p:sp>
        <p:nvSpPr>
          <p:cNvPr id="95" name="TextBox 94"/>
          <p:cNvSpPr txBox="1"/>
          <p:nvPr/>
        </p:nvSpPr>
        <p:spPr>
          <a:xfrm>
            <a:off x="548640" y="3977640"/>
            <a:ext cx="2743200" cy="228600"/>
          </a:xfrm>
          <a:prstGeom prst="rect">
            <a:avLst/>
          </a:prstGeom>
          <a:noFill/>
        </p:spPr>
        <p:txBody>
          <a:bodyPr wrap="square" anchor="t" lIns="50800" rIns="50800" tIns="25400" bIns="25400">
            <a:spAutoFit/>
          </a:bodyPr>
          <a:lstStyle/>
          <a:p>
            <a:pPr algn="l"/>
            <a:r>
              <a:rPr sz="1100" b="1" i="0">
                <a:solidFill>
                  <a:srgbClr val="FF6B35"/>
                </a:solidFill>
              </a:rPr>
              <a:t>otel-wiring.md</a:t>
            </a:r>
          </a:p>
        </p:txBody>
      </p:sp>
      <p:sp>
        <p:nvSpPr>
          <p:cNvPr id="96" name="TextBox 95"/>
          <p:cNvSpPr txBox="1"/>
          <p:nvPr/>
        </p:nvSpPr>
        <p:spPr>
          <a:xfrm>
            <a:off x="3337560" y="3977640"/>
            <a:ext cx="5212080" cy="228600"/>
          </a:xfrm>
          <a:prstGeom prst="rect">
            <a:avLst/>
          </a:prstGeom>
          <a:noFill/>
        </p:spPr>
        <p:txBody>
          <a:bodyPr wrap="square" anchor="t" lIns="50800" rIns="50800" tIns="25400" bIns="25400">
            <a:spAutoFit/>
          </a:bodyPr>
          <a:lstStyle/>
          <a:p>
            <a:pPr algn="l"/>
            <a:r>
              <a:rPr sz="900" b="0" i="1">
                <a:solidFill>
                  <a:srgbClr val="1E2761"/>
                </a:solidFill>
              </a:rPr>
              <a:t>opentelemetry-collector</a:t>
            </a:r>
          </a:p>
        </p:txBody>
      </p:sp>
      <p:sp>
        <p:nvSpPr>
          <p:cNvPr id="97" name="TextBox 96"/>
          <p:cNvSpPr txBox="1"/>
          <p:nvPr/>
        </p:nvSpPr>
        <p:spPr>
          <a:xfrm>
            <a:off x="548640" y="4187952"/>
            <a:ext cx="8046720" cy="256032"/>
          </a:xfrm>
          <a:prstGeom prst="rect">
            <a:avLst/>
          </a:prstGeom>
          <a:noFill/>
        </p:spPr>
        <p:txBody>
          <a:bodyPr wrap="square" anchor="t" lIns="50800" rIns="50800" tIns="25400" bIns="25400">
            <a:spAutoFit/>
          </a:bodyPr>
          <a:lstStyle/>
          <a:p>
            <a:pPr algn="l"/>
            <a:r>
              <a:rPr sz="800" b="0" i="0">
                <a:solidFill>
                  <a:srgbClr val="4A4A4A"/>
                </a:solidFill>
              </a:rPr>
              <a:t>memory_limiter MUST be first processor in every pipeline. Without it: collector OOM under load, cascading backpressure to receivers. Subtle, expensive.</a:t>
            </a:r>
          </a:p>
        </p:txBody>
      </p:sp>
      <p:sp>
        <p:nvSpPr>
          <p:cNvPr id="98" name="TextBox 97"/>
          <p:cNvSpPr txBox="1"/>
          <p:nvPr/>
        </p:nvSpPr>
        <p:spPr>
          <a:xfrm>
            <a:off x="548640" y="4434840"/>
            <a:ext cx="8046720" cy="292608"/>
          </a:xfrm>
          <a:prstGeom prst="rect">
            <a:avLst/>
          </a:prstGeom>
          <a:noFill/>
        </p:spPr>
        <p:txBody>
          <a:bodyPr wrap="square" anchor="t" lIns="50800" rIns="50800" tIns="25400" bIns="25400">
            <a:spAutoFit/>
          </a:bodyPr>
          <a:lstStyle/>
          <a:p>
            <a:pPr algn="ctr"/>
            <a:r>
              <a:rPr sz="1000" b="1" i="1">
                <a:solidFill>
                  <a:srgbClr val="1E2761"/>
                </a:solidFill>
              </a:rPr>
              <a:t>Training data is stale on these specific charts. Skills are how Claude generates current patterns instead of remembering deprecated ones.</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E</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The Scorecard — Three Dimensions, Independent</a:t>
            </a:r>
          </a:p>
        </p:txBody>
      </p:sp>
      <p:sp>
        <p:nvSpPr>
          <p:cNvPr id="79" name="TextBox 78"/>
          <p:cNvSpPr txBox="1"/>
          <p:nvPr/>
        </p:nvSpPr>
        <p:spPr>
          <a:xfrm>
            <a:off x="548640" y="1188720"/>
            <a:ext cx="8046720" cy="292608"/>
          </a:xfrm>
          <a:prstGeom prst="rect">
            <a:avLst/>
          </a:prstGeom>
          <a:noFill/>
        </p:spPr>
        <p:txBody>
          <a:bodyPr wrap="square" anchor="t" lIns="50800" rIns="50800" tIns="25400" bIns="25400">
            <a:spAutoFit/>
          </a:bodyPr>
          <a:lstStyle/>
          <a:p>
            <a:pPr algn="l"/>
            <a:r>
              <a:rPr sz="1100" b="0" i="1">
                <a:solidFill>
                  <a:srgbClr val="4A4A4A"/>
                </a:solidFill>
              </a:rPr>
              <a:t>Score each phase across three dimensions — independently. The variance is the talk.</a:t>
            </a:r>
          </a:p>
        </p:txBody>
      </p:sp>
      <p:sp>
        <p:nvSpPr>
          <p:cNvPr id="80" name="Rectangle 79"/>
          <p:cNvSpPr/>
          <p:nvPr/>
        </p:nvSpPr>
        <p:spPr>
          <a:xfrm>
            <a:off x="548640" y="1600200"/>
            <a:ext cx="24688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1600200"/>
            <a:ext cx="2468880" cy="384048"/>
          </a:xfrm>
          <a:prstGeom prst="rect">
            <a:avLst/>
          </a:prstGeom>
          <a:noFill/>
        </p:spPr>
        <p:txBody>
          <a:bodyPr wrap="square" anchor="ctr" lIns="50800" rIns="50800" tIns="25400" bIns="25400">
            <a:spAutoFit/>
          </a:bodyPr>
          <a:lstStyle/>
          <a:p>
            <a:pPr algn="ctr"/>
            <a:r>
              <a:rPr sz="1300" b="1" i="0">
                <a:solidFill>
                  <a:srgbClr val="FFFFFF"/>
                </a:solidFill>
              </a:rPr>
              <a:t>Install</a:t>
            </a:r>
          </a:p>
        </p:txBody>
      </p:sp>
      <p:sp>
        <p:nvSpPr>
          <p:cNvPr id="82" name="TextBox 81"/>
          <p:cNvSpPr txBox="1"/>
          <p:nvPr/>
        </p:nvSpPr>
        <p:spPr>
          <a:xfrm>
            <a:off x="640080" y="2075688"/>
            <a:ext cx="2286000" cy="548640"/>
          </a:xfrm>
          <a:prstGeom prst="rect">
            <a:avLst/>
          </a:prstGeom>
          <a:noFill/>
        </p:spPr>
        <p:txBody>
          <a:bodyPr wrap="square" anchor="t" lIns="50800" rIns="50800" tIns="25400" bIns="25400">
            <a:spAutoFit/>
          </a:bodyPr>
          <a:lstStyle/>
          <a:p>
            <a:pPr algn="l"/>
            <a:r>
              <a:rPr sz="800" b="0" i="0">
                <a:solidFill>
                  <a:srgbClr val="1E2761"/>
                </a:solidFill>
              </a:rPr>
              <a:t>Did the manifest, after applying,
bring the phase’s components up
healthy? First try, no rewrites?</a:t>
            </a:r>
          </a:p>
        </p:txBody>
      </p:sp>
      <p:sp>
        <p:nvSpPr>
          <p:cNvPr id="83" name="TextBox 82"/>
          <p:cNvSpPr txBox="1"/>
          <p:nvPr/>
        </p:nvSpPr>
        <p:spPr>
          <a:xfrm>
            <a:off x="640080" y="2743200"/>
            <a:ext cx="2286000" cy="502920"/>
          </a:xfrm>
          <a:prstGeom prst="rect">
            <a:avLst/>
          </a:prstGeom>
          <a:noFill/>
        </p:spPr>
        <p:txBody>
          <a:bodyPr wrap="square" anchor="t" lIns="50800" rIns="50800" tIns="25400" bIns="25400">
            <a:spAutoFit/>
          </a:bodyPr>
          <a:lstStyle/>
          <a:p>
            <a:pPr algn="l"/>
            <a:r>
              <a:rPr sz="800" b="0" i="0">
                <a:solidFill>
                  <a:srgbClr val="4A4A4A"/>
                </a:solidFill>
              </a:rPr>
              <a:t>10 — First-try success. Pods Running,
  Applications Synced + Healthy.</a:t>
            </a:r>
          </a:p>
        </p:txBody>
      </p:sp>
      <p:sp>
        <p:nvSpPr>
          <p:cNvPr id="84" name="TextBox 83"/>
          <p:cNvSpPr txBox="1"/>
          <p:nvPr/>
        </p:nvSpPr>
        <p:spPr>
          <a:xfrm>
            <a:off x="640080" y="3246120"/>
            <a:ext cx="2286000" cy="502920"/>
          </a:xfrm>
          <a:prstGeom prst="rect">
            <a:avLst/>
          </a:prstGeom>
          <a:noFill/>
        </p:spPr>
        <p:txBody>
          <a:bodyPr wrap="square" anchor="t" lIns="50800" rIns="50800" tIns="25400" bIns="25400">
            <a:spAutoFit/>
          </a:bodyPr>
          <a:lstStyle/>
          <a:p>
            <a:pPr algn="l"/>
            <a:r>
              <a:rPr sz="800" b="0" i="0">
                <a:solidFill>
                  <a:srgbClr val="4A4A4A"/>
                </a:solidFill>
              </a:rPr>
              <a:t>4 — Three correction cycles,
  registry workaround, version archaeology.</a:t>
            </a:r>
          </a:p>
        </p:txBody>
      </p:sp>
      <p:sp>
        <p:nvSpPr>
          <p:cNvPr id="85" name="Rectangle 84"/>
          <p:cNvSpPr/>
          <p:nvPr/>
        </p:nvSpPr>
        <p:spPr>
          <a:xfrm>
            <a:off x="548640" y="3794760"/>
            <a:ext cx="2468880" cy="29260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48640" y="3794760"/>
            <a:ext cx="2468880" cy="292608"/>
          </a:xfrm>
          <a:prstGeom prst="rect">
            <a:avLst/>
          </a:prstGeom>
          <a:noFill/>
        </p:spPr>
        <p:txBody>
          <a:bodyPr wrap="square" anchor="ctr" lIns="50800" rIns="50800" tIns="25400" bIns="25400">
            <a:spAutoFit/>
          </a:bodyPr>
          <a:lstStyle/>
          <a:p>
            <a:pPr algn="ctr"/>
            <a:r>
              <a:rPr sz="900" b="1" i="0">
                <a:solidFill>
                  <a:srgbClr val="1E2761"/>
                </a:solidFill>
              </a:rPr>
              <a:t>AI is GREAT here.</a:t>
            </a:r>
          </a:p>
        </p:txBody>
      </p:sp>
      <p:sp>
        <p:nvSpPr>
          <p:cNvPr id="87" name="Rectangle 86"/>
          <p:cNvSpPr/>
          <p:nvPr/>
        </p:nvSpPr>
        <p:spPr>
          <a:xfrm>
            <a:off x="3337560" y="1600200"/>
            <a:ext cx="24688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337560" y="1600200"/>
            <a:ext cx="2468880" cy="384048"/>
          </a:xfrm>
          <a:prstGeom prst="rect">
            <a:avLst/>
          </a:prstGeom>
          <a:noFill/>
        </p:spPr>
        <p:txBody>
          <a:bodyPr wrap="square" anchor="ctr" lIns="50800" rIns="50800" tIns="25400" bIns="25400">
            <a:spAutoFit/>
          </a:bodyPr>
          <a:lstStyle/>
          <a:p>
            <a:pPr algn="ctr"/>
            <a:r>
              <a:rPr sz="1300" b="1" i="0">
                <a:solidFill>
                  <a:srgbClr val="FFFFFF"/>
                </a:solidFill>
              </a:rPr>
              <a:t>Integration</a:t>
            </a:r>
          </a:p>
        </p:txBody>
      </p:sp>
      <p:sp>
        <p:nvSpPr>
          <p:cNvPr id="89" name="TextBox 88"/>
          <p:cNvSpPr txBox="1"/>
          <p:nvPr/>
        </p:nvSpPr>
        <p:spPr>
          <a:xfrm>
            <a:off x="3429000" y="2075688"/>
            <a:ext cx="2286000" cy="548640"/>
          </a:xfrm>
          <a:prstGeom prst="rect">
            <a:avLst/>
          </a:prstGeom>
          <a:noFill/>
        </p:spPr>
        <p:txBody>
          <a:bodyPr wrap="square" anchor="t" lIns="50800" rIns="50800" tIns="25400" bIns="25400">
            <a:spAutoFit/>
          </a:bodyPr>
          <a:lstStyle/>
          <a:p>
            <a:pPr algn="l"/>
            <a:r>
              <a:rPr sz="800" b="0" i="0">
                <a:solidFill>
                  <a:srgbClr val="1E2761"/>
                </a:solidFill>
              </a:rPr>
              <a:t>Do the components do their JOB —
in concert with everything around
them? Not just “Running.”</a:t>
            </a:r>
          </a:p>
        </p:txBody>
      </p:sp>
      <p:sp>
        <p:nvSpPr>
          <p:cNvPr id="90" name="TextBox 89"/>
          <p:cNvSpPr txBox="1"/>
          <p:nvPr/>
        </p:nvSpPr>
        <p:spPr>
          <a:xfrm>
            <a:off x="3429000" y="2743200"/>
            <a:ext cx="2286000" cy="502920"/>
          </a:xfrm>
          <a:prstGeom prst="rect">
            <a:avLst/>
          </a:prstGeom>
          <a:noFill/>
        </p:spPr>
        <p:txBody>
          <a:bodyPr wrap="square" anchor="t" lIns="50800" rIns="50800" tIns="25400" bIns="25400">
            <a:spAutoFit/>
          </a:bodyPr>
          <a:lstStyle/>
          <a:p>
            <a:pPr algn="l"/>
            <a:r>
              <a:rPr sz="800" b="0" i="0">
                <a:solidFill>
                  <a:srgbClr val="4A4A4A"/>
                </a:solidFill>
              </a:rPr>
              <a:t>10 — Policies fire on real pods,
  dashboards populate, traces flow.</a:t>
            </a:r>
          </a:p>
        </p:txBody>
      </p:sp>
      <p:sp>
        <p:nvSpPr>
          <p:cNvPr id="91" name="TextBox 90"/>
          <p:cNvSpPr txBox="1"/>
          <p:nvPr/>
        </p:nvSpPr>
        <p:spPr>
          <a:xfrm>
            <a:off x="3429000" y="3246120"/>
            <a:ext cx="2286000" cy="502920"/>
          </a:xfrm>
          <a:prstGeom prst="rect">
            <a:avLst/>
          </a:prstGeom>
          <a:noFill/>
        </p:spPr>
        <p:txBody>
          <a:bodyPr wrap="square" anchor="t" lIns="50800" rIns="50800" tIns="25400" bIns="25400">
            <a:spAutoFit/>
          </a:bodyPr>
          <a:lstStyle/>
          <a:p>
            <a:pPr algn="l"/>
            <a:r>
              <a:rPr sz="800" b="0" i="0">
                <a:solidFill>
                  <a:srgbClr val="4A4A4A"/>
                </a:solidFill>
              </a:rPr>
              <a:t>4 — Pods Running, feature does not
  actually work end-to-end.</a:t>
            </a:r>
          </a:p>
        </p:txBody>
      </p:sp>
      <p:sp>
        <p:nvSpPr>
          <p:cNvPr id="92" name="Rectangle 91"/>
          <p:cNvSpPr/>
          <p:nvPr/>
        </p:nvSpPr>
        <p:spPr>
          <a:xfrm>
            <a:off x="3337560" y="3794760"/>
            <a:ext cx="2468880" cy="29260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337560" y="3794760"/>
            <a:ext cx="2468880" cy="292608"/>
          </a:xfrm>
          <a:prstGeom prst="rect">
            <a:avLst/>
          </a:prstGeom>
          <a:noFill/>
        </p:spPr>
        <p:txBody>
          <a:bodyPr wrap="square" anchor="ctr" lIns="50800" rIns="50800" tIns="25400" bIns="25400">
            <a:spAutoFit/>
          </a:bodyPr>
          <a:lstStyle/>
          <a:p>
            <a:pPr algn="ctr"/>
            <a:r>
              <a:rPr sz="900" b="1" i="0">
                <a:solidFill>
                  <a:srgbClr val="1E2761"/>
                </a:solidFill>
              </a:rPr>
              <a:t>AI is MIDDLING here.</a:t>
            </a:r>
          </a:p>
        </p:txBody>
      </p:sp>
      <p:sp>
        <p:nvSpPr>
          <p:cNvPr id="94" name="Rectangle 93"/>
          <p:cNvSpPr/>
          <p:nvPr/>
        </p:nvSpPr>
        <p:spPr>
          <a:xfrm>
            <a:off x="6126480" y="1600200"/>
            <a:ext cx="24688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26480" y="1600200"/>
            <a:ext cx="2468880" cy="384048"/>
          </a:xfrm>
          <a:prstGeom prst="rect">
            <a:avLst/>
          </a:prstGeom>
          <a:noFill/>
        </p:spPr>
        <p:txBody>
          <a:bodyPr wrap="square" anchor="ctr" lIns="50800" rIns="50800" tIns="25400" bIns="25400">
            <a:spAutoFit/>
          </a:bodyPr>
          <a:lstStyle/>
          <a:p>
            <a:pPr algn="ctr"/>
            <a:r>
              <a:rPr sz="1300" b="1" i="0">
                <a:solidFill>
                  <a:srgbClr val="FFFFFF"/>
                </a:solidFill>
              </a:rPr>
              <a:t>Usability</a:t>
            </a:r>
          </a:p>
        </p:txBody>
      </p:sp>
      <p:sp>
        <p:nvSpPr>
          <p:cNvPr id="96" name="TextBox 95"/>
          <p:cNvSpPr txBox="1"/>
          <p:nvPr/>
        </p:nvSpPr>
        <p:spPr>
          <a:xfrm>
            <a:off x="6217920" y="2075688"/>
            <a:ext cx="2286000" cy="548640"/>
          </a:xfrm>
          <a:prstGeom prst="rect">
            <a:avLst/>
          </a:prstGeom>
          <a:noFill/>
        </p:spPr>
        <p:txBody>
          <a:bodyPr wrap="square" anchor="t" lIns="50800" rIns="50800" tIns="25400" bIns="25400">
            <a:spAutoFit/>
          </a:bodyPr>
          <a:lstStyle/>
          <a:p>
            <a:pPr algn="l"/>
            <a:r>
              <a:rPr sz="800" b="0" i="0">
                <a:solidFill>
                  <a:srgbClr val="1E2761"/>
                </a:solidFill>
              </a:rPr>
              <a:t>Could a developer on your team
drive this on Monday morning?</a:t>
            </a:r>
          </a:p>
        </p:txBody>
      </p:sp>
      <p:sp>
        <p:nvSpPr>
          <p:cNvPr id="97" name="TextBox 96"/>
          <p:cNvSpPr txBox="1"/>
          <p:nvPr/>
        </p:nvSpPr>
        <p:spPr>
          <a:xfrm>
            <a:off x="6217920" y="2743200"/>
            <a:ext cx="2286000" cy="502920"/>
          </a:xfrm>
          <a:prstGeom prst="rect">
            <a:avLst/>
          </a:prstGeom>
          <a:noFill/>
        </p:spPr>
        <p:txBody>
          <a:bodyPr wrap="square" anchor="t" lIns="50800" rIns="50800" tIns="25400" bIns="25400">
            <a:spAutoFit/>
          </a:bodyPr>
          <a:lstStyle/>
          <a:p>
            <a:pPr algn="l"/>
            <a:r>
              <a:rPr sz="800" b="0" i="0">
                <a:solidFill>
                  <a:srgbClr val="4A4A4A"/>
                </a:solidFill>
              </a:rPr>
              <a:t>10 — Production-ready, junior
  engineer ships through it.</a:t>
            </a:r>
          </a:p>
        </p:txBody>
      </p:sp>
      <p:sp>
        <p:nvSpPr>
          <p:cNvPr id="98" name="TextBox 97"/>
          <p:cNvSpPr txBox="1"/>
          <p:nvPr/>
        </p:nvSpPr>
        <p:spPr>
          <a:xfrm>
            <a:off x="6217920" y="3246120"/>
            <a:ext cx="2286000" cy="502920"/>
          </a:xfrm>
          <a:prstGeom prst="rect">
            <a:avLst/>
          </a:prstGeom>
          <a:noFill/>
        </p:spPr>
        <p:txBody>
          <a:bodyPr wrap="square" anchor="t" lIns="50800" rIns="50800" tIns="25400" bIns="25400">
            <a:spAutoFit/>
          </a:bodyPr>
          <a:lstStyle/>
          <a:p>
            <a:pPr algn="l"/>
            <a:r>
              <a:rPr sz="800" b="0" i="0">
                <a:solidFill>
                  <a:srgbClr val="4A4A4A"/>
                </a:solidFill>
              </a:rPr>
              <a:t>4 — Installed but unship-able.</a:t>
            </a:r>
          </a:p>
        </p:txBody>
      </p:sp>
      <p:sp>
        <p:nvSpPr>
          <p:cNvPr id="99" name="Rectangle 98"/>
          <p:cNvSpPr/>
          <p:nvPr/>
        </p:nvSpPr>
        <p:spPr>
          <a:xfrm>
            <a:off x="6126480" y="3794760"/>
            <a:ext cx="2468880" cy="29260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26480" y="3794760"/>
            <a:ext cx="2468880" cy="292608"/>
          </a:xfrm>
          <a:prstGeom prst="rect">
            <a:avLst/>
          </a:prstGeom>
          <a:noFill/>
        </p:spPr>
        <p:txBody>
          <a:bodyPr wrap="square" anchor="ctr" lIns="50800" rIns="50800" tIns="25400" bIns="25400">
            <a:spAutoFit/>
          </a:bodyPr>
          <a:lstStyle/>
          <a:p>
            <a:pPr algn="ctr"/>
            <a:r>
              <a:rPr sz="900" b="1" i="0">
                <a:solidFill>
                  <a:srgbClr val="1E2761"/>
                </a:solidFill>
              </a:rPr>
              <a:t>AI is WEAK here.</a:t>
            </a:r>
          </a:p>
        </p:txBody>
      </p:sp>
      <p:sp>
        <p:nvSpPr>
          <p:cNvPr id="101" name="TextBox 100"/>
          <p:cNvSpPr txBox="1"/>
          <p:nvPr/>
        </p:nvSpPr>
        <p:spPr>
          <a:xfrm>
            <a:off x="548640" y="4206240"/>
            <a:ext cx="8046720" cy="274320"/>
          </a:xfrm>
          <a:prstGeom prst="rect">
            <a:avLst/>
          </a:prstGeom>
          <a:noFill/>
        </p:spPr>
        <p:txBody>
          <a:bodyPr wrap="square" anchor="t" lIns="50800" rIns="50800" tIns="25400" bIns="25400">
            <a:spAutoFit/>
          </a:bodyPr>
          <a:lstStyle/>
          <a:p>
            <a:pPr algn="ctr"/>
            <a:r>
              <a:rPr sz="900" b="1" i="1">
                <a:solidFill>
                  <a:srgbClr val="FF6B35"/>
                </a:solidFill>
              </a:rPr>
              <a:t>Kubeauto overnight baseline: Install avg ≈8.1, Integration avg ≈8.5 across the 7 tracked components. Usability wasn’t scored — that’s what today adds.</a:t>
            </a:r>
          </a:p>
        </p:txBody>
      </p:sp>
      <p:sp>
        <p:nvSpPr>
          <p:cNvPr id="102" name="TextBox 101"/>
          <p:cNvSpPr txBox="1"/>
          <p:nvPr/>
        </p:nvSpPr>
        <p:spPr>
          <a:xfrm>
            <a:off x="548640" y="4480560"/>
            <a:ext cx="8046720" cy="274320"/>
          </a:xfrm>
          <a:prstGeom prst="rect">
            <a:avLst/>
          </a:prstGeom>
          <a:noFill/>
        </p:spPr>
        <p:txBody>
          <a:bodyPr wrap="square" anchor="t" lIns="50800" rIns="50800" tIns="25400" bIns="25400">
            <a:spAutoFit/>
          </a:bodyPr>
          <a:lstStyle/>
          <a:p>
            <a:pPr algn="ctr"/>
            <a:r>
              <a:rPr sz="1000" b="1" i="1">
                <a:solidFill>
                  <a:srgbClr val="1E2761"/>
                </a:solidFill>
              </a:rPr>
              <a:t>Whatever the workshop scores live, the pattern is more interesting than the numbers.</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6" name="Google Shape;76;p4"/>
          <p:cNvPicPr preferRelativeResize="0"/>
          <p:nvPr/>
        </p:nvPicPr>
        <p:blipFill rotWithShape="1">
          <a:blip r:embed="rId4">
            <a:alphaModFix/>
          </a:blip>
          <a:srcRect b="0" l="0" r="0" t="0"/>
          <a:stretch/>
        </p:blipFill>
        <p:spPr>
          <a:xfrm>
            <a:off x="311691" y="4617391"/>
            <a:ext cx="1158975" cy="442225"/>
          </a:xfrm>
          <a:prstGeom prst="rect">
            <a:avLst/>
          </a:prstGeom>
          <a:noFill/>
          <a:ln>
            <a:noFill/>
          </a:ln>
        </p:spPr>
      </p:pic>
      <p:sp>
        <p:nvSpPr>
          <p:cNvPr id="77" name="TextBox 76"/>
          <p:cNvSpPr txBox="1"/>
          <p:nvPr/>
        </p:nvSpPr>
        <p:spPr>
          <a:xfrm>
            <a:off x="548640" y="274320"/>
            <a:ext cx="8046720" cy="320040"/>
          </a:xfrm>
          <a:prstGeom prst="rect">
            <a:avLst/>
          </a:prstGeom>
          <a:noFill/>
        </p:spPr>
        <p:txBody>
          <a:bodyPr wrap="square" anchor="t" lIns="50800" rIns="50800" tIns="25400" bIns="25400">
            <a:spAutoFit/>
          </a:bodyPr>
          <a:lstStyle/>
          <a:p>
            <a:pPr algn="l"/>
            <a:r>
              <a:rPr sz="1100" b="1" i="0">
                <a:solidFill>
                  <a:srgbClr val="FF6B35"/>
                </a:solidFill>
              </a:rPr>
              <a:t>APPENDIX F</a:t>
            </a:r>
          </a:p>
        </p:txBody>
      </p:sp>
      <p:sp>
        <p:nvSpPr>
          <p:cNvPr id="78" name="TextBox 77"/>
          <p:cNvSpPr txBox="1"/>
          <p:nvPr/>
        </p:nvSpPr>
        <p:spPr>
          <a:xfrm>
            <a:off x="548640" y="594360"/>
            <a:ext cx="8046720" cy="457200"/>
          </a:xfrm>
          <a:prstGeom prst="rect">
            <a:avLst/>
          </a:prstGeom>
          <a:noFill/>
        </p:spPr>
        <p:txBody>
          <a:bodyPr wrap="square" anchor="t" lIns="50800" rIns="50800" tIns="25400" bIns="25400">
            <a:spAutoFit/>
          </a:bodyPr>
          <a:lstStyle/>
          <a:p>
            <a:pPr algn="l"/>
            <a:r>
              <a:rPr sz="2200" b="1" i="0">
                <a:solidFill>
                  <a:srgbClr val="1E2761"/>
                </a:solidFill>
              </a:rPr>
              <a:t>Autonomous Execution — Paste → Hook → Promise</a:t>
            </a:r>
          </a:p>
        </p:txBody>
      </p:sp>
      <p:sp>
        <p:nvSpPr>
          <p:cNvPr id="79" name="TextBox 78"/>
          <p:cNvSpPr txBox="1"/>
          <p:nvPr/>
        </p:nvSpPr>
        <p:spPr>
          <a:xfrm>
            <a:off x="548640" y="1188720"/>
            <a:ext cx="8046720" cy="292608"/>
          </a:xfrm>
          <a:prstGeom prst="rect">
            <a:avLst/>
          </a:prstGeom>
          <a:noFill/>
        </p:spPr>
        <p:txBody>
          <a:bodyPr wrap="square" anchor="t" lIns="50800" rIns="50800" tIns="25400" bIns="25400">
            <a:spAutoFit/>
          </a:bodyPr>
          <a:lstStyle/>
          <a:p>
            <a:pPr algn="l"/>
            <a:r>
              <a:rPr sz="1100" b="0" i="1">
                <a:solidFill>
                  <a:srgbClr val="4A4A4A"/>
                </a:solidFill>
              </a:rPr>
              <a:t>One paste runs all 7 phases. The hook + the promise contract make it work.</a:t>
            </a:r>
          </a:p>
        </p:txBody>
      </p:sp>
      <p:sp>
        <p:nvSpPr>
          <p:cNvPr id="80" name="TextBox 79"/>
          <p:cNvSpPr txBox="1"/>
          <p:nvPr/>
        </p:nvSpPr>
        <p:spPr>
          <a:xfrm>
            <a:off x="548640" y="1600200"/>
            <a:ext cx="2468880" cy="256032"/>
          </a:xfrm>
          <a:prstGeom prst="rect">
            <a:avLst/>
          </a:prstGeom>
          <a:noFill/>
        </p:spPr>
        <p:txBody>
          <a:bodyPr wrap="square" anchor="t" lIns="50800" rIns="50800" tIns="25400" bIns="25400">
            <a:spAutoFit/>
          </a:bodyPr>
          <a:lstStyle/>
          <a:p>
            <a:pPr algn="l"/>
            <a:r>
              <a:rPr sz="900" b="1" i="0">
                <a:solidFill>
                  <a:srgbClr val="FF6B35"/>
                </a:solidFill>
              </a:rPr>
              <a:t>STEP 1</a:t>
            </a:r>
          </a:p>
        </p:txBody>
      </p:sp>
      <p:sp>
        <p:nvSpPr>
          <p:cNvPr id="81" name="Rectangle 80"/>
          <p:cNvSpPr/>
          <p:nvPr/>
        </p:nvSpPr>
        <p:spPr>
          <a:xfrm>
            <a:off x="548640" y="1828800"/>
            <a:ext cx="246888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48640" y="1828800"/>
            <a:ext cx="2468880" cy="365760"/>
          </a:xfrm>
          <a:prstGeom prst="rect">
            <a:avLst/>
          </a:prstGeom>
          <a:noFill/>
        </p:spPr>
        <p:txBody>
          <a:bodyPr wrap="square" anchor="ctr" lIns="50800" rIns="50800" tIns="25400" bIns="25400">
            <a:spAutoFit/>
          </a:bodyPr>
          <a:lstStyle/>
          <a:p>
            <a:pPr algn="ctr"/>
            <a:r>
              <a:rPr sz="1100" b="1" i="0">
                <a:solidFill>
                  <a:srgbClr val="FFFFFF"/>
                </a:solidFill>
              </a:rPr>
              <a:t>I paste the spec</a:t>
            </a:r>
          </a:p>
        </p:txBody>
      </p:sp>
      <p:sp>
        <p:nvSpPr>
          <p:cNvPr id="83" name="Rectangle 82"/>
          <p:cNvSpPr/>
          <p:nvPr/>
        </p:nvSpPr>
        <p:spPr>
          <a:xfrm>
            <a:off x="548640" y="2240280"/>
            <a:ext cx="2468880" cy="1325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080" y="2286000"/>
            <a:ext cx="2286000" cy="1280160"/>
          </a:xfrm>
          <a:prstGeom prst="rect">
            <a:avLst/>
          </a:prstGeom>
          <a:noFill/>
        </p:spPr>
        <p:txBody>
          <a:bodyPr wrap="square" anchor="t" lIns="50800" rIns="50800" tIns="25400" bIns="25400">
            <a:spAutoFit/>
          </a:bodyPr>
          <a:lstStyle/>
          <a:p>
            <a:pPr algn="l"/>
            <a:r>
              <a:rPr sz="800" b="0" i="0">
                <a:solidFill>
                  <a:srgbClr val="1E2761"/>
                </a:solidFill>
              </a:rPr>
              <a:t>Single paste from
spec/BUILD-SPEC.md’s
“How Claude executes
this spec” block.</a:t>
            </a:r>
          </a:p>
        </p:txBody>
      </p:sp>
      <p:sp>
        <p:nvSpPr>
          <p:cNvPr id="85" name="TextBox 84"/>
          <p:cNvSpPr txBox="1"/>
          <p:nvPr/>
        </p:nvSpPr>
        <p:spPr>
          <a:xfrm>
            <a:off x="640080" y="3611880"/>
            <a:ext cx="2286000" cy="502920"/>
          </a:xfrm>
          <a:prstGeom prst="rect">
            <a:avLst/>
          </a:prstGeom>
          <a:noFill/>
        </p:spPr>
        <p:txBody>
          <a:bodyPr wrap="square" anchor="t" lIns="50800" rIns="50800" tIns="25400" bIns="25400">
            <a:spAutoFit/>
          </a:bodyPr>
          <a:lstStyle/>
          <a:p>
            <a:pPr algn="l"/>
            <a:r>
              <a:rPr sz="700" b="0" i="1">
                <a:solidFill>
                  <a:srgbClr val="4A4A4A"/>
                </a:solidFill>
              </a:rPr>
              <a:t>Spec defines all 7 phases,
scoring dimensions, gate
format, stack pins.</a:t>
            </a:r>
          </a:p>
        </p:txBody>
      </p:sp>
      <p:sp>
        <p:nvSpPr>
          <p:cNvPr id="86" name="TextBox 85"/>
          <p:cNvSpPr txBox="1"/>
          <p:nvPr/>
        </p:nvSpPr>
        <p:spPr>
          <a:xfrm>
            <a:off x="3337560" y="1600200"/>
            <a:ext cx="2468880" cy="256032"/>
          </a:xfrm>
          <a:prstGeom prst="rect">
            <a:avLst/>
          </a:prstGeom>
          <a:noFill/>
        </p:spPr>
        <p:txBody>
          <a:bodyPr wrap="square" anchor="t" lIns="50800" rIns="50800" tIns="25400" bIns="25400">
            <a:spAutoFit/>
          </a:bodyPr>
          <a:lstStyle/>
          <a:p>
            <a:pPr algn="l"/>
            <a:r>
              <a:rPr sz="900" b="1" i="0">
                <a:solidFill>
                  <a:srgbClr val="FF6B35"/>
                </a:solidFill>
              </a:rPr>
              <a:t>STEP 2</a:t>
            </a:r>
          </a:p>
        </p:txBody>
      </p:sp>
      <p:sp>
        <p:nvSpPr>
          <p:cNvPr id="87" name="Rectangle 86"/>
          <p:cNvSpPr/>
          <p:nvPr/>
        </p:nvSpPr>
        <p:spPr>
          <a:xfrm>
            <a:off x="3337560" y="1828800"/>
            <a:ext cx="246888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337560" y="1828800"/>
            <a:ext cx="2468880" cy="365760"/>
          </a:xfrm>
          <a:prstGeom prst="rect">
            <a:avLst/>
          </a:prstGeom>
          <a:noFill/>
        </p:spPr>
        <p:txBody>
          <a:bodyPr wrap="square" anchor="ctr" lIns="50800" rIns="50800" tIns="25400" bIns="25400">
            <a:spAutoFit/>
          </a:bodyPr>
          <a:lstStyle/>
          <a:p>
            <a:pPr algn="ctr"/>
            <a:r>
              <a:rPr sz="1100" b="1" i="0">
                <a:solidFill>
                  <a:srgbClr val="FFFFFF"/>
                </a:solidFill>
              </a:rPr>
              <a:t>Hook enforces the contract</a:t>
            </a:r>
          </a:p>
        </p:txBody>
      </p:sp>
      <p:sp>
        <p:nvSpPr>
          <p:cNvPr id="89" name="Rectangle 88"/>
          <p:cNvSpPr/>
          <p:nvPr/>
        </p:nvSpPr>
        <p:spPr>
          <a:xfrm>
            <a:off x="3337560" y="2240280"/>
            <a:ext cx="2468880" cy="1325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29000" y="2286000"/>
            <a:ext cx="2286000" cy="1280160"/>
          </a:xfrm>
          <a:prstGeom prst="rect">
            <a:avLst/>
          </a:prstGeom>
          <a:noFill/>
        </p:spPr>
        <p:txBody>
          <a:bodyPr wrap="square" anchor="t" lIns="50800" rIns="50800" tIns="25400" bIns="25400">
            <a:spAutoFit/>
          </a:bodyPr>
          <a:lstStyle/>
          <a:p>
            <a:pPr algn="l"/>
            <a:r>
              <a:rPr sz="800" b="0" i="0">
                <a:solidFill>
                  <a:srgbClr val="1E2761"/>
                </a:solidFill>
              </a:rPr>
              <a:t>.claude/hooks/cc-stop-
deterministic.sh refuses
the Stop event without a
&lt;promise&gt;PHASE_N_DONE&lt;/promise&gt;.</a:t>
            </a:r>
          </a:p>
        </p:txBody>
      </p:sp>
      <p:sp>
        <p:nvSpPr>
          <p:cNvPr id="91" name="TextBox 90"/>
          <p:cNvSpPr txBox="1"/>
          <p:nvPr/>
        </p:nvSpPr>
        <p:spPr>
          <a:xfrm>
            <a:off x="3429000" y="3611880"/>
            <a:ext cx="2286000" cy="502920"/>
          </a:xfrm>
          <a:prstGeom prst="rect">
            <a:avLst/>
          </a:prstGeom>
          <a:noFill/>
        </p:spPr>
        <p:txBody>
          <a:bodyPr wrap="square" anchor="t" lIns="50800" rIns="50800" tIns="25400" bIns="25400">
            <a:spAutoFit/>
          </a:bodyPr>
          <a:lstStyle/>
          <a:p>
            <a:pPr algn="l"/>
            <a:r>
              <a:rPr sz="700" b="0" i="1">
                <a:solidFill>
                  <a:srgbClr val="4A4A4A"/>
                </a:solidFill>
              </a:rPr>
              <a:t>If pytest didn’t pass,
the promise tag never
fires, Claude is forced
to keep iterating.</a:t>
            </a:r>
          </a:p>
        </p:txBody>
      </p:sp>
      <p:sp>
        <p:nvSpPr>
          <p:cNvPr id="92" name="TextBox 91"/>
          <p:cNvSpPr txBox="1"/>
          <p:nvPr/>
        </p:nvSpPr>
        <p:spPr>
          <a:xfrm>
            <a:off x="6126480" y="1600200"/>
            <a:ext cx="2468880" cy="256032"/>
          </a:xfrm>
          <a:prstGeom prst="rect">
            <a:avLst/>
          </a:prstGeom>
          <a:noFill/>
        </p:spPr>
        <p:txBody>
          <a:bodyPr wrap="square" anchor="t" lIns="50800" rIns="50800" tIns="25400" bIns="25400">
            <a:spAutoFit/>
          </a:bodyPr>
          <a:lstStyle/>
          <a:p>
            <a:pPr algn="l"/>
            <a:r>
              <a:rPr sz="900" b="1" i="0">
                <a:solidFill>
                  <a:srgbClr val="FF6B35"/>
                </a:solidFill>
              </a:rPr>
              <a:t>STEP 3</a:t>
            </a:r>
          </a:p>
        </p:txBody>
      </p:sp>
      <p:sp>
        <p:nvSpPr>
          <p:cNvPr id="93" name="Rectangle 92"/>
          <p:cNvSpPr/>
          <p:nvPr/>
        </p:nvSpPr>
        <p:spPr>
          <a:xfrm>
            <a:off x="6126480" y="1828800"/>
            <a:ext cx="246888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26480" y="1828800"/>
            <a:ext cx="2468880" cy="365760"/>
          </a:xfrm>
          <a:prstGeom prst="rect">
            <a:avLst/>
          </a:prstGeom>
          <a:noFill/>
        </p:spPr>
        <p:txBody>
          <a:bodyPr wrap="square" anchor="ctr" lIns="50800" rIns="50800" tIns="25400" bIns="25400">
            <a:spAutoFit/>
          </a:bodyPr>
          <a:lstStyle/>
          <a:p>
            <a:pPr algn="ctr"/>
            <a:r>
              <a:rPr sz="1100" b="1" i="0">
                <a:solidFill>
                  <a:srgbClr val="FFFFFF"/>
                </a:solidFill>
              </a:rPr>
              <a:t>Promise lands or fails honestly</a:t>
            </a:r>
          </a:p>
        </p:txBody>
      </p:sp>
      <p:sp>
        <p:nvSpPr>
          <p:cNvPr id="95" name="Rectangle 94"/>
          <p:cNvSpPr/>
          <p:nvPr/>
        </p:nvSpPr>
        <p:spPr>
          <a:xfrm>
            <a:off x="6126480" y="2240280"/>
            <a:ext cx="2468880" cy="13258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17920" y="2286000"/>
            <a:ext cx="2286000" cy="1280160"/>
          </a:xfrm>
          <a:prstGeom prst="rect">
            <a:avLst/>
          </a:prstGeom>
          <a:noFill/>
        </p:spPr>
        <p:txBody>
          <a:bodyPr wrap="square" anchor="t" lIns="50800" rIns="50800" tIns="25400" bIns="25400">
            <a:spAutoFit/>
          </a:bodyPr>
          <a:lstStyle/>
          <a:p>
            <a:pPr algn="l"/>
            <a:r>
              <a:rPr sz="800" b="0" i="0">
                <a:solidFill>
                  <a:srgbClr val="1E2761"/>
                </a:solidFill>
              </a:rPr>
              <a:t>pytest exit 0 → emit
&lt;promise&gt;PHASE_N_DONE&lt;/promise&gt;
→ hook releases
→ advance to phase N+1.</a:t>
            </a:r>
          </a:p>
        </p:txBody>
      </p:sp>
      <p:sp>
        <p:nvSpPr>
          <p:cNvPr id="97" name="TextBox 96"/>
          <p:cNvSpPr txBox="1"/>
          <p:nvPr/>
        </p:nvSpPr>
        <p:spPr>
          <a:xfrm>
            <a:off x="6217920" y="3611880"/>
            <a:ext cx="2286000" cy="502920"/>
          </a:xfrm>
          <a:prstGeom prst="rect">
            <a:avLst/>
          </a:prstGeom>
          <a:noFill/>
        </p:spPr>
        <p:txBody>
          <a:bodyPr wrap="square" anchor="t" lIns="50800" rIns="50800" tIns="25400" bIns="25400">
            <a:spAutoFit/>
          </a:bodyPr>
          <a:lstStyle/>
          <a:p>
            <a:pPr algn="l"/>
            <a:r>
              <a:rPr sz="700" b="0" i="1">
                <a:solidFill>
                  <a:srgbClr val="4A4A4A"/>
                </a:solidFill>
              </a:rPr>
              <a:t>pytest fails after diagnostic →
emit PHASE_N_FAILED.
Honest failures &gt; faked passes.</a:t>
            </a:r>
          </a:p>
        </p:txBody>
      </p:sp>
      <p:sp>
        <p:nvSpPr>
          <p:cNvPr id="98" name="TextBox 97"/>
          <p:cNvSpPr txBox="1"/>
          <p:nvPr/>
        </p:nvSpPr>
        <p:spPr>
          <a:xfrm>
            <a:off x="2990088" y="2606040"/>
            <a:ext cx="365760" cy="365760"/>
          </a:xfrm>
          <a:prstGeom prst="rect">
            <a:avLst/>
          </a:prstGeom>
          <a:noFill/>
        </p:spPr>
        <p:txBody>
          <a:bodyPr wrap="square" anchor="ctr" lIns="50800" rIns="50800" tIns="25400" bIns="25400">
            <a:spAutoFit/>
          </a:bodyPr>
          <a:lstStyle/>
          <a:p>
            <a:pPr algn="ctr"/>
            <a:r>
              <a:rPr sz="2600" b="1" i="0">
                <a:solidFill>
                  <a:srgbClr val="FF6B35"/>
                </a:solidFill>
              </a:rPr>
              <a:t>→</a:t>
            </a:r>
          </a:p>
        </p:txBody>
      </p:sp>
      <p:sp>
        <p:nvSpPr>
          <p:cNvPr id="99" name="TextBox 98"/>
          <p:cNvSpPr txBox="1"/>
          <p:nvPr/>
        </p:nvSpPr>
        <p:spPr>
          <a:xfrm>
            <a:off x="5779008" y="2606040"/>
            <a:ext cx="365760" cy="365760"/>
          </a:xfrm>
          <a:prstGeom prst="rect">
            <a:avLst/>
          </a:prstGeom>
          <a:noFill/>
        </p:spPr>
        <p:txBody>
          <a:bodyPr wrap="square" anchor="ctr" lIns="50800" rIns="50800" tIns="25400" bIns="25400">
            <a:spAutoFit/>
          </a:bodyPr>
          <a:lstStyle/>
          <a:p>
            <a:pPr algn="ctr"/>
            <a:r>
              <a:rPr sz="2600" b="1" i="0">
                <a:solidFill>
                  <a:srgbClr val="FF6B35"/>
                </a:solidFill>
              </a:rPr>
              <a:t>→</a:t>
            </a:r>
          </a:p>
        </p:txBody>
      </p:sp>
      <p:sp>
        <p:nvSpPr>
          <p:cNvPr id="100" name="Rectangle 99"/>
          <p:cNvSpPr/>
          <p:nvPr/>
        </p:nvSpPr>
        <p:spPr>
          <a:xfrm>
            <a:off x="548640" y="4206240"/>
            <a:ext cx="80467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31520" y="4251960"/>
            <a:ext cx="7680960" cy="292608"/>
          </a:xfrm>
          <a:prstGeom prst="rect">
            <a:avLst/>
          </a:prstGeom>
          <a:noFill/>
        </p:spPr>
        <p:txBody>
          <a:bodyPr wrap="square" anchor="t" lIns="50800" rIns="50800" tIns="25400" bIns="25400">
            <a:spAutoFit/>
          </a:bodyPr>
          <a:lstStyle/>
          <a:p>
            <a:pPr algn="l"/>
            <a:r>
              <a:rPr sz="1000" b="1" i="0">
                <a:solidFill>
                  <a:srgbClr val="1E2761"/>
                </a:solidFill>
              </a:rPr>
              <a:t>Stuck or fell behind? /build-phase N reruns just one phase — catch-up path with the same hook + promise contract.</a:t>
            </a:r>
          </a:p>
        </p:txBody>
      </p:sp>
      <p:sp>
        <p:nvSpPr>
          <p:cNvPr id="102" name="TextBox 101"/>
          <p:cNvSpPr txBox="1"/>
          <p:nvPr/>
        </p:nvSpPr>
        <p:spPr>
          <a:xfrm>
            <a:off x="731520" y="4526280"/>
            <a:ext cx="7680960" cy="292608"/>
          </a:xfrm>
          <a:prstGeom prst="rect">
            <a:avLst/>
          </a:prstGeom>
          <a:noFill/>
        </p:spPr>
        <p:txBody>
          <a:bodyPr wrap="square" anchor="t" lIns="50800" rIns="50800" tIns="25400" bIns="25400">
            <a:spAutoFit/>
          </a:bodyPr>
          <a:lstStyle/>
          <a:p>
            <a:pPr algn="l"/>
            <a:r>
              <a:rPr sz="900" b="0" i="1">
                <a:solidFill>
                  <a:srgbClr val="4A4A4A"/>
                </a:solidFill>
              </a:rPr>
              <a:t>Same gate, same contract, single-phase scope. Used when the autonomous loop gets stuck or a student catches up mid-talk.</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548640" y="274320"/>
            <a:ext cx="8046720" cy="292608"/>
          </a:xfrm>
          <a:prstGeom prst="rect">
            <a:avLst/>
          </a:prstGeom>
          <a:noFill/>
        </p:spPr>
        <p:txBody>
          <a:bodyPr wrap="square" anchor="t" lIns="50800" rIns="50800" tIns="25400" bIns="25400">
            <a:spAutoFit/>
          </a:bodyPr>
          <a:lstStyle/>
          <a:p>
            <a:pPr algn="l"/>
            <a:r>
              <a:rPr sz="1100" b="1" i="0">
                <a:solidFill>
                  <a:srgbClr val="FF6B35"/>
                </a:solidFill>
              </a:rPr>
              <a:t>APPENDIX G</a:t>
            </a:r>
          </a:p>
        </p:txBody>
      </p:sp>
      <p:sp>
        <p:nvSpPr>
          <p:cNvPr id="69" name="TextBox 68"/>
          <p:cNvSpPr txBox="1"/>
          <p:nvPr/>
        </p:nvSpPr>
        <p:spPr>
          <a:xfrm>
            <a:off x="548640" y="566928"/>
            <a:ext cx="8046720" cy="457200"/>
          </a:xfrm>
          <a:prstGeom prst="rect">
            <a:avLst/>
          </a:prstGeom>
          <a:noFill/>
        </p:spPr>
        <p:txBody>
          <a:bodyPr wrap="square" anchor="t" lIns="50800" rIns="50800" tIns="25400" bIns="25400">
            <a:spAutoFit/>
          </a:bodyPr>
          <a:lstStyle/>
          <a:p>
            <a:pPr algn="l"/>
            <a:r>
              <a:rPr sz="2200" b="1" i="0">
                <a:solidFill>
                  <a:srgbClr val="1E2761"/>
                </a:solidFill>
              </a:rPr>
              <a:t>The Acceleration — Same Spec, Different Agent</a:t>
            </a:r>
          </a:p>
        </p:txBody>
      </p:sp>
      <p:sp>
        <p:nvSpPr>
          <p:cNvPr id="70" name="TextBox 69"/>
          <p:cNvSpPr txBox="1"/>
          <p:nvPr/>
        </p:nvSpPr>
        <p:spPr>
          <a:xfrm>
            <a:off x="548640" y="1143000"/>
            <a:ext cx="8046720" cy="292608"/>
          </a:xfrm>
          <a:prstGeom prst="rect">
            <a:avLst/>
          </a:prstGeom>
          <a:noFill/>
        </p:spPr>
        <p:txBody>
          <a:bodyPr wrap="square" anchor="t" lIns="50800" rIns="50800" tIns="25400" bIns="25400">
            <a:spAutoFit/>
          </a:bodyPr>
          <a:lstStyle/>
          <a:p>
            <a:pPr algn="l"/>
            <a:r>
              <a:rPr sz="1100" b="0" i="1">
                <a:solidFill>
                  <a:srgbClr val="4A4A4A"/>
                </a:solidFill>
              </a:rPr>
              <a:t>Same 7-phase build. Same scorecard. Different Claude. Watch the timeline collapse.</a:t>
            </a:r>
          </a:p>
        </p:txBody>
      </p:sp>
      <p:sp>
        <p:nvSpPr>
          <p:cNvPr id="71" name="Rectangle 70"/>
          <p:cNvSpPr/>
          <p:nvPr/>
        </p:nvSpPr>
        <p:spPr>
          <a:xfrm>
            <a:off x="548640" y="1691640"/>
            <a:ext cx="1828800" cy="2331720"/>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1783080"/>
            <a:ext cx="1828800" cy="274320"/>
          </a:xfrm>
          <a:prstGeom prst="rect">
            <a:avLst/>
          </a:prstGeom>
          <a:noFill/>
        </p:spPr>
        <p:txBody>
          <a:bodyPr wrap="square" anchor="t" lIns="50800" rIns="50800" tIns="25400" bIns="25400">
            <a:spAutoFit/>
          </a:bodyPr>
          <a:lstStyle/>
          <a:p>
            <a:pPr algn="ctr"/>
            <a:r>
              <a:rPr sz="1300" b="1" i="0">
                <a:solidFill>
                  <a:srgbClr val="FFFFFF"/>
                </a:solidFill>
              </a:rPr>
              <a:t>Opus 4.1</a:t>
            </a:r>
          </a:p>
        </p:txBody>
      </p:sp>
      <p:sp>
        <p:nvSpPr>
          <p:cNvPr id="73" name="TextBox 72"/>
          <p:cNvSpPr txBox="1"/>
          <p:nvPr/>
        </p:nvSpPr>
        <p:spPr>
          <a:xfrm>
            <a:off x="548640" y="2103120"/>
            <a:ext cx="1828800" cy="640080"/>
          </a:xfrm>
          <a:prstGeom prst="rect">
            <a:avLst/>
          </a:prstGeom>
          <a:noFill/>
        </p:spPr>
        <p:txBody>
          <a:bodyPr wrap="square" anchor="ctr" lIns="50800" rIns="50800" tIns="25400" bIns="25400">
            <a:spAutoFit/>
          </a:bodyPr>
          <a:lstStyle/>
          <a:p>
            <a:pPr algn="ctr"/>
            <a:r>
              <a:rPr sz="2800" b="1" i="0">
                <a:solidFill>
                  <a:srgbClr val="FFFFFF"/>
                </a:solidFill>
              </a:rPr>
              <a:t>✗</a:t>
            </a:r>
          </a:p>
        </p:txBody>
      </p:sp>
      <p:sp>
        <p:nvSpPr>
          <p:cNvPr id="74" name="TextBox 73"/>
          <p:cNvSpPr txBox="1"/>
          <p:nvPr/>
        </p:nvSpPr>
        <p:spPr>
          <a:xfrm>
            <a:off x="548640" y="2743200"/>
            <a:ext cx="1828800" cy="292608"/>
          </a:xfrm>
          <a:prstGeom prst="rect">
            <a:avLst/>
          </a:prstGeom>
          <a:noFill/>
        </p:spPr>
        <p:txBody>
          <a:bodyPr wrap="square" anchor="t" lIns="50800" rIns="50800" tIns="25400" bIns="25400">
            <a:spAutoFit/>
          </a:bodyPr>
          <a:lstStyle/>
          <a:p>
            <a:pPr algn="ctr"/>
            <a:r>
              <a:rPr sz="1000" b="0" i="1">
                <a:solidFill>
                  <a:srgbClr val="FFFFFF"/>
                </a:solidFill>
              </a:rPr>
              <a:t>Could not
complete</a:t>
            </a:r>
          </a:p>
        </p:txBody>
      </p:sp>
      <p:sp>
        <p:nvSpPr>
          <p:cNvPr id="75" name="TextBox 74"/>
          <p:cNvSpPr txBox="1"/>
          <p:nvPr/>
        </p:nvSpPr>
        <p:spPr>
          <a:xfrm>
            <a:off x="640080" y="3063240"/>
            <a:ext cx="1645920" cy="914400"/>
          </a:xfrm>
          <a:prstGeom prst="rect">
            <a:avLst/>
          </a:prstGeom>
          <a:noFill/>
        </p:spPr>
        <p:txBody>
          <a:bodyPr wrap="square" anchor="t" lIns="50800" rIns="50800" tIns="25400" bIns="25400">
            <a:spAutoFit/>
          </a:bodyPr>
          <a:lstStyle/>
          <a:p>
            <a:pPr algn="ctr"/>
            <a:r>
              <a:rPr sz="800" b="0" i="0">
                <a:solidFill>
                  <a:srgbClr val="FFFFFF"/>
                </a:solidFill>
              </a:rPr>
              <a:t>Hit context limits;
looped on chart
version mismatches;
never reached
Phase 4.</a:t>
            </a:r>
          </a:p>
        </p:txBody>
      </p:sp>
      <p:sp>
        <p:nvSpPr>
          <p:cNvPr id="76" name="Rectangle 75"/>
          <p:cNvSpPr/>
          <p:nvPr/>
        </p:nvSpPr>
        <p:spPr>
          <a:xfrm>
            <a:off x="2560320" y="1691640"/>
            <a:ext cx="1828800" cy="23317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560320" y="1783080"/>
            <a:ext cx="1828800" cy="274320"/>
          </a:xfrm>
          <a:prstGeom prst="rect">
            <a:avLst/>
          </a:prstGeom>
          <a:noFill/>
        </p:spPr>
        <p:txBody>
          <a:bodyPr wrap="square" anchor="t" lIns="50800" rIns="50800" tIns="25400" bIns="25400">
            <a:spAutoFit/>
          </a:bodyPr>
          <a:lstStyle/>
          <a:p>
            <a:pPr algn="ctr"/>
            <a:r>
              <a:rPr sz="1300" b="1" i="0">
                <a:solidFill>
                  <a:srgbClr val="1E2761"/>
                </a:solidFill>
              </a:rPr>
              <a:t>Opus 4.5</a:t>
            </a:r>
          </a:p>
        </p:txBody>
      </p:sp>
      <p:sp>
        <p:nvSpPr>
          <p:cNvPr id="78" name="TextBox 77"/>
          <p:cNvSpPr txBox="1"/>
          <p:nvPr/>
        </p:nvSpPr>
        <p:spPr>
          <a:xfrm>
            <a:off x="2560320" y="2103120"/>
            <a:ext cx="1828800" cy="640080"/>
          </a:xfrm>
          <a:prstGeom prst="rect">
            <a:avLst/>
          </a:prstGeom>
          <a:noFill/>
        </p:spPr>
        <p:txBody>
          <a:bodyPr wrap="square" anchor="ctr" lIns="50800" rIns="50800" tIns="25400" bIns="25400">
            <a:spAutoFit/>
          </a:bodyPr>
          <a:lstStyle/>
          <a:p>
            <a:pPr algn="ctr"/>
            <a:r>
              <a:rPr sz="2800" b="1" i="0">
                <a:solidFill>
                  <a:srgbClr val="1E2761"/>
                </a:solidFill>
              </a:rPr>
              <a:t>10h</a:t>
            </a:r>
          </a:p>
        </p:txBody>
      </p:sp>
      <p:sp>
        <p:nvSpPr>
          <p:cNvPr id="79" name="TextBox 78"/>
          <p:cNvSpPr txBox="1"/>
          <p:nvPr/>
        </p:nvSpPr>
        <p:spPr>
          <a:xfrm>
            <a:off x="2560320" y="2743200"/>
            <a:ext cx="1828800" cy="292608"/>
          </a:xfrm>
          <a:prstGeom prst="rect">
            <a:avLst/>
          </a:prstGeom>
          <a:noFill/>
        </p:spPr>
        <p:txBody>
          <a:bodyPr wrap="square" anchor="t" lIns="50800" rIns="50800" tIns="25400" bIns="25400">
            <a:spAutoFit/>
          </a:bodyPr>
          <a:lstStyle/>
          <a:p>
            <a:pPr algn="ctr"/>
            <a:r>
              <a:rPr sz="1000" b="0" i="1">
                <a:solidFill>
                  <a:srgbClr val="1E2761"/>
                </a:solidFill>
              </a:rPr>
              <a:t>Overnight build</a:t>
            </a:r>
          </a:p>
        </p:txBody>
      </p:sp>
      <p:sp>
        <p:nvSpPr>
          <p:cNvPr id="80" name="TextBox 79"/>
          <p:cNvSpPr txBox="1"/>
          <p:nvPr/>
        </p:nvSpPr>
        <p:spPr>
          <a:xfrm>
            <a:off x="2651760" y="3063240"/>
            <a:ext cx="1645920" cy="914400"/>
          </a:xfrm>
          <a:prstGeom prst="rect">
            <a:avLst/>
          </a:prstGeom>
          <a:noFill/>
        </p:spPr>
        <p:txBody>
          <a:bodyPr wrap="square" anchor="t" lIns="50800" rIns="50800" tIns="25400" bIns="25400">
            <a:spAutoFit/>
          </a:bodyPr>
          <a:lstStyle/>
          <a:p>
            <a:pPr algn="ctr"/>
            <a:r>
              <a:rPr sz="800" b="0" i="0">
                <a:solidFill>
                  <a:srgbClr val="1E2761"/>
                </a:solidFill>
              </a:rPr>
              <a:t>The kubeauto baseline.
One pass, mostly
clean. Manual
diagnostics on
Phases 5 + 7.</a:t>
            </a:r>
          </a:p>
        </p:txBody>
      </p:sp>
      <p:sp>
        <p:nvSpPr>
          <p:cNvPr id="81" name="Rectangle 80"/>
          <p:cNvSpPr/>
          <p:nvPr/>
        </p:nvSpPr>
        <p:spPr>
          <a:xfrm>
            <a:off x="4572000" y="1691640"/>
            <a:ext cx="1828800" cy="2331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2000" y="1783080"/>
            <a:ext cx="1828800" cy="274320"/>
          </a:xfrm>
          <a:prstGeom prst="rect">
            <a:avLst/>
          </a:prstGeom>
          <a:noFill/>
        </p:spPr>
        <p:txBody>
          <a:bodyPr wrap="square" anchor="t" lIns="50800" rIns="50800" tIns="25400" bIns="25400">
            <a:spAutoFit/>
          </a:bodyPr>
          <a:lstStyle/>
          <a:p>
            <a:pPr algn="ctr"/>
            <a:r>
              <a:rPr sz="1300" b="1" i="0">
                <a:solidFill>
                  <a:srgbClr val="FFFFFF"/>
                </a:solidFill>
              </a:rPr>
              <a:t>Opus 4.6</a:t>
            </a:r>
          </a:p>
        </p:txBody>
      </p:sp>
      <p:sp>
        <p:nvSpPr>
          <p:cNvPr id="83" name="TextBox 82"/>
          <p:cNvSpPr txBox="1"/>
          <p:nvPr/>
        </p:nvSpPr>
        <p:spPr>
          <a:xfrm>
            <a:off x="4572000" y="2103120"/>
            <a:ext cx="1828800" cy="640080"/>
          </a:xfrm>
          <a:prstGeom prst="rect">
            <a:avLst/>
          </a:prstGeom>
          <a:noFill/>
        </p:spPr>
        <p:txBody>
          <a:bodyPr wrap="square" anchor="ctr" lIns="50800" rIns="50800" tIns="25400" bIns="25400">
            <a:spAutoFit/>
          </a:bodyPr>
          <a:lstStyle/>
          <a:p>
            <a:pPr algn="ctr"/>
            <a:r>
              <a:rPr sz="2800" b="1" i="0">
                <a:solidFill>
                  <a:srgbClr val="FFFFFF"/>
                </a:solidFill>
              </a:rPr>
              <a:t>3.5h</a:t>
            </a:r>
          </a:p>
        </p:txBody>
      </p:sp>
      <p:sp>
        <p:nvSpPr>
          <p:cNvPr id="84" name="TextBox 83"/>
          <p:cNvSpPr txBox="1"/>
          <p:nvPr/>
        </p:nvSpPr>
        <p:spPr>
          <a:xfrm>
            <a:off x="4572000" y="2743200"/>
            <a:ext cx="1828800" cy="292608"/>
          </a:xfrm>
          <a:prstGeom prst="rect">
            <a:avLst/>
          </a:prstGeom>
          <a:noFill/>
        </p:spPr>
        <p:txBody>
          <a:bodyPr wrap="square" anchor="t" lIns="50800" rIns="50800" tIns="25400" bIns="25400">
            <a:spAutoFit/>
          </a:bodyPr>
          <a:lstStyle/>
          <a:p>
            <a:pPr algn="ctr"/>
            <a:r>
              <a:rPr sz="1000" b="0" i="1">
                <a:solidFill>
                  <a:srgbClr val="FFFFFF"/>
                </a:solidFill>
              </a:rPr>
              <a:t>Coffee break</a:t>
            </a:r>
          </a:p>
        </p:txBody>
      </p:sp>
      <p:sp>
        <p:nvSpPr>
          <p:cNvPr id="85" name="TextBox 84"/>
          <p:cNvSpPr txBox="1"/>
          <p:nvPr/>
        </p:nvSpPr>
        <p:spPr>
          <a:xfrm>
            <a:off x="4663440" y="3063240"/>
            <a:ext cx="1645920" cy="914400"/>
          </a:xfrm>
          <a:prstGeom prst="rect">
            <a:avLst/>
          </a:prstGeom>
          <a:noFill/>
        </p:spPr>
        <p:txBody>
          <a:bodyPr wrap="square" anchor="t" lIns="50800" rIns="50800" tIns="25400" bIns="25400">
            <a:spAutoFit/>
          </a:bodyPr>
          <a:lstStyle/>
          <a:p>
            <a:pPr algn="ctr"/>
            <a:r>
              <a:rPr sz="800" b="0" i="0">
                <a:solidFill>
                  <a:srgbClr val="FFFFFF"/>
                </a:solidFill>
              </a:rPr>
              <a:t>Skill files mature
enough to skip the
phase-stall failures.
First-try Backstage.</a:t>
            </a:r>
          </a:p>
        </p:txBody>
      </p:sp>
      <p:sp>
        <p:nvSpPr>
          <p:cNvPr id="86" name="Rectangle 85"/>
          <p:cNvSpPr/>
          <p:nvPr/>
        </p:nvSpPr>
        <p:spPr>
          <a:xfrm>
            <a:off x="6583680" y="1691640"/>
            <a:ext cx="1828800" cy="233172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83680" y="1783080"/>
            <a:ext cx="1828800" cy="274320"/>
          </a:xfrm>
          <a:prstGeom prst="rect">
            <a:avLst/>
          </a:prstGeom>
          <a:noFill/>
        </p:spPr>
        <p:txBody>
          <a:bodyPr wrap="square" anchor="t" lIns="50800" rIns="50800" tIns="25400" bIns="25400">
            <a:spAutoFit/>
          </a:bodyPr>
          <a:lstStyle/>
          <a:p>
            <a:pPr algn="ctr"/>
            <a:r>
              <a:rPr sz="1300" b="1" i="0">
                <a:solidFill>
                  <a:srgbClr val="FFFFFF"/>
                </a:solidFill>
              </a:rPr>
              <a:t>Opus 4.7*</a:t>
            </a:r>
          </a:p>
        </p:txBody>
      </p:sp>
      <p:sp>
        <p:nvSpPr>
          <p:cNvPr id="88" name="TextBox 87"/>
          <p:cNvSpPr txBox="1"/>
          <p:nvPr/>
        </p:nvSpPr>
        <p:spPr>
          <a:xfrm>
            <a:off x="6583680" y="2103120"/>
            <a:ext cx="1828800" cy="640080"/>
          </a:xfrm>
          <a:prstGeom prst="rect">
            <a:avLst/>
          </a:prstGeom>
          <a:noFill/>
        </p:spPr>
        <p:txBody>
          <a:bodyPr wrap="square" anchor="ctr" lIns="50800" rIns="50800" tIns="25400" bIns="25400">
            <a:spAutoFit/>
          </a:bodyPr>
          <a:lstStyle/>
          <a:p>
            <a:pPr algn="ctr"/>
            <a:r>
              <a:rPr sz="2800" b="1" i="0">
                <a:solidFill>
                  <a:srgbClr val="FFFFFF"/>
                </a:solidFill>
              </a:rPr>
              <a:t>~20 min</a:t>
            </a:r>
          </a:p>
        </p:txBody>
      </p:sp>
      <p:sp>
        <p:nvSpPr>
          <p:cNvPr id="89" name="TextBox 88"/>
          <p:cNvSpPr txBox="1"/>
          <p:nvPr/>
        </p:nvSpPr>
        <p:spPr>
          <a:xfrm>
            <a:off x="6583680" y="2743200"/>
            <a:ext cx="1828800" cy="292608"/>
          </a:xfrm>
          <a:prstGeom prst="rect">
            <a:avLst/>
          </a:prstGeom>
          <a:noFill/>
        </p:spPr>
        <p:txBody>
          <a:bodyPr wrap="square" anchor="t" lIns="50800" rIns="50800" tIns="25400" bIns="25400">
            <a:spAutoFit/>
          </a:bodyPr>
          <a:lstStyle/>
          <a:p>
            <a:pPr algn="ctr"/>
            <a:r>
              <a:rPr sz="1000" b="0" i="1">
                <a:solidFill>
                  <a:srgbClr val="FFFFFF"/>
                </a:solidFill>
              </a:rPr>
              <a:t>Projected</a:t>
            </a:r>
          </a:p>
        </p:txBody>
      </p:sp>
      <p:sp>
        <p:nvSpPr>
          <p:cNvPr id="90" name="TextBox 89"/>
          <p:cNvSpPr txBox="1"/>
          <p:nvPr/>
        </p:nvSpPr>
        <p:spPr>
          <a:xfrm>
            <a:off x="6675120" y="3063240"/>
            <a:ext cx="1645920" cy="914400"/>
          </a:xfrm>
          <a:prstGeom prst="rect">
            <a:avLst/>
          </a:prstGeom>
          <a:noFill/>
        </p:spPr>
        <p:txBody>
          <a:bodyPr wrap="square" anchor="t" lIns="50800" rIns="50800" tIns="25400" bIns="25400">
            <a:spAutoFit/>
          </a:bodyPr>
          <a:lstStyle/>
          <a:p>
            <a:pPr algn="ctr"/>
            <a:r>
              <a:rPr sz="800" b="0" i="0">
                <a:solidFill>
                  <a:srgbClr val="FFFFFF"/>
                </a:solidFill>
              </a:rPr>
              <a:t>Preliminary based
on kubeauto reruns.
Not yet measured
at workshop scale.
Asterisk earned.</a:t>
            </a:r>
          </a:p>
        </p:txBody>
      </p:sp>
      <p:sp>
        <p:nvSpPr>
          <p:cNvPr id="91" name="TextBox 90"/>
          <p:cNvSpPr txBox="1"/>
          <p:nvPr/>
        </p:nvSpPr>
        <p:spPr>
          <a:xfrm>
            <a:off x="548640" y="4206240"/>
            <a:ext cx="8046720" cy="292608"/>
          </a:xfrm>
          <a:prstGeom prst="rect">
            <a:avLst/>
          </a:prstGeom>
          <a:noFill/>
        </p:spPr>
        <p:txBody>
          <a:bodyPr wrap="square" anchor="t" lIns="50800" rIns="50800" tIns="25400" bIns="25400">
            <a:spAutoFit/>
          </a:bodyPr>
          <a:lstStyle/>
          <a:p>
            <a:pPr algn="ctr"/>
            <a:r>
              <a:rPr sz="1300" b="1" i="1">
                <a:solidFill>
                  <a:srgbClr val="1E2761"/>
                </a:solidFill>
              </a:rPr>
              <a:t>The methodology is stable. The agent isn’t.</a:t>
            </a:r>
          </a:p>
        </p:txBody>
      </p:sp>
      <p:sp>
        <p:nvSpPr>
          <p:cNvPr id="92" name="TextBox 91"/>
          <p:cNvSpPr txBox="1"/>
          <p:nvPr/>
        </p:nvSpPr>
        <p:spPr>
          <a:xfrm>
            <a:off x="548640" y="4526280"/>
            <a:ext cx="8046720" cy="274320"/>
          </a:xfrm>
          <a:prstGeom prst="rect">
            <a:avLst/>
          </a:prstGeom>
          <a:noFill/>
        </p:spPr>
        <p:txBody>
          <a:bodyPr wrap="square" anchor="t" lIns="50800" rIns="50800" tIns="25400" bIns="25400">
            <a:spAutoFit/>
          </a:bodyPr>
          <a:lstStyle/>
          <a:p>
            <a:pPr algn="ctr"/>
            <a:r>
              <a:rPr sz="1000" b="0" i="1">
                <a:solidFill>
                  <a:srgbClr val="4A4A4A"/>
                </a:solidFill>
              </a:rPr>
              <a:t>Write the spec once. Every model that comes after compounds the investment.</a:t>
            </a:r>
          </a:p>
        </p:txBody>
      </p:sp>
      <p:sp>
        <p:nvSpPr>
          <p:cNvPr id="93" name="TextBox 92"/>
          <p:cNvSpPr txBox="1"/>
          <p:nvPr/>
        </p:nvSpPr>
        <p:spPr>
          <a:xfrm>
            <a:off x="548640" y="4800600"/>
            <a:ext cx="8046720" cy="228600"/>
          </a:xfrm>
          <a:prstGeom prst="rect">
            <a:avLst/>
          </a:prstGeom>
          <a:noFill/>
        </p:spPr>
        <p:txBody>
          <a:bodyPr wrap="square" anchor="t" lIns="50800" rIns="50800" tIns="25400" bIns="25400">
            <a:spAutoFit/>
          </a:bodyPr>
          <a:lstStyle/>
          <a:p>
            <a:pPr algn="ctr"/>
            <a:r>
              <a:rPr sz="800" b="0" i="1">
                <a:solidFill>
                  <a:srgbClr val="888888"/>
                </a:solidFill>
              </a:rPr>
              <a:t>* 4.7 estimate is from internal kubeauto reruns, not a full workshop run. Don’t treat as benchmark data.</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548640" y="274320"/>
            <a:ext cx="8046720" cy="292608"/>
          </a:xfrm>
          <a:prstGeom prst="rect">
            <a:avLst/>
          </a:prstGeom>
          <a:noFill/>
        </p:spPr>
        <p:txBody>
          <a:bodyPr wrap="square" anchor="t" lIns="50800" rIns="50800" tIns="25400" bIns="25400">
            <a:spAutoFit/>
          </a:bodyPr>
          <a:lstStyle/>
          <a:p>
            <a:pPr algn="l"/>
            <a:r>
              <a:rPr sz="1100" b="1" i="0">
                <a:solidFill>
                  <a:srgbClr val="FF6B35"/>
                </a:solidFill>
              </a:rPr>
              <a:t>APPENDIX H</a:t>
            </a:r>
          </a:p>
        </p:txBody>
      </p:sp>
      <p:sp>
        <p:nvSpPr>
          <p:cNvPr id="69" name="TextBox 68"/>
          <p:cNvSpPr txBox="1"/>
          <p:nvPr/>
        </p:nvSpPr>
        <p:spPr>
          <a:xfrm>
            <a:off x="548640" y="566928"/>
            <a:ext cx="8046720" cy="457200"/>
          </a:xfrm>
          <a:prstGeom prst="rect">
            <a:avLst/>
          </a:prstGeom>
          <a:noFill/>
        </p:spPr>
        <p:txBody>
          <a:bodyPr wrap="square" anchor="t" lIns="50800" rIns="50800" tIns="25400" bIns="25400">
            <a:spAutoFit/>
          </a:bodyPr>
          <a:lstStyle/>
          <a:p>
            <a:pPr algn="l"/>
            <a:r>
              <a:rPr sz="2200" b="1" i="0">
                <a:solidFill>
                  <a:srgbClr val="1E2761"/>
                </a:solidFill>
              </a:rPr>
              <a:t>What Kubeauto Taught Us — AI Is Asymmetric</a:t>
            </a:r>
          </a:p>
        </p:txBody>
      </p:sp>
      <p:sp>
        <p:nvSpPr>
          <p:cNvPr id="70" name="TextBox 69"/>
          <p:cNvSpPr txBox="1"/>
          <p:nvPr/>
        </p:nvSpPr>
        <p:spPr>
          <a:xfrm>
            <a:off x="548640" y="1143000"/>
            <a:ext cx="8046720" cy="292608"/>
          </a:xfrm>
          <a:prstGeom prst="rect">
            <a:avLst/>
          </a:prstGeom>
          <a:noFill/>
        </p:spPr>
        <p:txBody>
          <a:bodyPr wrap="square" anchor="t" lIns="50800" rIns="50800" tIns="25400" bIns="25400">
            <a:spAutoFit/>
          </a:bodyPr>
          <a:lstStyle/>
          <a:p>
            <a:pPr algn="l"/>
            <a:r>
              <a:rPr sz="1100" b="0" i="1">
                <a:solidFill>
                  <a:srgbClr val="4A4A4A"/>
                </a:solidFill>
              </a:rPr>
              <a:t>Observed across multiple live workshop builds, not direct from the kubeauto data. Build for the shape — not against it.</a:t>
            </a:r>
          </a:p>
        </p:txBody>
      </p:sp>
      <p:sp>
        <p:nvSpPr>
          <p:cNvPr id="71" name="Rectangle 70"/>
          <p:cNvSpPr/>
          <p:nvPr/>
        </p:nvSpPr>
        <p:spPr>
          <a:xfrm>
            <a:off x="548640" y="1645920"/>
            <a:ext cx="1463040" cy="84124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1645920"/>
            <a:ext cx="1463040" cy="320040"/>
          </a:xfrm>
          <a:prstGeom prst="rect">
            <a:avLst/>
          </a:prstGeom>
          <a:noFill/>
        </p:spPr>
        <p:txBody>
          <a:bodyPr wrap="square" anchor="ctr" lIns="50800" rIns="50800" tIns="25400" bIns="25400">
            <a:spAutoFit/>
          </a:bodyPr>
          <a:lstStyle/>
          <a:p>
            <a:pPr algn="ctr"/>
            <a:r>
              <a:rPr sz="1200" b="1" i="0">
                <a:solidFill>
                  <a:srgbClr val="1E2761"/>
                </a:solidFill>
              </a:rPr>
              <a:t>INSTALL</a:t>
            </a:r>
          </a:p>
        </p:txBody>
      </p:sp>
      <p:sp>
        <p:nvSpPr>
          <p:cNvPr id="73" name="TextBox 72"/>
          <p:cNvSpPr txBox="1"/>
          <p:nvPr/>
        </p:nvSpPr>
        <p:spPr>
          <a:xfrm>
            <a:off x="548640" y="1938528"/>
            <a:ext cx="1463040" cy="548640"/>
          </a:xfrm>
          <a:prstGeom prst="rect">
            <a:avLst/>
          </a:prstGeom>
          <a:noFill/>
        </p:spPr>
        <p:txBody>
          <a:bodyPr wrap="square" anchor="ctr" lIns="50800" rIns="50800" tIns="25400" bIns="25400">
            <a:spAutoFit/>
          </a:bodyPr>
          <a:lstStyle/>
          <a:p>
            <a:pPr algn="ctr"/>
            <a:r>
              <a:rPr sz="2200" b="1" i="0">
                <a:solidFill>
                  <a:srgbClr val="1E2761"/>
                </a:solidFill>
              </a:rPr>
              <a:t>7–9</a:t>
            </a:r>
          </a:p>
        </p:txBody>
      </p:sp>
      <p:sp>
        <p:nvSpPr>
          <p:cNvPr id="74" name="TextBox 73"/>
          <p:cNvSpPr txBox="1"/>
          <p:nvPr/>
        </p:nvSpPr>
        <p:spPr>
          <a:xfrm>
            <a:off x="2194560" y="1719072"/>
            <a:ext cx="6400800" cy="292608"/>
          </a:xfrm>
          <a:prstGeom prst="rect">
            <a:avLst/>
          </a:prstGeom>
          <a:noFill/>
        </p:spPr>
        <p:txBody>
          <a:bodyPr wrap="square" anchor="t" lIns="50800" rIns="50800" tIns="25400" bIns="25400">
            <a:spAutoFit/>
          </a:bodyPr>
          <a:lstStyle/>
          <a:p>
            <a:pPr algn="l"/>
            <a:r>
              <a:rPr sz="1300" b="1" i="0">
                <a:solidFill>
                  <a:srgbClr val="1E2761"/>
                </a:solidFill>
              </a:rPr>
              <a:t>AI is GREAT here</a:t>
            </a:r>
          </a:p>
        </p:txBody>
      </p:sp>
      <p:sp>
        <p:nvSpPr>
          <p:cNvPr id="75" name="TextBox 74"/>
          <p:cNvSpPr txBox="1"/>
          <p:nvPr/>
        </p:nvSpPr>
        <p:spPr>
          <a:xfrm>
            <a:off x="2194560" y="2029968"/>
            <a:ext cx="6400800" cy="457200"/>
          </a:xfrm>
          <a:prstGeom prst="rect">
            <a:avLst/>
          </a:prstGeom>
          <a:noFill/>
        </p:spPr>
        <p:txBody>
          <a:bodyPr wrap="square" anchor="t" lIns="50800" rIns="50800" tIns="25400" bIns="25400">
            <a:spAutoFit/>
          </a:bodyPr>
          <a:lstStyle/>
          <a:p>
            <a:pPr algn="l"/>
            <a:r>
              <a:rPr sz="900" b="0" i="0">
                <a:solidFill>
                  <a:srgbClr val="4A4A4A"/>
                </a:solidFill>
              </a:rPr>
              <a:t>Templating Helm values, naming resources, generating manifests. First-try success is common across nearly every component.</a:t>
            </a:r>
          </a:p>
        </p:txBody>
      </p:sp>
      <p:sp>
        <p:nvSpPr>
          <p:cNvPr id="76" name="Rectangle 75"/>
          <p:cNvSpPr/>
          <p:nvPr/>
        </p:nvSpPr>
        <p:spPr>
          <a:xfrm>
            <a:off x="548640" y="2523744"/>
            <a:ext cx="146304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8640" y="2523744"/>
            <a:ext cx="1463040" cy="320040"/>
          </a:xfrm>
          <a:prstGeom prst="rect">
            <a:avLst/>
          </a:prstGeom>
          <a:noFill/>
        </p:spPr>
        <p:txBody>
          <a:bodyPr wrap="square" anchor="ctr" lIns="50800" rIns="50800" tIns="25400" bIns="25400">
            <a:spAutoFit/>
          </a:bodyPr>
          <a:lstStyle/>
          <a:p>
            <a:pPr algn="ctr"/>
            <a:r>
              <a:rPr sz="1200" b="1" i="0">
                <a:solidFill>
                  <a:srgbClr val="FFFFFF"/>
                </a:solidFill>
              </a:rPr>
              <a:t>INTEGRATION</a:t>
            </a:r>
          </a:p>
        </p:txBody>
      </p:sp>
      <p:sp>
        <p:nvSpPr>
          <p:cNvPr id="78" name="TextBox 77"/>
          <p:cNvSpPr txBox="1"/>
          <p:nvPr/>
        </p:nvSpPr>
        <p:spPr>
          <a:xfrm>
            <a:off x="548640" y="2816352"/>
            <a:ext cx="1463040" cy="548640"/>
          </a:xfrm>
          <a:prstGeom prst="rect">
            <a:avLst/>
          </a:prstGeom>
          <a:noFill/>
        </p:spPr>
        <p:txBody>
          <a:bodyPr wrap="square" anchor="ctr" lIns="50800" rIns="50800" tIns="25400" bIns="25400">
            <a:spAutoFit/>
          </a:bodyPr>
          <a:lstStyle/>
          <a:p>
            <a:pPr algn="ctr"/>
            <a:r>
              <a:rPr sz="2200" b="1" i="0">
                <a:solidFill>
                  <a:srgbClr val="FFFFFF"/>
                </a:solidFill>
              </a:rPr>
              <a:t>5–7</a:t>
            </a:r>
          </a:p>
        </p:txBody>
      </p:sp>
      <p:sp>
        <p:nvSpPr>
          <p:cNvPr id="79" name="TextBox 78"/>
          <p:cNvSpPr txBox="1"/>
          <p:nvPr/>
        </p:nvSpPr>
        <p:spPr>
          <a:xfrm>
            <a:off x="2194560" y="2596896"/>
            <a:ext cx="6400800" cy="292608"/>
          </a:xfrm>
          <a:prstGeom prst="rect">
            <a:avLst/>
          </a:prstGeom>
          <a:noFill/>
        </p:spPr>
        <p:txBody>
          <a:bodyPr wrap="square" anchor="t" lIns="50800" rIns="50800" tIns="25400" bIns="25400">
            <a:spAutoFit/>
          </a:bodyPr>
          <a:lstStyle/>
          <a:p>
            <a:pPr algn="l"/>
            <a:r>
              <a:rPr sz="1300" b="1" i="0">
                <a:solidFill>
                  <a:srgbClr val="1E2761"/>
                </a:solidFill>
              </a:rPr>
              <a:t>AI is MIDDLING here</a:t>
            </a:r>
          </a:p>
        </p:txBody>
      </p:sp>
      <p:sp>
        <p:nvSpPr>
          <p:cNvPr id="80" name="TextBox 79"/>
          <p:cNvSpPr txBox="1"/>
          <p:nvPr/>
        </p:nvSpPr>
        <p:spPr>
          <a:xfrm>
            <a:off x="2194560" y="2907792"/>
            <a:ext cx="6400800" cy="457200"/>
          </a:xfrm>
          <a:prstGeom prst="rect">
            <a:avLst/>
          </a:prstGeom>
          <a:noFill/>
        </p:spPr>
        <p:txBody>
          <a:bodyPr wrap="square" anchor="t" lIns="50800" rIns="50800" tIns="25400" bIns="25400">
            <a:spAutoFit/>
          </a:bodyPr>
          <a:lstStyle/>
          <a:p>
            <a:pPr algn="l"/>
            <a:r>
              <a:rPr sz="900" b="0" i="0">
                <a:solidFill>
                  <a:srgbClr val="4A4A4A"/>
                </a:solidFill>
              </a:rPr>
              <a:t>Cross-component wiring, webhook scoping, sync wave coupling, scrape selectors. Components install, but don’t actually do their job in concert.</a:t>
            </a:r>
          </a:p>
        </p:txBody>
      </p:sp>
      <p:sp>
        <p:nvSpPr>
          <p:cNvPr id="81" name="Rectangle 80"/>
          <p:cNvSpPr/>
          <p:nvPr/>
        </p:nvSpPr>
        <p:spPr>
          <a:xfrm>
            <a:off x="548640" y="3401568"/>
            <a:ext cx="1463040" cy="841248"/>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48640" y="3401568"/>
            <a:ext cx="1463040" cy="320040"/>
          </a:xfrm>
          <a:prstGeom prst="rect">
            <a:avLst/>
          </a:prstGeom>
          <a:noFill/>
        </p:spPr>
        <p:txBody>
          <a:bodyPr wrap="square" anchor="ctr" lIns="50800" rIns="50800" tIns="25400" bIns="25400">
            <a:spAutoFit/>
          </a:bodyPr>
          <a:lstStyle/>
          <a:p>
            <a:pPr algn="ctr"/>
            <a:r>
              <a:rPr sz="1200" b="1" i="0">
                <a:solidFill>
                  <a:srgbClr val="FFFFFF"/>
                </a:solidFill>
              </a:rPr>
              <a:t>USABILITY</a:t>
            </a:r>
          </a:p>
        </p:txBody>
      </p:sp>
      <p:sp>
        <p:nvSpPr>
          <p:cNvPr id="83" name="TextBox 82"/>
          <p:cNvSpPr txBox="1"/>
          <p:nvPr/>
        </p:nvSpPr>
        <p:spPr>
          <a:xfrm>
            <a:off x="548640" y="3694176"/>
            <a:ext cx="1463040" cy="548640"/>
          </a:xfrm>
          <a:prstGeom prst="rect">
            <a:avLst/>
          </a:prstGeom>
          <a:noFill/>
        </p:spPr>
        <p:txBody>
          <a:bodyPr wrap="square" anchor="ctr" lIns="50800" rIns="50800" tIns="25400" bIns="25400">
            <a:spAutoFit/>
          </a:bodyPr>
          <a:lstStyle/>
          <a:p>
            <a:pPr algn="ctr"/>
            <a:r>
              <a:rPr sz="2200" b="1" i="0">
                <a:solidFill>
                  <a:srgbClr val="FFFFFF"/>
                </a:solidFill>
              </a:rPr>
              <a:t>4–6</a:t>
            </a:r>
          </a:p>
        </p:txBody>
      </p:sp>
      <p:sp>
        <p:nvSpPr>
          <p:cNvPr id="84" name="TextBox 83"/>
          <p:cNvSpPr txBox="1"/>
          <p:nvPr/>
        </p:nvSpPr>
        <p:spPr>
          <a:xfrm>
            <a:off x="2194560" y="3474720"/>
            <a:ext cx="6400800" cy="292608"/>
          </a:xfrm>
          <a:prstGeom prst="rect">
            <a:avLst/>
          </a:prstGeom>
          <a:noFill/>
        </p:spPr>
        <p:txBody>
          <a:bodyPr wrap="square" anchor="t" lIns="50800" rIns="50800" tIns="25400" bIns="25400">
            <a:spAutoFit/>
          </a:bodyPr>
          <a:lstStyle/>
          <a:p>
            <a:pPr algn="l"/>
            <a:r>
              <a:rPr sz="1300" b="1" i="0">
                <a:solidFill>
                  <a:srgbClr val="1E2761"/>
                </a:solidFill>
              </a:rPr>
              <a:t>AI is WEAK here</a:t>
            </a:r>
          </a:p>
        </p:txBody>
      </p:sp>
      <p:sp>
        <p:nvSpPr>
          <p:cNvPr id="85" name="TextBox 84"/>
          <p:cNvSpPr txBox="1"/>
          <p:nvPr/>
        </p:nvSpPr>
        <p:spPr>
          <a:xfrm>
            <a:off x="2194560" y="3785616"/>
            <a:ext cx="6400800" cy="457200"/>
          </a:xfrm>
          <a:prstGeom prst="rect">
            <a:avLst/>
          </a:prstGeom>
          <a:noFill/>
        </p:spPr>
        <p:txBody>
          <a:bodyPr wrap="square" anchor="t" lIns="50800" rIns="50800" tIns="25400" bIns="25400">
            <a:spAutoFit/>
          </a:bodyPr>
          <a:lstStyle/>
          <a:p>
            <a:pPr algn="l"/>
            <a:r>
              <a:rPr sz="900" b="0" i="0">
                <a:solidFill>
                  <a:srgbClr val="4A4A4A"/>
                </a:solidFill>
              </a:rPr>
              <a:t>Empty Backstage catalogs, stub templates, defaults that don’t fit your team. Working as installed, useless as delivered to a developer.</a:t>
            </a:r>
          </a:p>
        </p:txBody>
      </p:sp>
      <p:sp>
        <p:nvSpPr>
          <p:cNvPr id="86" name="TextBox 85"/>
          <p:cNvSpPr txBox="1"/>
          <p:nvPr/>
        </p:nvSpPr>
        <p:spPr>
          <a:xfrm>
            <a:off x="548640" y="4343400"/>
            <a:ext cx="8046720" cy="292608"/>
          </a:xfrm>
          <a:prstGeom prst="rect">
            <a:avLst/>
          </a:prstGeom>
          <a:noFill/>
        </p:spPr>
        <p:txBody>
          <a:bodyPr wrap="square" anchor="t" lIns="50800" rIns="50800" tIns="25400" bIns="25400">
            <a:spAutoFit/>
          </a:bodyPr>
          <a:lstStyle/>
          <a:p>
            <a:pPr algn="ctr"/>
            <a:r>
              <a:rPr sz="1100" b="1" i="1">
                <a:solidFill>
                  <a:srgbClr val="1E2761"/>
                </a:solidFill>
              </a:rPr>
              <a:t>The heuristic: skill files for Install. Pre-commit hooks for Integration. Human judgment for Usability.</a:t>
            </a:r>
          </a:p>
        </p:txBody>
      </p:sp>
      <p:sp>
        <p:nvSpPr>
          <p:cNvPr id="87" name="TextBox 86"/>
          <p:cNvSpPr txBox="1"/>
          <p:nvPr/>
        </p:nvSpPr>
        <p:spPr>
          <a:xfrm>
            <a:off x="548640" y="4663440"/>
            <a:ext cx="8046720" cy="292608"/>
          </a:xfrm>
          <a:prstGeom prst="rect">
            <a:avLst/>
          </a:prstGeom>
          <a:noFill/>
        </p:spPr>
        <p:txBody>
          <a:bodyPr wrap="square" anchor="t" lIns="50800" rIns="50800" tIns="25400" bIns="25400">
            <a:spAutoFit/>
          </a:bodyPr>
          <a:lstStyle/>
          <a:p>
            <a:pPr algn="ctr"/>
            <a:r>
              <a:rPr sz="1000" b="0" i="1">
                <a:solidFill>
                  <a:srgbClr val="4A4A4A"/>
                </a:solidFill>
              </a:rPr>
              <a:t>Match your investment to where AI is weakest. That’s where your team adds value AI can’t.</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548640" y="274320"/>
            <a:ext cx="8046720" cy="292608"/>
          </a:xfrm>
          <a:prstGeom prst="rect">
            <a:avLst/>
          </a:prstGeom>
          <a:noFill/>
        </p:spPr>
        <p:txBody>
          <a:bodyPr wrap="square" anchor="t" lIns="50800" rIns="50800" tIns="25400" bIns="25400">
            <a:spAutoFit/>
          </a:bodyPr>
          <a:lstStyle/>
          <a:p>
            <a:pPr algn="l"/>
            <a:r>
              <a:rPr sz="1100" b="1" i="0">
                <a:solidFill>
                  <a:srgbClr val="FF6B35"/>
                </a:solidFill>
              </a:rPr>
              <a:t>APPENDIX I</a:t>
            </a:r>
          </a:p>
        </p:txBody>
      </p:sp>
      <p:sp>
        <p:nvSpPr>
          <p:cNvPr id="69" name="TextBox 68"/>
          <p:cNvSpPr txBox="1"/>
          <p:nvPr/>
        </p:nvSpPr>
        <p:spPr>
          <a:xfrm>
            <a:off x="548640" y="566928"/>
            <a:ext cx="8046720" cy="457200"/>
          </a:xfrm>
          <a:prstGeom prst="rect">
            <a:avLst/>
          </a:prstGeom>
          <a:noFill/>
        </p:spPr>
        <p:txBody>
          <a:bodyPr wrap="square" anchor="t" lIns="50800" rIns="50800" tIns="25400" bIns="25400">
            <a:spAutoFit/>
          </a:bodyPr>
          <a:lstStyle/>
          <a:p>
            <a:pPr algn="l"/>
            <a:r>
              <a:rPr sz="2200" b="1" i="0">
                <a:solidFill>
                  <a:srgbClr val="1E2761"/>
                </a:solidFill>
              </a:rPr>
              <a:t>What Kubeauto Actually Showed</a:t>
            </a:r>
          </a:p>
        </p:txBody>
      </p:sp>
      <p:sp>
        <p:nvSpPr>
          <p:cNvPr id="70" name="TextBox 69"/>
          <p:cNvSpPr txBox="1"/>
          <p:nvPr/>
        </p:nvSpPr>
        <p:spPr>
          <a:xfrm>
            <a:off x="548640" y="1115568"/>
            <a:ext cx="8046720" cy="292608"/>
          </a:xfrm>
          <a:prstGeom prst="rect">
            <a:avLst/>
          </a:prstGeom>
          <a:noFill/>
        </p:spPr>
        <p:txBody>
          <a:bodyPr wrap="square" anchor="t" lIns="50800" rIns="50800" tIns="25400" bIns="25400">
            <a:spAutoFit/>
          </a:bodyPr>
          <a:lstStyle/>
          <a:p>
            <a:pPr algn="l"/>
            <a:r>
              <a:rPr sz="1000" b="0" i="1">
                <a:solidFill>
                  <a:srgbClr val="4A4A4A"/>
                </a:solidFill>
              </a:rPr>
              <a:t>Published data from the overnight build (Feb 2026, EKS 1.34, Opus 4.x). 27 components scored.</a:t>
            </a:r>
          </a:p>
        </p:txBody>
      </p:sp>
      <p:sp>
        <p:nvSpPr>
          <p:cNvPr id="71" name="Rectangle 70"/>
          <p:cNvSpPr/>
          <p:nvPr/>
        </p:nvSpPr>
        <p:spPr>
          <a:xfrm>
            <a:off x="548640" y="1554480"/>
            <a:ext cx="1920240" cy="9601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1600200"/>
            <a:ext cx="1920240" cy="365760"/>
          </a:xfrm>
          <a:prstGeom prst="rect">
            <a:avLst/>
          </a:prstGeom>
          <a:noFill/>
        </p:spPr>
        <p:txBody>
          <a:bodyPr wrap="square" anchor="ctr" lIns="50800" rIns="50800" tIns="25400" bIns="25400">
            <a:spAutoFit/>
          </a:bodyPr>
          <a:lstStyle/>
          <a:p>
            <a:pPr algn="ctr"/>
            <a:r>
              <a:rPr sz="2000" b="1" i="0">
                <a:solidFill>
                  <a:srgbClr val="FFFFFF"/>
                </a:solidFill>
              </a:rPr>
              <a:t>3h 10m</a:t>
            </a:r>
          </a:p>
        </p:txBody>
      </p:sp>
      <p:sp>
        <p:nvSpPr>
          <p:cNvPr id="73" name="TextBox 72"/>
          <p:cNvSpPr txBox="1"/>
          <p:nvPr/>
        </p:nvSpPr>
        <p:spPr>
          <a:xfrm>
            <a:off x="548640" y="1947672"/>
            <a:ext cx="1920240" cy="228600"/>
          </a:xfrm>
          <a:prstGeom prst="rect">
            <a:avLst/>
          </a:prstGeom>
          <a:noFill/>
        </p:spPr>
        <p:txBody>
          <a:bodyPr wrap="square" anchor="t" lIns="50800" rIns="50800" tIns="25400" bIns="25400">
            <a:spAutoFit/>
          </a:bodyPr>
          <a:lstStyle/>
          <a:p>
            <a:pPr algn="ctr"/>
            <a:r>
              <a:rPr sz="900" b="0" i="1">
                <a:solidFill>
                  <a:srgbClr val="FFFFFF"/>
                </a:solidFill>
              </a:rPr>
              <a:t>AI time</a:t>
            </a:r>
          </a:p>
        </p:txBody>
      </p:sp>
      <p:sp>
        <p:nvSpPr>
          <p:cNvPr id="74" name="TextBox 73"/>
          <p:cNvSpPr txBox="1"/>
          <p:nvPr/>
        </p:nvSpPr>
        <p:spPr>
          <a:xfrm>
            <a:off x="640080" y="2148840"/>
            <a:ext cx="1737360" cy="365760"/>
          </a:xfrm>
          <a:prstGeom prst="rect">
            <a:avLst/>
          </a:prstGeom>
          <a:noFill/>
        </p:spPr>
        <p:txBody>
          <a:bodyPr wrap="square" anchor="t" lIns="50800" rIns="50800" tIns="25400" bIns="25400">
            <a:spAutoFit/>
          </a:bodyPr>
          <a:lstStyle/>
          <a:p>
            <a:pPr algn="ctr"/>
            <a:r>
              <a:rPr sz="700" b="0" i="0">
                <a:solidFill>
                  <a:srgbClr val="FFFFFF"/>
                </a:solidFill>
              </a:rPr>
              <a:t>Total wall-clock across
27 components</a:t>
            </a:r>
          </a:p>
        </p:txBody>
      </p:sp>
      <p:sp>
        <p:nvSpPr>
          <p:cNvPr id="75" name="Rectangle 74"/>
          <p:cNvSpPr/>
          <p:nvPr/>
        </p:nvSpPr>
        <p:spPr>
          <a:xfrm>
            <a:off x="2514600" y="1554480"/>
            <a:ext cx="1920240" cy="9601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514600" y="1600200"/>
            <a:ext cx="1920240" cy="365760"/>
          </a:xfrm>
          <a:prstGeom prst="rect">
            <a:avLst/>
          </a:prstGeom>
          <a:noFill/>
        </p:spPr>
        <p:txBody>
          <a:bodyPr wrap="square" anchor="ctr" lIns="50800" rIns="50800" tIns="25400" bIns="25400">
            <a:spAutoFit/>
          </a:bodyPr>
          <a:lstStyle/>
          <a:p>
            <a:pPr algn="ctr"/>
            <a:r>
              <a:rPr sz="2000" b="1" i="0">
                <a:solidFill>
                  <a:srgbClr val="1E2761"/>
                </a:solidFill>
              </a:rPr>
              <a:t>12h 5m</a:t>
            </a:r>
          </a:p>
        </p:txBody>
      </p:sp>
      <p:sp>
        <p:nvSpPr>
          <p:cNvPr id="77" name="TextBox 76"/>
          <p:cNvSpPr txBox="1"/>
          <p:nvPr/>
        </p:nvSpPr>
        <p:spPr>
          <a:xfrm>
            <a:off x="2514600" y="1947672"/>
            <a:ext cx="1920240" cy="228600"/>
          </a:xfrm>
          <a:prstGeom prst="rect">
            <a:avLst/>
          </a:prstGeom>
          <a:noFill/>
        </p:spPr>
        <p:txBody>
          <a:bodyPr wrap="square" anchor="t" lIns="50800" rIns="50800" tIns="25400" bIns="25400">
            <a:spAutoFit/>
          </a:bodyPr>
          <a:lstStyle/>
          <a:p>
            <a:pPr algn="ctr"/>
            <a:r>
              <a:rPr sz="900" b="0" i="1">
                <a:solidFill>
                  <a:srgbClr val="1E2761"/>
                </a:solidFill>
              </a:rPr>
              <a:t>Manual est.</a:t>
            </a:r>
          </a:p>
        </p:txBody>
      </p:sp>
      <p:sp>
        <p:nvSpPr>
          <p:cNvPr id="78" name="TextBox 77"/>
          <p:cNvSpPr txBox="1"/>
          <p:nvPr/>
        </p:nvSpPr>
        <p:spPr>
          <a:xfrm>
            <a:off x="2606040" y="2148840"/>
            <a:ext cx="1737360" cy="365760"/>
          </a:xfrm>
          <a:prstGeom prst="rect">
            <a:avLst/>
          </a:prstGeom>
          <a:noFill/>
        </p:spPr>
        <p:txBody>
          <a:bodyPr wrap="square" anchor="t" lIns="50800" rIns="50800" tIns="25400" bIns="25400">
            <a:spAutoFit/>
          </a:bodyPr>
          <a:lstStyle/>
          <a:p>
            <a:pPr algn="ctr"/>
            <a:r>
              <a:rPr sz="700" b="0" i="0">
                <a:solidFill>
                  <a:srgbClr val="1E2761"/>
                </a:solidFill>
              </a:rPr>
              <a:t>What it would have taken
by hand</a:t>
            </a:r>
          </a:p>
        </p:txBody>
      </p:sp>
      <p:sp>
        <p:nvSpPr>
          <p:cNvPr id="79" name="Rectangle 78"/>
          <p:cNvSpPr/>
          <p:nvPr/>
        </p:nvSpPr>
        <p:spPr>
          <a:xfrm>
            <a:off x="4480560" y="1554480"/>
            <a:ext cx="1920240" cy="96012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480560" y="1600200"/>
            <a:ext cx="1920240" cy="365760"/>
          </a:xfrm>
          <a:prstGeom prst="rect">
            <a:avLst/>
          </a:prstGeom>
          <a:noFill/>
        </p:spPr>
        <p:txBody>
          <a:bodyPr wrap="square" anchor="ctr" lIns="50800" rIns="50800" tIns="25400" bIns="25400">
            <a:spAutoFit/>
          </a:bodyPr>
          <a:lstStyle/>
          <a:p>
            <a:pPr algn="ctr"/>
            <a:r>
              <a:rPr sz="2000" b="1" i="0">
                <a:solidFill>
                  <a:srgbClr val="FFFFFF"/>
                </a:solidFill>
              </a:rPr>
              <a:t>73.8 %</a:t>
            </a:r>
          </a:p>
        </p:txBody>
      </p:sp>
      <p:sp>
        <p:nvSpPr>
          <p:cNvPr id="81" name="TextBox 80"/>
          <p:cNvSpPr txBox="1"/>
          <p:nvPr/>
        </p:nvSpPr>
        <p:spPr>
          <a:xfrm>
            <a:off x="4480560" y="1947672"/>
            <a:ext cx="1920240" cy="228600"/>
          </a:xfrm>
          <a:prstGeom prst="rect">
            <a:avLst/>
          </a:prstGeom>
          <a:noFill/>
        </p:spPr>
        <p:txBody>
          <a:bodyPr wrap="square" anchor="t" lIns="50800" rIns="50800" tIns="25400" bIns="25400">
            <a:spAutoFit/>
          </a:bodyPr>
          <a:lstStyle/>
          <a:p>
            <a:pPr algn="ctr"/>
            <a:r>
              <a:rPr sz="900" b="0" i="1">
                <a:solidFill>
                  <a:srgbClr val="FFFFFF"/>
                </a:solidFill>
              </a:rPr>
              <a:t>Toil reduction</a:t>
            </a:r>
          </a:p>
        </p:txBody>
      </p:sp>
      <p:sp>
        <p:nvSpPr>
          <p:cNvPr id="82" name="TextBox 81"/>
          <p:cNvSpPr txBox="1"/>
          <p:nvPr/>
        </p:nvSpPr>
        <p:spPr>
          <a:xfrm>
            <a:off x="4572000" y="2148840"/>
            <a:ext cx="1737360" cy="365760"/>
          </a:xfrm>
          <a:prstGeom prst="rect">
            <a:avLst/>
          </a:prstGeom>
          <a:noFill/>
        </p:spPr>
        <p:txBody>
          <a:bodyPr wrap="square" anchor="t" lIns="50800" rIns="50800" tIns="25400" bIns="25400">
            <a:spAutoFit/>
          </a:bodyPr>
          <a:lstStyle/>
          <a:p>
            <a:pPr algn="ctr"/>
            <a:r>
              <a:rPr sz="700" b="0" i="0">
                <a:solidFill>
                  <a:srgbClr val="FFFFFF"/>
                </a:solidFill>
              </a:rPr>
              <a:t>725 → 190 min net
reduction</a:t>
            </a:r>
          </a:p>
        </p:txBody>
      </p:sp>
      <p:sp>
        <p:nvSpPr>
          <p:cNvPr id="83" name="Rectangle 82"/>
          <p:cNvSpPr/>
          <p:nvPr/>
        </p:nvSpPr>
        <p:spPr>
          <a:xfrm>
            <a:off x="6446520" y="1554480"/>
            <a:ext cx="1920240" cy="9601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46520" y="1600200"/>
            <a:ext cx="1920240" cy="365760"/>
          </a:xfrm>
          <a:prstGeom prst="rect">
            <a:avLst/>
          </a:prstGeom>
          <a:noFill/>
        </p:spPr>
        <p:txBody>
          <a:bodyPr wrap="square" anchor="ctr" lIns="50800" rIns="50800" tIns="25400" bIns="25400">
            <a:spAutoFit/>
          </a:bodyPr>
          <a:lstStyle/>
          <a:p>
            <a:pPr algn="ctr"/>
            <a:r>
              <a:rPr sz="2000" b="1" i="0">
                <a:solidFill>
                  <a:srgbClr val="FFFFFF"/>
                </a:solidFill>
              </a:rPr>
              <a:t>25</a:t>
            </a:r>
          </a:p>
        </p:txBody>
      </p:sp>
      <p:sp>
        <p:nvSpPr>
          <p:cNvPr id="85" name="TextBox 84"/>
          <p:cNvSpPr txBox="1"/>
          <p:nvPr/>
        </p:nvSpPr>
        <p:spPr>
          <a:xfrm>
            <a:off x="6446520" y="1947672"/>
            <a:ext cx="1920240" cy="228600"/>
          </a:xfrm>
          <a:prstGeom prst="rect">
            <a:avLst/>
          </a:prstGeom>
          <a:noFill/>
        </p:spPr>
        <p:txBody>
          <a:bodyPr wrap="square" anchor="t" lIns="50800" rIns="50800" tIns="25400" bIns="25400">
            <a:spAutoFit/>
          </a:bodyPr>
          <a:lstStyle/>
          <a:p>
            <a:pPr algn="ctr"/>
            <a:r>
              <a:rPr sz="900" b="0" i="1">
                <a:solidFill>
                  <a:srgbClr val="FFFFFF"/>
                </a:solidFill>
              </a:rPr>
              <a:t>Corrections</a:t>
            </a:r>
          </a:p>
        </p:txBody>
      </p:sp>
      <p:sp>
        <p:nvSpPr>
          <p:cNvPr id="86" name="TextBox 85"/>
          <p:cNvSpPr txBox="1"/>
          <p:nvPr/>
        </p:nvSpPr>
        <p:spPr>
          <a:xfrm>
            <a:off x="6537960" y="2148840"/>
            <a:ext cx="1737360" cy="365760"/>
          </a:xfrm>
          <a:prstGeom prst="rect">
            <a:avLst/>
          </a:prstGeom>
          <a:noFill/>
        </p:spPr>
        <p:txBody>
          <a:bodyPr wrap="square" anchor="t" lIns="50800" rIns="50800" tIns="25400" bIns="25400">
            <a:spAutoFit/>
          </a:bodyPr>
          <a:lstStyle/>
          <a:p>
            <a:pPr algn="ctr"/>
            <a:r>
              <a:rPr sz="700" b="0" i="0">
                <a:solidFill>
                  <a:srgbClr val="FFFFFF"/>
                </a:solidFill>
              </a:rPr>
              <a:t>Across 27 components
(≈11 zero-correction)</a:t>
            </a:r>
          </a:p>
        </p:txBody>
      </p:sp>
      <p:sp>
        <p:nvSpPr>
          <p:cNvPr id="87" name="TextBox 86"/>
          <p:cNvSpPr txBox="1"/>
          <p:nvPr/>
        </p:nvSpPr>
        <p:spPr>
          <a:xfrm>
            <a:off x="548640" y="2697480"/>
            <a:ext cx="4572000" cy="274320"/>
          </a:xfrm>
          <a:prstGeom prst="rect">
            <a:avLst/>
          </a:prstGeom>
          <a:noFill/>
        </p:spPr>
        <p:txBody>
          <a:bodyPr wrap="square" anchor="t" lIns="50800" rIns="50800" tIns="25400" bIns="25400">
            <a:spAutoFit/>
          </a:bodyPr>
          <a:lstStyle/>
          <a:p>
            <a:pPr algn="l"/>
            <a:r>
              <a:rPr sz="1000" b="1" i="0">
                <a:solidFill>
                  <a:srgbClr val="1E2761"/>
                </a:solidFill>
              </a:rPr>
              <a:t>Per-component scores (7 of 27 tracked on Install/Integration)</a:t>
            </a:r>
          </a:p>
        </p:txBody>
      </p:sp>
      <p:sp>
        <p:nvSpPr>
          <p:cNvPr id="88" name="Rectangle 87"/>
          <p:cNvSpPr/>
          <p:nvPr/>
        </p:nvSpPr>
        <p:spPr>
          <a:xfrm>
            <a:off x="548640" y="2990088"/>
            <a:ext cx="4572000" cy="2560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 y="2990088"/>
            <a:ext cx="2286000" cy="256032"/>
          </a:xfrm>
          <a:prstGeom prst="rect">
            <a:avLst/>
          </a:prstGeom>
          <a:noFill/>
        </p:spPr>
        <p:txBody>
          <a:bodyPr wrap="square" anchor="ctr" lIns="50800" rIns="50800" tIns="25400" bIns="25400">
            <a:spAutoFit/>
          </a:bodyPr>
          <a:lstStyle/>
          <a:p>
            <a:pPr algn="l"/>
            <a:r>
              <a:rPr sz="900" b="1" i="0">
                <a:solidFill>
                  <a:srgbClr val="FFFFFF"/>
                </a:solidFill>
              </a:rPr>
              <a:t>Component</a:t>
            </a:r>
          </a:p>
        </p:txBody>
      </p:sp>
      <p:sp>
        <p:nvSpPr>
          <p:cNvPr id="90" name="TextBox 89"/>
          <p:cNvSpPr txBox="1"/>
          <p:nvPr/>
        </p:nvSpPr>
        <p:spPr>
          <a:xfrm>
            <a:off x="2971800" y="2990088"/>
            <a:ext cx="548640" cy="256032"/>
          </a:xfrm>
          <a:prstGeom prst="rect">
            <a:avLst/>
          </a:prstGeom>
          <a:noFill/>
        </p:spPr>
        <p:txBody>
          <a:bodyPr wrap="square" anchor="ctr" lIns="50800" rIns="50800" tIns="25400" bIns="25400">
            <a:spAutoFit/>
          </a:bodyPr>
          <a:lstStyle/>
          <a:p>
            <a:pPr algn="ctr"/>
            <a:r>
              <a:rPr sz="900" b="1" i="0">
                <a:solidFill>
                  <a:srgbClr val="FFFFFF"/>
                </a:solidFill>
              </a:rPr>
              <a:t>Install</a:t>
            </a:r>
          </a:p>
        </p:txBody>
      </p:sp>
      <p:sp>
        <p:nvSpPr>
          <p:cNvPr id="91" name="TextBox 90"/>
          <p:cNvSpPr txBox="1"/>
          <p:nvPr/>
        </p:nvSpPr>
        <p:spPr>
          <a:xfrm>
            <a:off x="3566160" y="2990088"/>
            <a:ext cx="731520" cy="256032"/>
          </a:xfrm>
          <a:prstGeom prst="rect">
            <a:avLst/>
          </a:prstGeom>
          <a:noFill/>
        </p:spPr>
        <p:txBody>
          <a:bodyPr wrap="square" anchor="ctr" lIns="50800" rIns="50800" tIns="25400" bIns="25400">
            <a:spAutoFit/>
          </a:bodyPr>
          <a:lstStyle/>
          <a:p>
            <a:pPr algn="ctr"/>
            <a:r>
              <a:rPr sz="900" b="1" i="0">
                <a:solidFill>
                  <a:srgbClr val="FFFFFF"/>
                </a:solidFill>
              </a:rPr>
              <a:t>Integ.</a:t>
            </a:r>
          </a:p>
        </p:txBody>
      </p:sp>
      <p:sp>
        <p:nvSpPr>
          <p:cNvPr id="92" name="TextBox 91"/>
          <p:cNvSpPr txBox="1"/>
          <p:nvPr/>
        </p:nvSpPr>
        <p:spPr>
          <a:xfrm>
            <a:off x="4343400" y="2990088"/>
            <a:ext cx="731520" cy="256032"/>
          </a:xfrm>
          <a:prstGeom prst="rect">
            <a:avLst/>
          </a:prstGeom>
          <a:noFill/>
        </p:spPr>
        <p:txBody>
          <a:bodyPr wrap="square" anchor="ctr" lIns="50800" rIns="50800" tIns="25400" bIns="25400">
            <a:spAutoFit/>
          </a:bodyPr>
          <a:lstStyle/>
          <a:p>
            <a:pPr algn="ctr"/>
            <a:r>
              <a:rPr sz="900" b="1" i="0">
                <a:solidFill>
                  <a:srgbClr val="FFFFFF"/>
                </a:solidFill>
              </a:rPr>
              <a:t>Cycles</a:t>
            </a:r>
          </a:p>
        </p:txBody>
      </p:sp>
      <p:sp>
        <p:nvSpPr>
          <p:cNvPr id="93" name="Rectangle 92"/>
          <p:cNvSpPr/>
          <p:nvPr/>
        </p:nvSpPr>
        <p:spPr>
          <a:xfrm>
            <a:off x="548640" y="3246120"/>
            <a:ext cx="4572000" cy="20116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40080" y="3246120"/>
            <a:ext cx="2286000" cy="201168"/>
          </a:xfrm>
          <a:prstGeom prst="rect">
            <a:avLst/>
          </a:prstGeom>
          <a:noFill/>
        </p:spPr>
        <p:txBody>
          <a:bodyPr wrap="square" anchor="ctr" lIns="50800" rIns="50800" tIns="25400" bIns="25400">
            <a:spAutoFit/>
          </a:bodyPr>
          <a:lstStyle/>
          <a:p>
            <a:pPr algn="l"/>
            <a:r>
              <a:rPr sz="900" b="0" i="0">
                <a:solidFill>
                  <a:srgbClr val="1E2761"/>
                </a:solidFill>
              </a:rPr>
              <a:t>ArgoCD install</a:t>
            </a:r>
          </a:p>
        </p:txBody>
      </p:sp>
      <p:sp>
        <p:nvSpPr>
          <p:cNvPr id="95" name="TextBox 94"/>
          <p:cNvSpPr txBox="1"/>
          <p:nvPr/>
        </p:nvSpPr>
        <p:spPr>
          <a:xfrm>
            <a:off x="2971800" y="3246120"/>
            <a:ext cx="548640" cy="201168"/>
          </a:xfrm>
          <a:prstGeom prst="rect">
            <a:avLst/>
          </a:prstGeom>
          <a:noFill/>
        </p:spPr>
        <p:txBody>
          <a:bodyPr wrap="square" anchor="ctr" lIns="50800" rIns="50800" tIns="25400" bIns="25400">
            <a:spAutoFit/>
          </a:bodyPr>
          <a:lstStyle/>
          <a:p>
            <a:pPr algn="ctr"/>
            <a:r>
              <a:rPr sz="900" b="1" i="0">
                <a:solidFill>
                  <a:srgbClr val="1E2761"/>
                </a:solidFill>
              </a:rPr>
              <a:t>8</a:t>
            </a:r>
          </a:p>
        </p:txBody>
      </p:sp>
      <p:sp>
        <p:nvSpPr>
          <p:cNvPr id="96" name="TextBox 95"/>
          <p:cNvSpPr txBox="1"/>
          <p:nvPr/>
        </p:nvSpPr>
        <p:spPr>
          <a:xfrm>
            <a:off x="3566160" y="3246120"/>
            <a:ext cx="73152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97" name="TextBox 96"/>
          <p:cNvSpPr txBox="1"/>
          <p:nvPr/>
        </p:nvSpPr>
        <p:spPr>
          <a:xfrm>
            <a:off x="4343400" y="3246120"/>
            <a:ext cx="731520" cy="201168"/>
          </a:xfrm>
          <a:prstGeom prst="rect">
            <a:avLst/>
          </a:prstGeom>
          <a:noFill/>
        </p:spPr>
        <p:txBody>
          <a:bodyPr wrap="square" anchor="ctr" lIns="50800" rIns="50800" tIns="25400" bIns="25400">
            <a:spAutoFit/>
          </a:bodyPr>
          <a:lstStyle/>
          <a:p>
            <a:pPr algn="ctr"/>
            <a:r>
              <a:rPr sz="900" b="1" i="0">
                <a:solidFill>
                  <a:srgbClr val="1E2761"/>
                </a:solidFill>
              </a:rPr>
              <a:t>0</a:t>
            </a:r>
          </a:p>
        </p:txBody>
      </p:sp>
      <p:sp>
        <p:nvSpPr>
          <p:cNvPr id="98" name="Rectangle 97"/>
          <p:cNvSpPr/>
          <p:nvPr/>
        </p:nvSpPr>
        <p:spPr>
          <a:xfrm>
            <a:off x="548640" y="3447288"/>
            <a:ext cx="457200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0080" y="3447288"/>
            <a:ext cx="2286000" cy="201168"/>
          </a:xfrm>
          <a:prstGeom prst="rect">
            <a:avLst/>
          </a:prstGeom>
          <a:noFill/>
        </p:spPr>
        <p:txBody>
          <a:bodyPr wrap="square" anchor="ctr" lIns="50800" rIns="50800" tIns="25400" bIns="25400">
            <a:spAutoFit/>
          </a:bodyPr>
          <a:lstStyle/>
          <a:p>
            <a:pPr algn="l"/>
            <a:r>
              <a:rPr sz="900" b="0" i="0">
                <a:solidFill>
                  <a:srgbClr val="1E2761"/>
                </a:solidFill>
              </a:rPr>
              <a:t>App-of-apps</a:t>
            </a:r>
          </a:p>
        </p:txBody>
      </p:sp>
      <p:sp>
        <p:nvSpPr>
          <p:cNvPr id="100" name="TextBox 99"/>
          <p:cNvSpPr txBox="1"/>
          <p:nvPr/>
        </p:nvSpPr>
        <p:spPr>
          <a:xfrm>
            <a:off x="2971800" y="3447288"/>
            <a:ext cx="54864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01" name="TextBox 100"/>
          <p:cNvSpPr txBox="1"/>
          <p:nvPr/>
        </p:nvSpPr>
        <p:spPr>
          <a:xfrm>
            <a:off x="3566160" y="3447288"/>
            <a:ext cx="73152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02" name="TextBox 101"/>
          <p:cNvSpPr txBox="1"/>
          <p:nvPr/>
        </p:nvSpPr>
        <p:spPr>
          <a:xfrm>
            <a:off x="4343400" y="3447288"/>
            <a:ext cx="731520" cy="201168"/>
          </a:xfrm>
          <a:prstGeom prst="rect">
            <a:avLst/>
          </a:prstGeom>
          <a:noFill/>
        </p:spPr>
        <p:txBody>
          <a:bodyPr wrap="square" anchor="ctr" lIns="50800" rIns="50800" tIns="25400" bIns="25400">
            <a:spAutoFit/>
          </a:bodyPr>
          <a:lstStyle/>
          <a:p>
            <a:pPr algn="ctr"/>
            <a:r>
              <a:rPr sz="900" b="1" i="0">
                <a:solidFill>
                  <a:srgbClr val="1E2761"/>
                </a:solidFill>
              </a:rPr>
              <a:t>1</a:t>
            </a:r>
          </a:p>
        </p:txBody>
      </p:sp>
      <p:sp>
        <p:nvSpPr>
          <p:cNvPr id="103" name="Rectangle 102"/>
          <p:cNvSpPr/>
          <p:nvPr/>
        </p:nvSpPr>
        <p:spPr>
          <a:xfrm>
            <a:off x="548640" y="3648456"/>
            <a:ext cx="4572000" cy="20116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40080" y="3648456"/>
            <a:ext cx="2286000" cy="201168"/>
          </a:xfrm>
          <a:prstGeom prst="rect">
            <a:avLst/>
          </a:prstGeom>
          <a:noFill/>
        </p:spPr>
        <p:txBody>
          <a:bodyPr wrap="square" anchor="ctr" lIns="50800" rIns="50800" tIns="25400" bIns="25400">
            <a:spAutoFit/>
          </a:bodyPr>
          <a:lstStyle/>
          <a:p>
            <a:pPr algn="l"/>
            <a:r>
              <a:rPr sz="900" b="0" i="0">
                <a:solidFill>
                  <a:srgbClr val="1E2761"/>
                </a:solidFill>
              </a:rPr>
              <a:t>Kyverno install</a:t>
            </a:r>
          </a:p>
        </p:txBody>
      </p:sp>
      <p:sp>
        <p:nvSpPr>
          <p:cNvPr id="105" name="TextBox 104"/>
          <p:cNvSpPr txBox="1"/>
          <p:nvPr/>
        </p:nvSpPr>
        <p:spPr>
          <a:xfrm>
            <a:off x="2971800" y="3648456"/>
            <a:ext cx="548640" cy="201168"/>
          </a:xfrm>
          <a:prstGeom prst="rect">
            <a:avLst/>
          </a:prstGeom>
          <a:noFill/>
        </p:spPr>
        <p:txBody>
          <a:bodyPr wrap="square" anchor="ctr" lIns="50800" rIns="50800" tIns="25400" bIns="25400">
            <a:spAutoFit/>
          </a:bodyPr>
          <a:lstStyle/>
          <a:p>
            <a:pPr algn="ctr"/>
            <a:r>
              <a:rPr sz="900" b="1" i="0">
                <a:solidFill>
                  <a:srgbClr val="1E2761"/>
                </a:solidFill>
              </a:rPr>
              <a:t>7</a:t>
            </a:r>
          </a:p>
        </p:txBody>
      </p:sp>
      <p:sp>
        <p:nvSpPr>
          <p:cNvPr id="106" name="TextBox 105"/>
          <p:cNvSpPr txBox="1"/>
          <p:nvPr/>
        </p:nvSpPr>
        <p:spPr>
          <a:xfrm>
            <a:off x="3566160" y="3648456"/>
            <a:ext cx="731520" cy="201168"/>
          </a:xfrm>
          <a:prstGeom prst="rect">
            <a:avLst/>
          </a:prstGeom>
          <a:noFill/>
        </p:spPr>
        <p:txBody>
          <a:bodyPr wrap="square" anchor="ctr" lIns="50800" rIns="50800" tIns="25400" bIns="25400">
            <a:spAutoFit/>
          </a:bodyPr>
          <a:lstStyle/>
          <a:p>
            <a:pPr algn="ctr"/>
            <a:r>
              <a:rPr sz="900" b="1" i="0">
                <a:solidFill>
                  <a:srgbClr val="1E2761"/>
                </a:solidFill>
              </a:rPr>
              <a:t>—</a:t>
            </a:r>
          </a:p>
        </p:txBody>
      </p:sp>
      <p:sp>
        <p:nvSpPr>
          <p:cNvPr id="107" name="TextBox 106"/>
          <p:cNvSpPr txBox="1"/>
          <p:nvPr/>
        </p:nvSpPr>
        <p:spPr>
          <a:xfrm>
            <a:off x="4343400" y="3648456"/>
            <a:ext cx="731520" cy="201168"/>
          </a:xfrm>
          <a:prstGeom prst="rect">
            <a:avLst/>
          </a:prstGeom>
          <a:noFill/>
        </p:spPr>
        <p:txBody>
          <a:bodyPr wrap="square" anchor="ctr" lIns="50800" rIns="50800" tIns="25400" bIns="25400">
            <a:spAutoFit/>
          </a:bodyPr>
          <a:lstStyle/>
          <a:p>
            <a:pPr algn="ctr"/>
            <a:r>
              <a:rPr sz="900" b="1" i="0">
                <a:solidFill>
                  <a:srgbClr val="FF6B35"/>
                </a:solidFill>
              </a:rPr>
              <a:t>3</a:t>
            </a:r>
          </a:p>
        </p:txBody>
      </p:sp>
      <p:sp>
        <p:nvSpPr>
          <p:cNvPr id="108" name="Rectangle 107"/>
          <p:cNvSpPr/>
          <p:nvPr/>
        </p:nvSpPr>
        <p:spPr>
          <a:xfrm>
            <a:off x="548640" y="3849624"/>
            <a:ext cx="457200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0080" y="3849624"/>
            <a:ext cx="2286000" cy="201168"/>
          </a:xfrm>
          <a:prstGeom prst="rect">
            <a:avLst/>
          </a:prstGeom>
          <a:noFill/>
        </p:spPr>
        <p:txBody>
          <a:bodyPr wrap="square" anchor="ctr" lIns="50800" rIns="50800" tIns="25400" bIns="25400">
            <a:spAutoFit/>
          </a:bodyPr>
          <a:lstStyle/>
          <a:p>
            <a:pPr algn="l"/>
            <a:r>
              <a:rPr sz="900" b="0" i="0">
                <a:solidFill>
                  <a:srgbClr val="1E2761"/>
                </a:solidFill>
              </a:rPr>
              <a:t>Kyverno policies</a:t>
            </a:r>
          </a:p>
        </p:txBody>
      </p:sp>
      <p:sp>
        <p:nvSpPr>
          <p:cNvPr id="110" name="TextBox 109"/>
          <p:cNvSpPr txBox="1"/>
          <p:nvPr/>
        </p:nvSpPr>
        <p:spPr>
          <a:xfrm>
            <a:off x="2971800" y="3849624"/>
            <a:ext cx="54864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11" name="TextBox 110"/>
          <p:cNvSpPr txBox="1"/>
          <p:nvPr/>
        </p:nvSpPr>
        <p:spPr>
          <a:xfrm>
            <a:off x="3566160" y="3849624"/>
            <a:ext cx="73152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12" name="TextBox 111"/>
          <p:cNvSpPr txBox="1"/>
          <p:nvPr/>
        </p:nvSpPr>
        <p:spPr>
          <a:xfrm>
            <a:off x="4343400" y="3849624"/>
            <a:ext cx="731520" cy="201168"/>
          </a:xfrm>
          <a:prstGeom prst="rect">
            <a:avLst/>
          </a:prstGeom>
          <a:noFill/>
        </p:spPr>
        <p:txBody>
          <a:bodyPr wrap="square" anchor="ctr" lIns="50800" rIns="50800" tIns="25400" bIns="25400">
            <a:spAutoFit/>
          </a:bodyPr>
          <a:lstStyle/>
          <a:p>
            <a:pPr algn="ctr"/>
            <a:r>
              <a:rPr sz="900" b="1" i="0">
                <a:solidFill>
                  <a:srgbClr val="1E2761"/>
                </a:solidFill>
              </a:rPr>
              <a:t>1</a:t>
            </a:r>
          </a:p>
        </p:txBody>
      </p:sp>
      <p:sp>
        <p:nvSpPr>
          <p:cNvPr id="113" name="Rectangle 112"/>
          <p:cNvSpPr/>
          <p:nvPr/>
        </p:nvSpPr>
        <p:spPr>
          <a:xfrm>
            <a:off x="548640" y="4050792"/>
            <a:ext cx="4572000" cy="20116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40080" y="4050792"/>
            <a:ext cx="2286000" cy="201168"/>
          </a:xfrm>
          <a:prstGeom prst="rect">
            <a:avLst/>
          </a:prstGeom>
          <a:noFill/>
        </p:spPr>
        <p:txBody>
          <a:bodyPr wrap="square" anchor="ctr" lIns="50800" rIns="50800" tIns="25400" bIns="25400">
            <a:spAutoFit/>
          </a:bodyPr>
          <a:lstStyle/>
          <a:p>
            <a:pPr algn="l"/>
            <a:r>
              <a:rPr sz="900" b="0" i="0">
                <a:solidFill>
                  <a:srgbClr val="1E2761"/>
                </a:solidFill>
              </a:rPr>
              <a:t>kube-prometheus-stack</a:t>
            </a:r>
          </a:p>
        </p:txBody>
      </p:sp>
      <p:sp>
        <p:nvSpPr>
          <p:cNvPr id="115" name="TextBox 114"/>
          <p:cNvSpPr txBox="1"/>
          <p:nvPr/>
        </p:nvSpPr>
        <p:spPr>
          <a:xfrm>
            <a:off x="2971800" y="4050792"/>
            <a:ext cx="548640" cy="201168"/>
          </a:xfrm>
          <a:prstGeom prst="rect">
            <a:avLst/>
          </a:prstGeom>
          <a:noFill/>
        </p:spPr>
        <p:txBody>
          <a:bodyPr wrap="square" anchor="ctr" lIns="50800" rIns="50800" tIns="25400" bIns="25400">
            <a:spAutoFit/>
          </a:bodyPr>
          <a:lstStyle/>
          <a:p>
            <a:pPr algn="ctr"/>
            <a:r>
              <a:rPr sz="900" b="1" i="0">
                <a:solidFill>
                  <a:srgbClr val="1E2761"/>
                </a:solidFill>
              </a:rPr>
              <a:t>8</a:t>
            </a:r>
          </a:p>
        </p:txBody>
      </p:sp>
      <p:sp>
        <p:nvSpPr>
          <p:cNvPr id="116" name="TextBox 115"/>
          <p:cNvSpPr txBox="1"/>
          <p:nvPr/>
        </p:nvSpPr>
        <p:spPr>
          <a:xfrm>
            <a:off x="3566160" y="4050792"/>
            <a:ext cx="731520" cy="201168"/>
          </a:xfrm>
          <a:prstGeom prst="rect">
            <a:avLst/>
          </a:prstGeom>
          <a:noFill/>
        </p:spPr>
        <p:txBody>
          <a:bodyPr wrap="square" anchor="ctr" lIns="50800" rIns="50800" tIns="25400" bIns="25400">
            <a:spAutoFit/>
          </a:bodyPr>
          <a:lstStyle/>
          <a:p>
            <a:pPr algn="ctr"/>
            <a:r>
              <a:rPr sz="900" b="1" i="0">
                <a:solidFill>
                  <a:srgbClr val="1E2761"/>
                </a:solidFill>
              </a:rPr>
              <a:t>8</a:t>
            </a:r>
          </a:p>
        </p:txBody>
      </p:sp>
      <p:sp>
        <p:nvSpPr>
          <p:cNvPr id="117" name="TextBox 116"/>
          <p:cNvSpPr txBox="1"/>
          <p:nvPr/>
        </p:nvSpPr>
        <p:spPr>
          <a:xfrm>
            <a:off x="4343400" y="4050792"/>
            <a:ext cx="731520" cy="201168"/>
          </a:xfrm>
          <a:prstGeom prst="rect">
            <a:avLst/>
          </a:prstGeom>
          <a:noFill/>
        </p:spPr>
        <p:txBody>
          <a:bodyPr wrap="square" anchor="ctr" lIns="50800" rIns="50800" tIns="25400" bIns="25400">
            <a:spAutoFit/>
          </a:bodyPr>
          <a:lstStyle/>
          <a:p>
            <a:pPr algn="ctr"/>
            <a:r>
              <a:rPr sz="900" b="1" i="0">
                <a:solidFill>
                  <a:srgbClr val="1E2761"/>
                </a:solidFill>
              </a:rPr>
              <a:t>1</a:t>
            </a:r>
          </a:p>
        </p:txBody>
      </p:sp>
      <p:sp>
        <p:nvSpPr>
          <p:cNvPr id="118" name="Rectangle 117"/>
          <p:cNvSpPr/>
          <p:nvPr/>
        </p:nvSpPr>
        <p:spPr>
          <a:xfrm>
            <a:off x="548640" y="4251960"/>
            <a:ext cx="457200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40080" y="4251960"/>
            <a:ext cx="2286000" cy="201168"/>
          </a:xfrm>
          <a:prstGeom prst="rect">
            <a:avLst/>
          </a:prstGeom>
          <a:noFill/>
        </p:spPr>
        <p:txBody>
          <a:bodyPr wrap="square" anchor="ctr" lIns="50800" rIns="50800" tIns="25400" bIns="25400">
            <a:spAutoFit/>
          </a:bodyPr>
          <a:lstStyle/>
          <a:p>
            <a:pPr algn="l"/>
            <a:r>
              <a:rPr sz="900" b="0" i="0">
                <a:solidFill>
                  <a:srgbClr val="1E2761"/>
                </a:solidFill>
              </a:rPr>
              <a:t>Grafana dashboards</a:t>
            </a:r>
          </a:p>
        </p:txBody>
      </p:sp>
      <p:sp>
        <p:nvSpPr>
          <p:cNvPr id="120" name="TextBox 119"/>
          <p:cNvSpPr txBox="1"/>
          <p:nvPr/>
        </p:nvSpPr>
        <p:spPr>
          <a:xfrm>
            <a:off x="2971800" y="4251960"/>
            <a:ext cx="54864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21" name="TextBox 120"/>
          <p:cNvSpPr txBox="1"/>
          <p:nvPr/>
        </p:nvSpPr>
        <p:spPr>
          <a:xfrm>
            <a:off x="3566160" y="4251960"/>
            <a:ext cx="731520" cy="201168"/>
          </a:xfrm>
          <a:prstGeom prst="rect">
            <a:avLst/>
          </a:prstGeom>
          <a:noFill/>
        </p:spPr>
        <p:txBody>
          <a:bodyPr wrap="square" anchor="ctr" lIns="50800" rIns="50800" tIns="25400" bIns="25400">
            <a:spAutoFit/>
          </a:bodyPr>
          <a:lstStyle/>
          <a:p>
            <a:pPr algn="ctr"/>
            <a:r>
              <a:rPr sz="900" b="1" i="0">
                <a:solidFill>
                  <a:srgbClr val="1E2761"/>
                </a:solidFill>
              </a:rPr>
              <a:t>9</a:t>
            </a:r>
          </a:p>
        </p:txBody>
      </p:sp>
      <p:sp>
        <p:nvSpPr>
          <p:cNvPr id="122" name="TextBox 121"/>
          <p:cNvSpPr txBox="1"/>
          <p:nvPr/>
        </p:nvSpPr>
        <p:spPr>
          <a:xfrm>
            <a:off x="4343400" y="4251960"/>
            <a:ext cx="731520" cy="201168"/>
          </a:xfrm>
          <a:prstGeom prst="rect">
            <a:avLst/>
          </a:prstGeom>
          <a:noFill/>
        </p:spPr>
        <p:txBody>
          <a:bodyPr wrap="square" anchor="ctr" lIns="50800" rIns="50800" tIns="25400" bIns="25400">
            <a:spAutoFit/>
          </a:bodyPr>
          <a:lstStyle/>
          <a:p>
            <a:pPr algn="ctr"/>
            <a:r>
              <a:rPr sz="900" b="1" i="0">
                <a:solidFill>
                  <a:srgbClr val="1E2761"/>
                </a:solidFill>
              </a:rPr>
              <a:t>0</a:t>
            </a:r>
          </a:p>
        </p:txBody>
      </p:sp>
      <p:sp>
        <p:nvSpPr>
          <p:cNvPr id="123" name="Rectangle 122"/>
          <p:cNvSpPr/>
          <p:nvPr/>
        </p:nvSpPr>
        <p:spPr>
          <a:xfrm>
            <a:off x="548640" y="4453128"/>
            <a:ext cx="4572000" cy="20116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0080" y="4453128"/>
            <a:ext cx="2286000" cy="201168"/>
          </a:xfrm>
          <a:prstGeom prst="rect">
            <a:avLst/>
          </a:prstGeom>
          <a:noFill/>
        </p:spPr>
        <p:txBody>
          <a:bodyPr wrap="square" anchor="ctr" lIns="50800" rIns="50800" tIns="25400" bIns="25400">
            <a:spAutoFit/>
          </a:bodyPr>
          <a:lstStyle/>
          <a:p>
            <a:pPr algn="l"/>
            <a:r>
              <a:rPr sz="900" b="0" i="0">
                <a:solidFill>
                  <a:srgbClr val="1E2761"/>
                </a:solidFill>
              </a:rPr>
              <a:t>Backstage</a:t>
            </a:r>
          </a:p>
        </p:txBody>
      </p:sp>
      <p:sp>
        <p:nvSpPr>
          <p:cNvPr id="125" name="TextBox 124"/>
          <p:cNvSpPr txBox="1"/>
          <p:nvPr/>
        </p:nvSpPr>
        <p:spPr>
          <a:xfrm>
            <a:off x="2971800" y="4453128"/>
            <a:ext cx="548640" cy="201168"/>
          </a:xfrm>
          <a:prstGeom prst="rect">
            <a:avLst/>
          </a:prstGeom>
          <a:noFill/>
        </p:spPr>
        <p:txBody>
          <a:bodyPr wrap="square" anchor="ctr" lIns="50800" rIns="50800" tIns="25400" bIns="25400">
            <a:spAutoFit/>
          </a:bodyPr>
          <a:lstStyle/>
          <a:p>
            <a:pPr algn="ctr"/>
            <a:r>
              <a:rPr sz="900" b="1" i="0">
                <a:solidFill>
                  <a:srgbClr val="1E2761"/>
                </a:solidFill>
              </a:rPr>
              <a:t>7</a:t>
            </a:r>
          </a:p>
        </p:txBody>
      </p:sp>
      <p:sp>
        <p:nvSpPr>
          <p:cNvPr id="126" name="TextBox 125"/>
          <p:cNvSpPr txBox="1"/>
          <p:nvPr/>
        </p:nvSpPr>
        <p:spPr>
          <a:xfrm>
            <a:off x="3566160" y="4453128"/>
            <a:ext cx="731520" cy="201168"/>
          </a:xfrm>
          <a:prstGeom prst="rect">
            <a:avLst/>
          </a:prstGeom>
          <a:noFill/>
        </p:spPr>
        <p:txBody>
          <a:bodyPr wrap="square" anchor="ctr" lIns="50800" rIns="50800" tIns="25400" bIns="25400">
            <a:spAutoFit/>
          </a:bodyPr>
          <a:lstStyle/>
          <a:p>
            <a:pPr algn="ctr"/>
            <a:r>
              <a:rPr sz="900" b="1" i="0">
                <a:solidFill>
                  <a:srgbClr val="1E2761"/>
                </a:solidFill>
              </a:rPr>
              <a:t>7</a:t>
            </a:r>
          </a:p>
        </p:txBody>
      </p:sp>
      <p:sp>
        <p:nvSpPr>
          <p:cNvPr id="127" name="TextBox 126"/>
          <p:cNvSpPr txBox="1"/>
          <p:nvPr/>
        </p:nvSpPr>
        <p:spPr>
          <a:xfrm>
            <a:off x="4343400" y="4453128"/>
            <a:ext cx="731520" cy="201168"/>
          </a:xfrm>
          <a:prstGeom prst="rect">
            <a:avLst/>
          </a:prstGeom>
          <a:noFill/>
        </p:spPr>
        <p:txBody>
          <a:bodyPr wrap="square" anchor="ctr" lIns="50800" rIns="50800" tIns="25400" bIns="25400">
            <a:spAutoFit/>
          </a:bodyPr>
          <a:lstStyle/>
          <a:p>
            <a:pPr algn="ctr"/>
            <a:r>
              <a:rPr sz="900" b="1" i="0">
                <a:solidFill>
                  <a:srgbClr val="1E2761"/>
                </a:solidFill>
              </a:rPr>
              <a:t>1</a:t>
            </a:r>
          </a:p>
        </p:txBody>
      </p:sp>
      <p:sp>
        <p:nvSpPr>
          <p:cNvPr id="128" name="TextBox 127"/>
          <p:cNvSpPr txBox="1"/>
          <p:nvPr/>
        </p:nvSpPr>
        <p:spPr>
          <a:xfrm>
            <a:off x="548640" y="4700016"/>
            <a:ext cx="4572000" cy="228600"/>
          </a:xfrm>
          <a:prstGeom prst="rect">
            <a:avLst/>
          </a:prstGeom>
          <a:noFill/>
        </p:spPr>
        <p:txBody>
          <a:bodyPr wrap="square" anchor="t" lIns="50800" rIns="50800" tIns="25400" bIns="25400">
            <a:spAutoFit/>
          </a:bodyPr>
          <a:lstStyle/>
          <a:p>
            <a:pPr algn="l"/>
            <a:r>
              <a:rPr sz="800" b="0" i="1">
                <a:solidFill>
                  <a:srgbClr val="4A4A4A"/>
                </a:solidFill>
              </a:rPr>
              <a:t>Avg Install ≈8.1  •  Avg Integration ≈8.5  •  Usability not scored</a:t>
            </a:r>
          </a:p>
        </p:txBody>
      </p:sp>
      <p:sp>
        <p:nvSpPr>
          <p:cNvPr id="139" name="TextBox 138"/>
          <p:cNvSpPr txBox="1"/>
          <p:nvPr/>
        </p:nvSpPr>
        <p:spPr>
          <a:xfrm>
            <a:off x="548640" y="4892040"/>
            <a:ext cx="8046720" cy="228600"/>
          </a:xfrm>
          <a:prstGeom prst="rect">
            <a:avLst/>
          </a:prstGeom>
          <a:noFill/>
        </p:spPr>
        <p:txBody>
          <a:bodyPr wrap="square" lIns="50800" rIns="50800" tIns="0" bIns="0">
            <a:spAutoFit/>
          </a:bodyPr>
          <a:lstStyle/>
          <a:p>
            <a:pPr algn="ctr"/>
            <a:r>
              <a:rPr sz="800" i="1">
                <a:solidFill>
                  <a:srgbClr val="888888"/>
                </a:solidFill>
              </a:rPr>
              <a:t>Source: github.com/peopleforrester/kubeauto-ai-day  —  scorecard/raw-scores.json + spec/SCORECARD.md</a:t>
            </a:r>
          </a:p>
        </p:txBody>
      </p:sp>
      <p:sp>
        <p:nvSpPr>
          <p:cNvPr id="140" name="TextBox 139"/>
          <p:cNvSpPr txBox="1"/>
          <p:nvPr/>
        </p:nvSpPr>
        <p:spPr>
          <a:xfrm>
            <a:off x="5486400" y="2697480"/>
            <a:ext cx="3108960" cy="274320"/>
          </a:xfrm>
          <a:prstGeom prst="rect">
            <a:avLst/>
          </a:prstGeom>
          <a:noFill/>
        </p:spPr>
        <p:txBody>
          <a:bodyPr wrap="square" lIns="50800" rIns="50800">
            <a:spAutoFit/>
          </a:bodyPr>
          <a:lstStyle/>
          <a:p>
            <a:r>
              <a:rPr sz="1000" b="1">
                <a:solidFill>
                  <a:srgbClr val="1E2761"/>
                </a:solidFill>
              </a:rPr>
              <a:t>Where Claude struggled (3 cycles each)</a:t>
            </a:r>
          </a:p>
        </p:txBody>
      </p:sp>
      <p:sp>
        <p:nvSpPr>
          <p:cNvPr id="141" name="Rectangle 140"/>
          <p:cNvSpPr/>
          <p:nvPr/>
        </p:nvSpPr>
        <p:spPr>
          <a:xfrm>
            <a:off x="5486400" y="3017520"/>
            <a:ext cx="137160" cy="457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715000" y="2999232"/>
            <a:ext cx="2834640" cy="228600"/>
          </a:xfrm>
          <a:prstGeom prst="rect">
            <a:avLst/>
          </a:prstGeom>
          <a:noFill/>
        </p:spPr>
        <p:txBody>
          <a:bodyPr wrap="square" lIns="50800" rIns="50800" tIns="0">
            <a:spAutoFit/>
          </a:bodyPr>
          <a:lstStyle/>
          <a:p>
            <a:r>
              <a:rPr sz="1000" b="1">
                <a:solidFill>
                  <a:srgbClr val="1E2761"/>
                </a:solidFill>
              </a:rPr>
              <a:t>EKS Cluster</a:t>
            </a:r>
          </a:p>
        </p:txBody>
      </p:sp>
      <p:sp>
        <p:nvSpPr>
          <p:cNvPr id="143" name="TextBox 142"/>
          <p:cNvSpPr txBox="1"/>
          <p:nvPr/>
        </p:nvSpPr>
        <p:spPr>
          <a:xfrm>
            <a:off x="5715000" y="3200400"/>
            <a:ext cx="2834640" cy="365760"/>
          </a:xfrm>
          <a:prstGeom prst="rect">
            <a:avLst/>
          </a:prstGeom>
          <a:noFill/>
        </p:spPr>
        <p:txBody>
          <a:bodyPr wrap="square" lIns="50800" rIns="50800" tIns="0">
            <a:spAutoFit/>
          </a:bodyPr>
          <a:lstStyle/>
          <a:p>
            <a:r>
              <a:rPr sz="800">
                <a:solidFill>
                  <a:srgbClr val="4A4A4A"/>
                </a:solidFill>
              </a:rPr>
              <a:t>Module v21.15 renames; AWS provider 6.x; addon chicken-and-egg.</a:t>
            </a:r>
          </a:p>
        </p:txBody>
      </p:sp>
      <p:sp>
        <p:nvSpPr>
          <p:cNvPr id="144" name="Rectangle 143"/>
          <p:cNvSpPr/>
          <p:nvPr/>
        </p:nvSpPr>
        <p:spPr>
          <a:xfrm>
            <a:off x="5486400" y="3584448"/>
            <a:ext cx="137160" cy="457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715000" y="3566160"/>
            <a:ext cx="2834640" cy="228600"/>
          </a:xfrm>
          <a:prstGeom prst="rect">
            <a:avLst/>
          </a:prstGeom>
          <a:noFill/>
        </p:spPr>
        <p:txBody>
          <a:bodyPr wrap="square" lIns="50800" rIns="50800" tIns="0">
            <a:spAutoFit/>
          </a:bodyPr>
          <a:lstStyle/>
          <a:p>
            <a:r>
              <a:rPr sz="1000" b="1">
                <a:solidFill>
                  <a:srgbClr val="1E2761"/>
                </a:solidFill>
              </a:rPr>
              <a:t>Kyverno install</a:t>
            </a:r>
          </a:p>
        </p:txBody>
      </p:sp>
      <p:sp>
        <p:nvSpPr>
          <p:cNvPr id="146" name="TextBox 145"/>
          <p:cNvSpPr txBox="1"/>
          <p:nvPr/>
        </p:nvSpPr>
        <p:spPr>
          <a:xfrm>
            <a:off x="5715000" y="3767328"/>
            <a:ext cx="2834640" cy="365760"/>
          </a:xfrm>
          <a:prstGeom prst="rect">
            <a:avLst/>
          </a:prstGeom>
          <a:noFill/>
        </p:spPr>
        <p:txBody>
          <a:bodyPr wrap="square" lIns="50800" rIns="50800" tIns="0">
            <a:spAutoFit/>
          </a:bodyPr>
          <a:lstStyle/>
          <a:p>
            <a:r>
              <a:rPr sz="800">
                <a:solidFill>
                  <a:srgbClr val="4A4A4A"/>
                </a:solidFill>
              </a:rPr>
              <a:t>Skill file webhook wrong (list vs map, chart 3.7.0); needed SSA.</a:t>
            </a:r>
          </a:p>
        </p:txBody>
      </p:sp>
      <p:sp>
        <p:nvSpPr>
          <p:cNvPr id="147" name="Rectangle 146"/>
          <p:cNvSpPr/>
          <p:nvPr/>
        </p:nvSpPr>
        <p:spPr>
          <a:xfrm>
            <a:off x="5486400" y="4151376"/>
            <a:ext cx="137160" cy="457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715000" y="4133088"/>
            <a:ext cx="2834640" cy="228600"/>
          </a:xfrm>
          <a:prstGeom prst="rect">
            <a:avLst/>
          </a:prstGeom>
          <a:noFill/>
        </p:spPr>
        <p:txBody>
          <a:bodyPr wrap="square" lIns="50800" rIns="50800" tIns="0">
            <a:spAutoFit/>
          </a:bodyPr>
          <a:lstStyle/>
          <a:p>
            <a:r>
              <a:rPr sz="1000" b="1">
                <a:solidFill>
                  <a:srgbClr val="1E2761"/>
                </a:solidFill>
              </a:rPr>
              <a:t>OTel Collector</a:t>
            </a:r>
          </a:p>
        </p:txBody>
      </p:sp>
      <p:sp>
        <p:nvSpPr>
          <p:cNvPr id="149" name="TextBox 148"/>
          <p:cNvSpPr txBox="1"/>
          <p:nvPr/>
        </p:nvSpPr>
        <p:spPr>
          <a:xfrm>
            <a:off x="5715000" y="4334256"/>
            <a:ext cx="2834640" cy="365760"/>
          </a:xfrm>
          <a:prstGeom prst="rect">
            <a:avLst/>
          </a:prstGeom>
          <a:noFill/>
        </p:spPr>
        <p:txBody>
          <a:bodyPr wrap="square" lIns="50800" rIns="50800" tIns="0">
            <a:spAutoFit/>
          </a:bodyPr>
          <a:lstStyle/>
          <a:p>
            <a:r>
              <a:rPr sz="800">
                <a:solidFill>
                  <a:srgbClr val="4A4A4A"/>
                </a:solidFill>
              </a:rPr>
              <a:t>Chart 0.145.0 breaking change; k8s image missing exporter.</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